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3" r:id="rId5"/>
    <p:sldId id="258" r:id="rId6"/>
    <p:sldId id="271" r:id="rId7"/>
    <p:sldId id="272" r:id="rId8"/>
    <p:sldId id="259" r:id="rId9"/>
    <p:sldId id="260" r:id="rId10"/>
    <p:sldId id="264" r:id="rId11"/>
    <p:sldId id="273" r:id="rId12"/>
    <p:sldId id="261" r:id="rId13"/>
    <p:sldId id="265" r:id="rId14"/>
    <p:sldId id="274" r:id="rId15"/>
    <p:sldId id="266" r:id="rId16"/>
    <p:sldId id="267" r:id="rId17"/>
    <p:sldId id="275" r:id="rId18"/>
    <p:sldId id="268" r:id="rId19"/>
    <p:sldId id="292" r:id="rId20"/>
    <p:sldId id="270" r:id="rId21"/>
    <p:sldId id="276" r:id="rId22"/>
    <p:sldId id="278" r:id="rId23"/>
    <p:sldId id="277" r:id="rId24"/>
    <p:sldId id="283" r:id="rId25"/>
    <p:sldId id="279" r:id="rId26"/>
    <p:sldId id="285" r:id="rId27"/>
    <p:sldId id="286" r:id="rId28"/>
    <p:sldId id="288" r:id="rId29"/>
    <p:sldId id="282" r:id="rId30"/>
    <p:sldId id="284" r:id="rId31"/>
    <p:sldId id="289" r:id="rId32"/>
    <p:sldId id="290" r:id="rId33"/>
    <p:sldId id="291" r:id="rId34"/>
    <p:sldId id="28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91"/>
    <p:restoredTop sz="94634"/>
  </p:normalViewPr>
  <p:slideViewPr>
    <p:cSldViewPr snapToGrid="0">
      <p:cViewPr varScale="1">
        <p:scale>
          <a:sx n="99" d="100"/>
          <a:sy n="99" d="100"/>
        </p:scale>
        <p:origin x="200" y="2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CC9FEF-B587-DC4A-81E4-9FB232BD4AA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</dgm:pt>
    <dgm:pt modelId="{EFB1ECB2-44D2-F041-8D40-E5D128C57BCE}">
      <dgm:prSet phldrT="[Text]" custT="1"/>
      <dgm:spPr/>
      <dgm:t>
        <a:bodyPr/>
        <a:lstStyle/>
        <a:p>
          <a:r>
            <a:rPr lang="en-US" sz="1300" dirty="0"/>
            <a:t>Feed the abstract data file into LLMs</a:t>
          </a:r>
        </a:p>
      </dgm:t>
    </dgm:pt>
    <dgm:pt modelId="{12A4EB9D-3C70-F042-8AF4-B270847C747B}" type="parTrans" cxnId="{9F4995FB-7B07-F045-99BB-865EB01A2437}">
      <dgm:prSet/>
      <dgm:spPr/>
      <dgm:t>
        <a:bodyPr/>
        <a:lstStyle/>
        <a:p>
          <a:endParaRPr lang="en-US" sz="1300"/>
        </a:p>
      </dgm:t>
    </dgm:pt>
    <dgm:pt modelId="{80448239-4455-8E47-AFC8-51CDEA9FF374}" type="sibTrans" cxnId="{9F4995FB-7B07-F045-99BB-865EB01A2437}">
      <dgm:prSet phldrT="1" custT="1"/>
      <dgm:spPr/>
      <dgm:t>
        <a:bodyPr/>
        <a:lstStyle/>
        <a:p>
          <a:r>
            <a:rPr lang="en-US" sz="1300"/>
            <a:t>1</a:t>
          </a:r>
        </a:p>
      </dgm:t>
    </dgm:pt>
    <dgm:pt modelId="{E9FC217C-8458-5940-9DD0-8C1F48A60064}">
      <dgm:prSet phldrT="[Text]" custT="1"/>
      <dgm:spPr/>
      <dgm:t>
        <a:bodyPr/>
        <a:lstStyle/>
        <a:p>
          <a:r>
            <a:rPr lang="en-US" sz="1300" dirty="0"/>
            <a:t> Prompting </a:t>
          </a:r>
        </a:p>
      </dgm:t>
    </dgm:pt>
    <dgm:pt modelId="{82659AA7-9B9D-5D4A-AEF2-91387D44B9AA}" type="parTrans" cxnId="{63175A3D-8F91-4D42-B675-E6A4B9797EE2}">
      <dgm:prSet/>
      <dgm:spPr/>
      <dgm:t>
        <a:bodyPr/>
        <a:lstStyle/>
        <a:p>
          <a:endParaRPr lang="en-US" sz="1300"/>
        </a:p>
      </dgm:t>
    </dgm:pt>
    <dgm:pt modelId="{61D8B0F8-3905-0B4B-B8C0-8EFE20F0C13D}" type="sibTrans" cxnId="{63175A3D-8F91-4D42-B675-E6A4B9797EE2}">
      <dgm:prSet phldrT="2" custT="1"/>
      <dgm:spPr/>
      <dgm:t>
        <a:bodyPr/>
        <a:lstStyle/>
        <a:p>
          <a:r>
            <a:rPr lang="en-US" sz="1300"/>
            <a:t>2</a:t>
          </a:r>
        </a:p>
      </dgm:t>
    </dgm:pt>
    <dgm:pt modelId="{138EC781-DDF0-D14F-8BFC-2EFB621D347A}">
      <dgm:prSet phldrT="[Text]" custT="1"/>
      <dgm:spPr/>
      <dgm:t>
        <a:bodyPr/>
        <a:lstStyle/>
        <a:p>
          <a:r>
            <a:rPr lang="en-US" sz="1300" dirty="0"/>
            <a:t>Feed the human-screening data into Python </a:t>
          </a:r>
        </a:p>
        <a:p>
          <a:endParaRPr lang="en-US" sz="1300" dirty="0"/>
        </a:p>
      </dgm:t>
    </dgm:pt>
    <dgm:pt modelId="{8B787076-889B-CA42-9D28-6ADCC0F8CC45}" type="parTrans" cxnId="{9D78B67E-1768-1443-A213-CFA270AB71A5}">
      <dgm:prSet/>
      <dgm:spPr/>
      <dgm:t>
        <a:bodyPr/>
        <a:lstStyle/>
        <a:p>
          <a:endParaRPr lang="en-US" sz="1300"/>
        </a:p>
      </dgm:t>
    </dgm:pt>
    <dgm:pt modelId="{09447FFE-8580-2C4B-ACF0-FDF0662ABB86}" type="sibTrans" cxnId="{9D78B67E-1768-1443-A213-CFA270AB71A5}">
      <dgm:prSet phldrT="4" custT="1"/>
      <dgm:spPr/>
      <dgm:t>
        <a:bodyPr/>
        <a:lstStyle/>
        <a:p>
          <a:r>
            <a:rPr lang="en-US" sz="1300"/>
            <a:t>4</a:t>
          </a:r>
        </a:p>
      </dgm:t>
    </dgm:pt>
    <dgm:pt modelId="{35C4C844-6B94-7B40-972F-9D98E753939C}">
      <dgm:prSet custT="1"/>
      <dgm:spPr/>
      <dgm:t>
        <a:bodyPr/>
        <a:lstStyle/>
        <a:p>
          <a:r>
            <a:rPr lang="en-US" sz="1300" dirty="0"/>
            <a:t>Merge human-screening and AI-screening data</a:t>
          </a:r>
        </a:p>
      </dgm:t>
    </dgm:pt>
    <dgm:pt modelId="{3BEADDA4-D0F5-384D-92A8-94AD41C35330}" type="parTrans" cxnId="{1D8452BE-99D3-B44F-B87C-FC4700AA2842}">
      <dgm:prSet/>
      <dgm:spPr/>
      <dgm:t>
        <a:bodyPr/>
        <a:lstStyle/>
        <a:p>
          <a:endParaRPr lang="en-US" sz="1300"/>
        </a:p>
      </dgm:t>
    </dgm:pt>
    <dgm:pt modelId="{223BD640-B2FB-FD44-B79F-B867A76E5D59}" type="sibTrans" cxnId="{1D8452BE-99D3-B44F-B87C-FC4700AA2842}">
      <dgm:prSet phldrT="5" custT="1"/>
      <dgm:spPr/>
      <dgm:t>
        <a:bodyPr/>
        <a:lstStyle/>
        <a:p>
          <a:r>
            <a:rPr lang="en-US" sz="1300"/>
            <a:t>5</a:t>
          </a:r>
        </a:p>
      </dgm:t>
    </dgm:pt>
    <dgm:pt modelId="{B3FA7698-23AA-8A4D-956C-0BA171F217AF}">
      <dgm:prSet custT="1"/>
      <dgm:spPr/>
      <dgm:t>
        <a:bodyPr/>
        <a:lstStyle/>
        <a:p>
          <a:r>
            <a:rPr lang="en-US" sz="1300" dirty="0"/>
            <a:t>Generate the AI-screening data </a:t>
          </a:r>
        </a:p>
      </dgm:t>
    </dgm:pt>
    <dgm:pt modelId="{527B5EE1-BC69-D541-936A-E3435764A8B5}" type="parTrans" cxnId="{24CF5F39-81A9-9042-8CAF-1E4608782C95}">
      <dgm:prSet/>
      <dgm:spPr/>
      <dgm:t>
        <a:bodyPr/>
        <a:lstStyle/>
        <a:p>
          <a:endParaRPr lang="en-US" sz="1300"/>
        </a:p>
      </dgm:t>
    </dgm:pt>
    <dgm:pt modelId="{B85BEE3F-FDE7-F240-AE13-B45360270389}" type="sibTrans" cxnId="{24CF5F39-81A9-9042-8CAF-1E4608782C95}">
      <dgm:prSet phldrT="3" custT="1"/>
      <dgm:spPr/>
      <dgm:t>
        <a:bodyPr/>
        <a:lstStyle/>
        <a:p>
          <a:r>
            <a:rPr lang="en-US" sz="1300"/>
            <a:t>3</a:t>
          </a:r>
        </a:p>
      </dgm:t>
    </dgm:pt>
    <dgm:pt modelId="{A874CA84-7BA3-4E4E-A41F-75B98818B60F}">
      <dgm:prSet custT="1"/>
      <dgm:spPr/>
      <dgm:t>
        <a:bodyPr/>
        <a:lstStyle/>
        <a:p>
          <a:r>
            <a:rPr lang="en-US" sz="1300" dirty="0"/>
            <a:t>Check performance (recall, precision, AUC, F1) </a:t>
          </a:r>
        </a:p>
      </dgm:t>
    </dgm:pt>
    <dgm:pt modelId="{234BB4FA-5C1B-504F-B619-7DA4BF83593B}" type="parTrans" cxnId="{F1A2F248-CE04-7F4D-97DA-7BDE04631853}">
      <dgm:prSet/>
      <dgm:spPr/>
      <dgm:t>
        <a:bodyPr/>
        <a:lstStyle/>
        <a:p>
          <a:endParaRPr lang="en-US" sz="1300"/>
        </a:p>
      </dgm:t>
    </dgm:pt>
    <dgm:pt modelId="{0F0DBD05-F159-8241-880B-6DADDFAB8920}" type="sibTrans" cxnId="{F1A2F248-CE04-7F4D-97DA-7BDE04631853}">
      <dgm:prSet phldrT="6" custT="1"/>
      <dgm:spPr/>
      <dgm:t>
        <a:bodyPr/>
        <a:lstStyle/>
        <a:p>
          <a:r>
            <a:rPr lang="en-US" sz="1300"/>
            <a:t>6</a:t>
          </a:r>
        </a:p>
      </dgm:t>
    </dgm:pt>
    <dgm:pt modelId="{B950AC61-6A99-D045-A640-87FFEE8EF7D5}" type="pres">
      <dgm:prSet presAssocID="{B4CC9FEF-B587-DC4A-81E4-9FB232BD4AAD}" presName="Name0" presStyleCnt="0">
        <dgm:presLayoutVars>
          <dgm:animLvl val="lvl"/>
          <dgm:resizeHandles val="exact"/>
        </dgm:presLayoutVars>
      </dgm:prSet>
      <dgm:spPr/>
    </dgm:pt>
    <dgm:pt modelId="{D72CAEDD-C777-8C47-8AFD-850E7C7020B0}" type="pres">
      <dgm:prSet presAssocID="{EFB1ECB2-44D2-F041-8D40-E5D128C57BCE}" presName="compositeNode" presStyleCnt="0">
        <dgm:presLayoutVars>
          <dgm:bulletEnabled val="1"/>
        </dgm:presLayoutVars>
      </dgm:prSet>
      <dgm:spPr/>
    </dgm:pt>
    <dgm:pt modelId="{B5DA204B-080B-D34E-9969-0835D82134D2}" type="pres">
      <dgm:prSet presAssocID="{EFB1ECB2-44D2-F041-8D40-E5D128C57BCE}" presName="bgRect" presStyleLbl="bgAccFollowNode1" presStyleIdx="0" presStyleCnt="6"/>
      <dgm:spPr/>
    </dgm:pt>
    <dgm:pt modelId="{B31A1B2D-BE32-5048-8BE6-FBA4B1C89F1D}" type="pres">
      <dgm:prSet presAssocID="{80448239-4455-8E47-AFC8-51CDEA9FF374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C728837C-1A74-0D4B-83D4-0C8E15FCD2DD}" type="pres">
      <dgm:prSet presAssocID="{EFB1ECB2-44D2-F041-8D40-E5D128C57BCE}" presName="bottomLine" presStyleLbl="alignNode1" presStyleIdx="1" presStyleCnt="12">
        <dgm:presLayoutVars/>
      </dgm:prSet>
      <dgm:spPr/>
    </dgm:pt>
    <dgm:pt modelId="{9240ED10-8FFA-154F-8916-31E62597D866}" type="pres">
      <dgm:prSet presAssocID="{EFB1ECB2-44D2-F041-8D40-E5D128C57BCE}" presName="nodeText" presStyleLbl="bgAccFollowNode1" presStyleIdx="0" presStyleCnt="6">
        <dgm:presLayoutVars>
          <dgm:bulletEnabled val="1"/>
        </dgm:presLayoutVars>
      </dgm:prSet>
      <dgm:spPr/>
    </dgm:pt>
    <dgm:pt modelId="{027DB171-81EF-DB4C-9017-FBB1F12B9E45}" type="pres">
      <dgm:prSet presAssocID="{80448239-4455-8E47-AFC8-51CDEA9FF374}" presName="sibTrans" presStyleCnt="0"/>
      <dgm:spPr/>
    </dgm:pt>
    <dgm:pt modelId="{2F0D72F0-F096-9E40-87EC-BB31364F80A0}" type="pres">
      <dgm:prSet presAssocID="{E9FC217C-8458-5940-9DD0-8C1F48A60064}" presName="compositeNode" presStyleCnt="0">
        <dgm:presLayoutVars>
          <dgm:bulletEnabled val="1"/>
        </dgm:presLayoutVars>
      </dgm:prSet>
      <dgm:spPr/>
    </dgm:pt>
    <dgm:pt modelId="{BA3F4872-FA8B-FB45-81B2-D1CB4B514FEC}" type="pres">
      <dgm:prSet presAssocID="{E9FC217C-8458-5940-9DD0-8C1F48A60064}" presName="bgRect" presStyleLbl="bgAccFollowNode1" presStyleIdx="1" presStyleCnt="6"/>
      <dgm:spPr/>
    </dgm:pt>
    <dgm:pt modelId="{BAB5D8E9-C734-3747-A02B-1BCD9A1815AA}" type="pres">
      <dgm:prSet presAssocID="{61D8B0F8-3905-0B4B-B8C0-8EFE20F0C13D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4D6F5309-A029-C14A-9A21-1403FE4C575A}" type="pres">
      <dgm:prSet presAssocID="{E9FC217C-8458-5940-9DD0-8C1F48A60064}" presName="bottomLine" presStyleLbl="alignNode1" presStyleIdx="3" presStyleCnt="12">
        <dgm:presLayoutVars/>
      </dgm:prSet>
      <dgm:spPr/>
    </dgm:pt>
    <dgm:pt modelId="{56476201-4DE0-0440-8EBD-EE07648F752D}" type="pres">
      <dgm:prSet presAssocID="{E9FC217C-8458-5940-9DD0-8C1F48A60064}" presName="nodeText" presStyleLbl="bgAccFollowNode1" presStyleIdx="1" presStyleCnt="6">
        <dgm:presLayoutVars>
          <dgm:bulletEnabled val="1"/>
        </dgm:presLayoutVars>
      </dgm:prSet>
      <dgm:spPr/>
    </dgm:pt>
    <dgm:pt modelId="{6AE627B7-2066-1248-8B24-330C20A875DF}" type="pres">
      <dgm:prSet presAssocID="{61D8B0F8-3905-0B4B-B8C0-8EFE20F0C13D}" presName="sibTrans" presStyleCnt="0"/>
      <dgm:spPr/>
    </dgm:pt>
    <dgm:pt modelId="{30EB1660-76AC-7B4F-9D2B-C81A9010C21D}" type="pres">
      <dgm:prSet presAssocID="{B3FA7698-23AA-8A4D-956C-0BA171F217AF}" presName="compositeNode" presStyleCnt="0">
        <dgm:presLayoutVars>
          <dgm:bulletEnabled val="1"/>
        </dgm:presLayoutVars>
      </dgm:prSet>
      <dgm:spPr/>
    </dgm:pt>
    <dgm:pt modelId="{00621C19-F125-D84D-A4EB-5261DDC111B2}" type="pres">
      <dgm:prSet presAssocID="{B3FA7698-23AA-8A4D-956C-0BA171F217AF}" presName="bgRect" presStyleLbl="bgAccFollowNode1" presStyleIdx="2" presStyleCnt="6"/>
      <dgm:spPr/>
    </dgm:pt>
    <dgm:pt modelId="{51F7F9E9-2DF9-4748-8F82-F5CC99B2E5E8}" type="pres">
      <dgm:prSet presAssocID="{B85BEE3F-FDE7-F240-AE13-B45360270389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4A72AB4F-2BAF-0243-BAE4-84A5A5649D85}" type="pres">
      <dgm:prSet presAssocID="{B3FA7698-23AA-8A4D-956C-0BA171F217AF}" presName="bottomLine" presStyleLbl="alignNode1" presStyleIdx="5" presStyleCnt="12">
        <dgm:presLayoutVars/>
      </dgm:prSet>
      <dgm:spPr/>
    </dgm:pt>
    <dgm:pt modelId="{8AC6B2D5-7708-0349-8817-FA3DCB5F6B26}" type="pres">
      <dgm:prSet presAssocID="{B3FA7698-23AA-8A4D-956C-0BA171F217AF}" presName="nodeText" presStyleLbl="bgAccFollowNode1" presStyleIdx="2" presStyleCnt="6">
        <dgm:presLayoutVars>
          <dgm:bulletEnabled val="1"/>
        </dgm:presLayoutVars>
      </dgm:prSet>
      <dgm:spPr/>
    </dgm:pt>
    <dgm:pt modelId="{2D930C66-F08F-CB45-93CE-C285876609A0}" type="pres">
      <dgm:prSet presAssocID="{B85BEE3F-FDE7-F240-AE13-B45360270389}" presName="sibTrans" presStyleCnt="0"/>
      <dgm:spPr/>
    </dgm:pt>
    <dgm:pt modelId="{96424FE0-2687-284F-83B3-0E11C3E29C4D}" type="pres">
      <dgm:prSet presAssocID="{138EC781-DDF0-D14F-8BFC-2EFB621D347A}" presName="compositeNode" presStyleCnt="0">
        <dgm:presLayoutVars>
          <dgm:bulletEnabled val="1"/>
        </dgm:presLayoutVars>
      </dgm:prSet>
      <dgm:spPr/>
    </dgm:pt>
    <dgm:pt modelId="{87A2C8FE-1D4A-3841-A4BC-8BF46CF47A99}" type="pres">
      <dgm:prSet presAssocID="{138EC781-DDF0-D14F-8BFC-2EFB621D347A}" presName="bgRect" presStyleLbl="bgAccFollowNode1" presStyleIdx="3" presStyleCnt="6"/>
      <dgm:spPr/>
    </dgm:pt>
    <dgm:pt modelId="{577C6448-AD90-8C44-8C26-AEDA5E9AD5B0}" type="pres">
      <dgm:prSet presAssocID="{09447FFE-8580-2C4B-ACF0-FDF0662ABB86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EB6BAD30-245A-8245-9974-77C1C70AF7FA}" type="pres">
      <dgm:prSet presAssocID="{138EC781-DDF0-D14F-8BFC-2EFB621D347A}" presName="bottomLine" presStyleLbl="alignNode1" presStyleIdx="7" presStyleCnt="12">
        <dgm:presLayoutVars/>
      </dgm:prSet>
      <dgm:spPr/>
    </dgm:pt>
    <dgm:pt modelId="{72393F6F-C69F-1A4E-B065-976A8F1523B6}" type="pres">
      <dgm:prSet presAssocID="{138EC781-DDF0-D14F-8BFC-2EFB621D347A}" presName="nodeText" presStyleLbl="bgAccFollowNode1" presStyleIdx="3" presStyleCnt="6">
        <dgm:presLayoutVars>
          <dgm:bulletEnabled val="1"/>
        </dgm:presLayoutVars>
      </dgm:prSet>
      <dgm:spPr/>
    </dgm:pt>
    <dgm:pt modelId="{346FF084-DFF9-D44F-8C5A-6B4E053E670F}" type="pres">
      <dgm:prSet presAssocID="{09447FFE-8580-2C4B-ACF0-FDF0662ABB86}" presName="sibTrans" presStyleCnt="0"/>
      <dgm:spPr/>
    </dgm:pt>
    <dgm:pt modelId="{EFCF93B4-15CF-244E-9362-9FA0FE0C05E6}" type="pres">
      <dgm:prSet presAssocID="{35C4C844-6B94-7B40-972F-9D98E753939C}" presName="compositeNode" presStyleCnt="0">
        <dgm:presLayoutVars>
          <dgm:bulletEnabled val="1"/>
        </dgm:presLayoutVars>
      </dgm:prSet>
      <dgm:spPr/>
    </dgm:pt>
    <dgm:pt modelId="{D7DF6ECD-EF9C-614B-8143-1B9F771E1137}" type="pres">
      <dgm:prSet presAssocID="{35C4C844-6B94-7B40-972F-9D98E753939C}" presName="bgRect" presStyleLbl="bgAccFollowNode1" presStyleIdx="4" presStyleCnt="6"/>
      <dgm:spPr/>
    </dgm:pt>
    <dgm:pt modelId="{E9AF8D61-FA81-EB47-AF03-E5A98AD98A24}" type="pres">
      <dgm:prSet presAssocID="{223BD640-B2FB-FD44-B79F-B867A76E5D59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46C264F6-7647-A842-B506-0575EDEEC5FD}" type="pres">
      <dgm:prSet presAssocID="{35C4C844-6B94-7B40-972F-9D98E753939C}" presName="bottomLine" presStyleLbl="alignNode1" presStyleIdx="9" presStyleCnt="12">
        <dgm:presLayoutVars/>
      </dgm:prSet>
      <dgm:spPr/>
    </dgm:pt>
    <dgm:pt modelId="{8134204D-0401-AA44-A617-434D0C83B398}" type="pres">
      <dgm:prSet presAssocID="{35C4C844-6B94-7B40-972F-9D98E753939C}" presName="nodeText" presStyleLbl="bgAccFollowNode1" presStyleIdx="4" presStyleCnt="6">
        <dgm:presLayoutVars>
          <dgm:bulletEnabled val="1"/>
        </dgm:presLayoutVars>
      </dgm:prSet>
      <dgm:spPr/>
    </dgm:pt>
    <dgm:pt modelId="{C18F7608-D9C7-FD44-9FF3-3E423706F699}" type="pres">
      <dgm:prSet presAssocID="{223BD640-B2FB-FD44-B79F-B867A76E5D59}" presName="sibTrans" presStyleCnt="0"/>
      <dgm:spPr/>
    </dgm:pt>
    <dgm:pt modelId="{5AE9C7B3-5AF1-8F4F-B163-B27B1B965509}" type="pres">
      <dgm:prSet presAssocID="{A874CA84-7BA3-4E4E-A41F-75B98818B60F}" presName="compositeNode" presStyleCnt="0">
        <dgm:presLayoutVars>
          <dgm:bulletEnabled val="1"/>
        </dgm:presLayoutVars>
      </dgm:prSet>
      <dgm:spPr/>
    </dgm:pt>
    <dgm:pt modelId="{077A3D26-6339-9647-B779-F69E063E0ED0}" type="pres">
      <dgm:prSet presAssocID="{A874CA84-7BA3-4E4E-A41F-75B98818B60F}" presName="bgRect" presStyleLbl="bgAccFollowNode1" presStyleIdx="5" presStyleCnt="6"/>
      <dgm:spPr/>
    </dgm:pt>
    <dgm:pt modelId="{BE2D6CCC-6A4D-7948-ACF6-E0BD1D7A5560}" type="pres">
      <dgm:prSet presAssocID="{0F0DBD05-F159-8241-880B-6DADDFAB8920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106F0D4A-0877-FE46-92E1-AAAF6A6D120F}" type="pres">
      <dgm:prSet presAssocID="{A874CA84-7BA3-4E4E-A41F-75B98818B60F}" presName="bottomLine" presStyleLbl="alignNode1" presStyleIdx="11" presStyleCnt="12">
        <dgm:presLayoutVars/>
      </dgm:prSet>
      <dgm:spPr/>
    </dgm:pt>
    <dgm:pt modelId="{784E3969-6A3F-2344-992E-164F934ABFCE}" type="pres">
      <dgm:prSet presAssocID="{A874CA84-7BA3-4E4E-A41F-75B98818B60F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3B55B409-BF7C-8147-A240-0CDFFCD1A78D}" type="presOf" srcId="{35C4C844-6B94-7B40-972F-9D98E753939C}" destId="{D7DF6ECD-EF9C-614B-8143-1B9F771E1137}" srcOrd="0" destOrd="0" presId="urn:microsoft.com/office/officeart/2016/7/layout/BasicLinearProcessNumbered"/>
    <dgm:cxn modelId="{51D0430E-0FD7-2840-B0B9-CCFF5E2F71D9}" type="presOf" srcId="{A874CA84-7BA3-4E4E-A41F-75B98818B60F}" destId="{077A3D26-6339-9647-B779-F69E063E0ED0}" srcOrd="0" destOrd="0" presId="urn:microsoft.com/office/officeart/2016/7/layout/BasicLinearProcessNumbered"/>
    <dgm:cxn modelId="{A9642E18-3BC6-204E-AAE1-BFA1D1449739}" type="presOf" srcId="{EFB1ECB2-44D2-F041-8D40-E5D128C57BCE}" destId="{9240ED10-8FFA-154F-8916-31E62597D866}" srcOrd="1" destOrd="0" presId="urn:microsoft.com/office/officeart/2016/7/layout/BasicLinearProcessNumbered"/>
    <dgm:cxn modelId="{E9FE4D28-4413-7E45-8C49-9C9943AE2FE5}" type="presOf" srcId="{09447FFE-8580-2C4B-ACF0-FDF0662ABB86}" destId="{577C6448-AD90-8C44-8C26-AEDA5E9AD5B0}" srcOrd="0" destOrd="0" presId="urn:microsoft.com/office/officeart/2016/7/layout/BasicLinearProcessNumbered"/>
    <dgm:cxn modelId="{7860BD30-A699-0A40-87CB-F3B400D3A315}" type="presOf" srcId="{80448239-4455-8E47-AFC8-51CDEA9FF374}" destId="{B31A1B2D-BE32-5048-8BE6-FBA4B1C89F1D}" srcOrd="0" destOrd="0" presId="urn:microsoft.com/office/officeart/2016/7/layout/BasicLinearProcessNumbered"/>
    <dgm:cxn modelId="{24CF5F39-81A9-9042-8CAF-1E4608782C95}" srcId="{B4CC9FEF-B587-DC4A-81E4-9FB232BD4AAD}" destId="{B3FA7698-23AA-8A4D-956C-0BA171F217AF}" srcOrd="2" destOrd="0" parTransId="{527B5EE1-BC69-D541-936A-E3435764A8B5}" sibTransId="{B85BEE3F-FDE7-F240-AE13-B45360270389}"/>
    <dgm:cxn modelId="{63175A3D-8F91-4D42-B675-E6A4B9797EE2}" srcId="{B4CC9FEF-B587-DC4A-81E4-9FB232BD4AAD}" destId="{E9FC217C-8458-5940-9DD0-8C1F48A60064}" srcOrd="1" destOrd="0" parTransId="{82659AA7-9B9D-5D4A-AEF2-91387D44B9AA}" sibTransId="{61D8B0F8-3905-0B4B-B8C0-8EFE20F0C13D}"/>
    <dgm:cxn modelId="{F1A2F248-CE04-7F4D-97DA-7BDE04631853}" srcId="{B4CC9FEF-B587-DC4A-81E4-9FB232BD4AAD}" destId="{A874CA84-7BA3-4E4E-A41F-75B98818B60F}" srcOrd="5" destOrd="0" parTransId="{234BB4FA-5C1B-504F-B619-7DA4BF83593B}" sibTransId="{0F0DBD05-F159-8241-880B-6DADDFAB8920}"/>
    <dgm:cxn modelId="{CB876752-0970-4B45-A246-FD28443E5093}" type="presOf" srcId="{B4CC9FEF-B587-DC4A-81E4-9FB232BD4AAD}" destId="{B950AC61-6A99-D045-A640-87FFEE8EF7D5}" srcOrd="0" destOrd="0" presId="urn:microsoft.com/office/officeart/2016/7/layout/BasicLinearProcessNumbered"/>
    <dgm:cxn modelId="{403B7F56-D43C-E743-8AE8-96EB306F9517}" type="presOf" srcId="{35C4C844-6B94-7B40-972F-9D98E753939C}" destId="{8134204D-0401-AA44-A617-434D0C83B398}" srcOrd="1" destOrd="0" presId="urn:microsoft.com/office/officeart/2016/7/layout/BasicLinearProcessNumbered"/>
    <dgm:cxn modelId="{5085BD5E-E6E6-414A-86E6-8A79772DAD11}" type="presOf" srcId="{B85BEE3F-FDE7-F240-AE13-B45360270389}" destId="{51F7F9E9-2DF9-4748-8F82-F5CC99B2E5E8}" srcOrd="0" destOrd="0" presId="urn:microsoft.com/office/officeart/2016/7/layout/BasicLinearProcessNumbered"/>
    <dgm:cxn modelId="{07F90F6C-F976-6E44-AE30-24FC8212D21A}" type="presOf" srcId="{EFB1ECB2-44D2-F041-8D40-E5D128C57BCE}" destId="{B5DA204B-080B-D34E-9969-0835D82134D2}" srcOrd="0" destOrd="0" presId="urn:microsoft.com/office/officeart/2016/7/layout/BasicLinearProcessNumbered"/>
    <dgm:cxn modelId="{C0E27B76-651F-B740-86A4-A92D425450A8}" type="presOf" srcId="{223BD640-B2FB-FD44-B79F-B867A76E5D59}" destId="{E9AF8D61-FA81-EB47-AF03-E5A98AD98A24}" srcOrd="0" destOrd="0" presId="urn:microsoft.com/office/officeart/2016/7/layout/BasicLinearProcessNumbered"/>
    <dgm:cxn modelId="{8D839E7A-4C84-9C42-8955-397B78F6DE8D}" type="presOf" srcId="{138EC781-DDF0-D14F-8BFC-2EFB621D347A}" destId="{72393F6F-C69F-1A4E-B065-976A8F1523B6}" srcOrd="1" destOrd="0" presId="urn:microsoft.com/office/officeart/2016/7/layout/BasicLinearProcessNumbered"/>
    <dgm:cxn modelId="{9D78B67E-1768-1443-A213-CFA270AB71A5}" srcId="{B4CC9FEF-B587-DC4A-81E4-9FB232BD4AAD}" destId="{138EC781-DDF0-D14F-8BFC-2EFB621D347A}" srcOrd="3" destOrd="0" parTransId="{8B787076-889B-CA42-9D28-6ADCC0F8CC45}" sibTransId="{09447FFE-8580-2C4B-ACF0-FDF0662ABB86}"/>
    <dgm:cxn modelId="{75B6DD7F-EC64-BF43-8C11-3A7526627EEA}" type="presOf" srcId="{B3FA7698-23AA-8A4D-956C-0BA171F217AF}" destId="{00621C19-F125-D84D-A4EB-5261DDC111B2}" srcOrd="0" destOrd="0" presId="urn:microsoft.com/office/officeart/2016/7/layout/BasicLinearProcessNumbered"/>
    <dgm:cxn modelId="{402BD080-056A-CC4A-BEA2-B3DF6908C218}" type="presOf" srcId="{138EC781-DDF0-D14F-8BFC-2EFB621D347A}" destId="{87A2C8FE-1D4A-3841-A4BC-8BF46CF47A99}" srcOrd="0" destOrd="0" presId="urn:microsoft.com/office/officeart/2016/7/layout/BasicLinearProcessNumbered"/>
    <dgm:cxn modelId="{EFA5CC93-6628-964D-A5C4-5C8F401BA2CC}" type="presOf" srcId="{E9FC217C-8458-5940-9DD0-8C1F48A60064}" destId="{56476201-4DE0-0440-8EBD-EE07648F752D}" srcOrd="1" destOrd="0" presId="urn:microsoft.com/office/officeart/2016/7/layout/BasicLinearProcessNumbered"/>
    <dgm:cxn modelId="{08ECFDA8-73A2-574F-8379-01BF82592F90}" type="presOf" srcId="{E9FC217C-8458-5940-9DD0-8C1F48A60064}" destId="{BA3F4872-FA8B-FB45-81B2-D1CB4B514FEC}" srcOrd="0" destOrd="0" presId="urn:microsoft.com/office/officeart/2016/7/layout/BasicLinearProcessNumbered"/>
    <dgm:cxn modelId="{1D8452BE-99D3-B44F-B87C-FC4700AA2842}" srcId="{B4CC9FEF-B587-DC4A-81E4-9FB232BD4AAD}" destId="{35C4C844-6B94-7B40-972F-9D98E753939C}" srcOrd="4" destOrd="0" parTransId="{3BEADDA4-D0F5-384D-92A8-94AD41C35330}" sibTransId="{223BD640-B2FB-FD44-B79F-B867A76E5D59}"/>
    <dgm:cxn modelId="{D2B15BCC-DAC3-8448-A786-E31AF0E9CFF6}" type="presOf" srcId="{0F0DBD05-F159-8241-880B-6DADDFAB8920}" destId="{BE2D6CCC-6A4D-7948-ACF6-E0BD1D7A5560}" srcOrd="0" destOrd="0" presId="urn:microsoft.com/office/officeart/2016/7/layout/BasicLinearProcessNumbered"/>
    <dgm:cxn modelId="{E66F49D1-010E-F845-B8EF-3D1E43F115C1}" type="presOf" srcId="{A874CA84-7BA3-4E4E-A41F-75B98818B60F}" destId="{784E3969-6A3F-2344-992E-164F934ABFCE}" srcOrd="1" destOrd="0" presId="urn:microsoft.com/office/officeart/2016/7/layout/BasicLinearProcessNumbered"/>
    <dgm:cxn modelId="{2FDB62EA-0291-1E44-B4A9-1F0256D34D50}" type="presOf" srcId="{61D8B0F8-3905-0B4B-B8C0-8EFE20F0C13D}" destId="{BAB5D8E9-C734-3747-A02B-1BCD9A1815AA}" srcOrd="0" destOrd="0" presId="urn:microsoft.com/office/officeart/2016/7/layout/BasicLinearProcessNumbered"/>
    <dgm:cxn modelId="{D2694AEE-9FEC-7A45-8FFF-302172A84A6F}" type="presOf" srcId="{B3FA7698-23AA-8A4D-956C-0BA171F217AF}" destId="{8AC6B2D5-7708-0349-8817-FA3DCB5F6B26}" srcOrd="1" destOrd="0" presId="urn:microsoft.com/office/officeart/2016/7/layout/BasicLinearProcessNumbered"/>
    <dgm:cxn modelId="{9F4995FB-7B07-F045-99BB-865EB01A2437}" srcId="{B4CC9FEF-B587-DC4A-81E4-9FB232BD4AAD}" destId="{EFB1ECB2-44D2-F041-8D40-E5D128C57BCE}" srcOrd="0" destOrd="0" parTransId="{12A4EB9D-3C70-F042-8AF4-B270847C747B}" sibTransId="{80448239-4455-8E47-AFC8-51CDEA9FF374}"/>
    <dgm:cxn modelId="{B2F653B9-205D-CE48-9F2B-37DC74214E5C}" type="presParOf" srcId="{B950AC61-6A99-D045-A640-87FFEE8EF7D5}" destId="{D72CAEDD-C777-8C47-8AFD-850E7C7020B0}" srcOrd="0" destOrd="0" presId="urn:microsoft.com/office/officeart/2016/7/layout/BasicLinearProcessNumbered"/>
    <dgm:cxn modelId="{D3A3752A-5E8C-5645-ACEF-8F8352128688}" type="presParOf" srcId="{D72CAEDD-C777-8C47-8AFD-850E7C7020B0}" destId="{B5DA204B-080B-D34E-9969-0835D82134D2}" srcOrd="0" destOrd="0" presId="urn:microsoft.com/office/officeart/2016/7/layout/BasicLinearProcessNumbered"/>
    <dgm:cxn modelId="{EBEC4EB2-8B62-6640-BB5C-EA46ED2040B9}" type="presParOf" srcId="{D72CAEDD-C777-8C47-8AFD-850E7C7020B0}" destId="{B31A1B2D-BE32-5048-8BE6-FBA4B1C89F1D}" srcOrd="1" destOrd="0" presId="urn:microsoft.com/office/officeart/2016/7/layout/BasicLinearProcessNumbered"/>
    <dgm:cxn modelId="{DB437DE1-D6FC-6D41-BD50-598EDC4EDA77}" type="presParOf" srcId="{D72CAEDD-C777-8C47-8AFD-850E7C7020B0}" destId="{C728837C-1A74-0D4B-83D4-0C8E15FCD2DD}" srcOrd="2" destOrd="0" presId="urn:microsoft.com/office/officeart/2016/7/layout/BasicLinearProcessNumbered"/>
    <dgm:cxn modelId="{A6CFA257-E19C-A142-A956-7C794E9EC65D}" type="presParOf" srcId="{D72CAEDD-C777-8C47-8AFD-850E7C7020B0}" destId="{9240ED10-8FFA-154F-8916-31E62597D866}" srcOrd="3" destOrd="0" presId="urn:microsoft.com/office/officeart/2016/7/layout/BasicLinearProcessNumbered"/>
    <dgm:cxn modelId="{C126A2CC-03D1-B645-A684-E94B6F389261}" type="presParOf" srcId="{B950AC61-6A99-D045-A640-87FFEE8EF7D5}" destId="{027DB171-81EF-DB4C-9017-FBB1F12B9E45}" srcOrd="1" destOrd="0" presId="urn:microsoft.com/office/officeart/2016/7/layout/BasicLinearProcessNumbered"/>
    <dgm:cxn modelId="{B972D816-BDD0-364F-94F8-A6AD0DE80B43}" type="presParOf" srcId="{B950AC61-6A99-D045-A640-87FFEE8EF7D5}" destId="{2F0D72F0-F096-9E40-87EC-BB31364F80A0}" srcOrd="2" destOrd="0" presId="urn:microsoft.com/office/officeart/2016/7/layout/BasicLinearProcessNumbered"/>
    <dgm:cxn modelId="{C6882169-F796-C64F-9CBB-7A4AADC44F3A}" type="presParOf" srcId="{2F0D72F0-F096-9E40-87EC-BB31364F80A0}" destId="{BA3F4872-FA8B-FB45-81B2-D1CB4B514FEC}" srcOrd="0" destOrd="0" presId="urn:microsoft.com/office/officeart/2016/7/layout/BasicLinearProcessNumbered"/>
    <dgm:cxn modelId="{978A1C14-8908-2C41-8C37-9CACF7CB4E7A}" type="presParOf" srcId="{2F0D72F0-F096-9E40-87EC-BB31364F80A0}" destId="{BAB5D8E9-C734-3747-A02B-1BCD9A1815AA}" srcOrd="1" destOrd="0" presId="urn:microsoft.com/office/officeart/2016/7/layout/BasicLinearProcessNumbered"/>
    <dgm:cxn modelId="{C306C340-B2CF-D84C-8438-9EB2B6CF924C}" type="presParOf" srcId="{2F0D72F0-F096-9E40-87EC-BB31364F80A0}" destId="{4D6F5309-A029-C14A-9A21-1403FE4C575A}" srcOrd="2" destOrd="0" presId="urn:microsoft.com/office/officeart/2016/7/layout/BasicLinearProcessNumbered"/>
    <dgm:cxn modelId="{D14FA908-1343-6F44-969F-0968B2ABFBBC}" type="presParOf" srcId="{2F0D72F0-F096-9E40-87EC-BB31364F80A0}" destId="{56476201-4DE0-0440-8EBD-EE07648F752D}" srcOrd="3" destOrd="0" presId="urn:microsoft.com/office/officeart/2016/7/layout/BasicLinearProcessNumbered"/>
    <dgm:cxn modelId="{B96C16B3-D701-C540-B5F6-A99C113A2381}" type="presParOf" srcId="{B950AC61-6A99-D045-A640-87FFEE8EF7D5}" destId="{6AE627B7-2066-1248-8B24-330C20A875DF}" srcOrd="3" destOrd="0" presId="urn:microsoft.com/office/officeart/2016/7/layout/BasicLinearProcessNumbered"/>
    <dgm:cxn modelId="{9FD5F543-99FB-FF48-96C1-B08A00ECFCF1}" type="presParOf" srcId="{B950AC61-6A99-D045-A640-87FFEE8EF7D5}" destId="{30EB1660-76AC-7B4F-9D2B-C81A9010C21D}" srcOrd="4" destOrd="0" presId="urn:microsoft.com/office/officeart/2016/7/layout/BasicLinearProcessNumbered"/>
    <dgm:cxn modelId="{96686030-5182-0644-AA9D-BB9E20F53094}" type="presParOf" srcId="{30EB1660-76AC-7B4F-9D2B-C81A9010C21D}" destId="{00621C19-F125-D84D-A4EB-5261DDC111B2}" srcOrd="0" destOrd="0" presId="urn:microsoft.com/office/officeart/2016/7/layout/BasicLinearProcessNumbered"/>
    <dgm:cxn modelId="{EA0BEB4D-D594-EF4F-928D-255FB5FB0AB6}" type="presParOf" srcId="{30EB1660-76AC-7B4F-9D2B-C81A9010C21D}" destId="{51F7F9E9-2DF9-4748-8F82-F5CC99B2E5E8}" srcOrd="1" destOrd="0" presId="urn:microsoft.com/office/officeart/2016/7/layout/BasicLinearProcessNumbered"/>
    <dgm:cxn modelId="{4726F703-ACCA-A646-AB22-111DE522CE78}" type="presParOf" srcId="{30EB1660-76AC-7B4F-9D2B-C81A9010C21D}" destId="{4A72AB4F-2BAF-0243-BAE4-84A5A5649D85}" srcOrd="2" destOrd="0" presId="urn:microsoft.com/office/officeart/2016/7/layout/BasicLinearProcessNumbered"/>
    <dgm:cxn modelId="{C075E533-FE64-AE4E-BCED-FD475594A06D}" type="presParOf" srcId="{30EB1660-76AC-7B4F-9D2B-C81A9010C21D}" destId="{8AC6B2D5-7708-0349-8817-FA3DCB5F6B26}" srcOrd="3" destOrd="0" presId="urn:microsoft.com/office/officeart/2016/7/layout/BasicLinearProcessNumbered"/>
    <dgm:cxn modelId="{A3C5F565-2EB3-A44E-841D-DDEEB8684A0A}" type="presParOf" srcId="{B950AC61-6A99-D045-A640-87FFEE8EF7D5}" destId="{2D930C66-F08F-CB45-93CE-C285876609A0}" srcOrd="5" destOrd="0" presId="urn:microsoft.com/office/officeart/2016/7/layout/BasicLinearProcessNumbered"/>
    <dgm:cxn modelId="{B612F7F2-E512-9547-A2F1-3CC75D7E153B}" type="presParOf" srcId="{B950AC61-6A99-D045-A640-87FFEE8EF7D5}" destId="{96424FE0-2687-284F-83B3-0E11C3E29C4D}" srcOrd="6" destOrd="0" presId="urn:microsoft.com/office/officeart/2016/7/layout/BasicLinearProcessNumbered"/>
    <dgm:cxn modelId="{01468DFC-FB9E-9141-AC41-82407730C2EE}" type="presParOf" srcId="{96424FE0-2687-284F-83B3-0E11C3E29C4D}" destId="{87A2C8FE-1D4A-3841-A4BC-8BF46CF47A99}" srcOrd="0" destOrd="0" presId="urn:microsoft.com/office/officeart/2016/7/layout/BasicLinearProcessNumbered"/>
    <dgm:cxn modelId="{E12E06FE-19AA-7E48-8201-9679DAEA7B89}" type="presParOf" srcId="{96424FE0-2687-284F-83B3-0E11C3E29C4D}" destId="{577C6448-AD90-8C44-8C26-AEDA5E9AD5B0}" srcOrd="1" destOrd="0" presId="urn:microsoft.com/office/officeart/2016/7/layout/BasicLinearProcessNumbered"/>
    <dgm:cxn modelId="{858CD9A7-17E3-7A4A-A9A3-25B3CC8C5621}" type="presParOf" srcId="{96424FE0-2687-284F-83B3-0E11C3E29C4D}" destId="{EB6BAD30-245A-8245-9974-77C1C70AF7FA}" srcOrd="2" destOrd="0" presId="urn:microsoft.com/office/officeart/2016/7/layout/BasicLinearProcessNumbered"/>
    <dgm:cxn modelId="{3D02F985-4F55-C144-9335-1D506FE4AE58}" type="presParOf" srcId="{96424FE0-2687-284F-83B3-0E11C3E29C4D}" destId="{72393F6F-C69F-1A4E-B065-976A8F1523B6}" srcOrd="3" destOrd="0" presId="urn:microsoft.com/office/officeart/2016/7/layout/BasicLinearProcessNumbered"/>
    <dgm:cxn modelId="{909F2F39-E897-D044-8B11-D11015C34919}" type="presParOf" srcId="{B950AC61-6A99-D045-A640-87FFEE8EF7D5}" destId="{346FF084-DFF9-D44F-8C5A-6B4E053E670F}" srcOrd="7" destOrd="0" presId="urn:microsoft.com/office/officeart/2016/7/layout/BasicLinearProcessNumbered"/>
    <dgm:cxn modelId="{87921345-343B-D649-B2A2-56774BC64DFD}" type="presParOf" srcId="{B950AC61-6A99-D045-A640-87FFEE8EF7D5}" destId="{EFCF93B4-15CF-244E-9362-9FA0FE0C05E6}" srcOrd="8" destOrd="0" presId="urn:microsoft.com/office/officeart/2016/7/layout/BasicLinearProcessNumbered"/>
    <dgm:cxn modelId="{D4191166-A1BB-1640-9D7D-17EE84FB3AE2}" type="presParOf" srcId="{EFCF93B4-15CF-244E-9362-9FA0FE0C05E6}" destId="{D7DF6ECD-EF9C-614B-8143-1B9F771E1137}" srcOrd="0" destOrd="0" presId="urn:microsoft.com/office/officeart/2016/7/layout/BasicLinearProcessNumbered"/>
    <dgm:cxn modelId="{560E6AA6-2D2E-E544-9E23-3D76D2EE92D8}" type="presParOf" srcId="{EFCF93B4-15CF-244E-9362-9FA0FE0C05E6}" destId="{E9AF8D61-FA81-EB47-AF03-E5A98AD98A24}" srcOrd="1" destOrd="0" presId="urn:microsoft.com/office/officeart/2016/7/layout/BasicLinearProcessNumbered"/>
    <dgm:cxn modelId="{74C8CA45-AD84-6546-96EB-E51DC08560D2}" type="presParOf" srcId="{EFCF93B4-15CF-244E-9362-9FA0FE0C05E6}" destId="{46C264F6-7647-A842-B506-0575EDEEC5FD}" srcOrd="2" destOrd="0" presId="urn:microsoft.com/office/officeart/2016/7/layout/BasicLinearProcessNumbered"/>
    <dgm:cxn modelId="{865A104C-2012-4A4A-8A55-DF2281191F71}" type="presParOf" srcId="{EFCF93B4-15CF-244E-9362-9FA0FE0C05E6}" destId="{8134204D-0401-AA44-A617-434D0C83B398}" srcOrd="3" destOrd="0" presId="urn:microsoft.com/office/officeart/2016/7/layout/BasicLinearProcessNumbered"/>
    <dgm:cxn modelId="{A5FF894E-2625-AD48-A0CB-70D5FA28AB68}" type="presParOf" srcId="{B950AC61-6A99-D045-A640-87FFEE8EF7D5}" destId="{C18F7608-D9C7-FD44-9FF3-3E423706F699}" srcOrd="9" destOrd="0" presId="urn:microsoft.com/office/officeart/2016/7/layout/BasicLinearProcessNumbered"/>
    <dgm:cxn modelId="{EA409EA2-ECD7-B942-91DB-41D1A46A8FDD}" type="presParOf" srcId="{B950AC61-6A99-D045-A640-87FFEE8EF7D5}" destId="{5AE9C7B3-5AF1-8F4F-B163-B27B1B965509}" srcOrd="10" destOrd="0" presId="urn:microsoft.com/office/officeart/2016/7/layout/BasicLinearProcessNumbered"/>
    <dgm:cxn modelId="{27656D1D-7657-7949-B98D-7C8C32715BC7}" type="presParOf" srcId="{5AE9C7B3-5AF1-8F4F-B163-B27B1B965509}" destId="{077A3D26-6339-9647-B779-F69E063E0ED0}" srcOrd="0" destOrd="0" presId="urn:microsoft.com/office/officeart/2016/7/layout/BasicLinearProcessNumbered"/>
    <dgm:cxn modelId="{F95F4077-7207-2242-A59B-68886529A08C}" type="presParOf" srcId="{5AE9C7B3-5AF1-8F4F-B163-B27B1B965509}" destId="{BE2D6CCC-6A4D-7948-ACF6-E0BD1D7A5560}" srcOrd="1" destOrd="0" presId="urn:microsoft.com/office/officeart/2016/7/layout/BasicLinearProcessNumbered"/>
    <dgm:cxn modelId="{789216D8-2927-E74D-9C01-FC025DF92284}" type="presParOf" srcId="{5AE9C7B3-5AF1-8F4F-B163-B27B1B965509}" destId="{106F0D4A-0877-FE46-92E1-AAAF6A6D120F}" srcOrd="2" destOrd="0" presId="urn:microsoft.com/office/officeart/2016/7/layout/BasicLinearProcessNumbered"/>
    <dgm:cxn modelId="{632DB41C-754B-BE45-9574-6F8E7A6E12A6}" type="presParOf" srcId="{5AE9C7B3-5AF1-8F4F-B163-B27B1B965509}" destId="{784E3969-6A3F-2344-992E-164F934ABFC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93634F-84BD-974B-948B-719678C1701D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598968C-9A93-0643-99C8-797A9F2BB22E}">
      <dgm:prSet phldrT="[Text]"/>
      <dgm:spPr/>
      <dgm:t>
        <a:bodyPr/>
        <a:lstStyle/>
        <a:p>
          <a:r>
            <a:rPr lang="en-US" dirty="0"/>
            <a:t>Insert human-screening data into LLMs</a:t>
          </a:r>
        </a:p>
      </dgm:t>
    </dgm:pt>
    <dgm:pt modelId="{B16E917A-611E-DA4A-B3BF-246063F7D535}" type="parTrans" cxnId="{68C16EDF-59B2-6740-AC11-7DD1B0BEB324}">
      <dgm:prSet/>
      <dgm:spPr/>
      <dgm:t>
        <a:bodyPr/>
        <a:lstStyle/>
        <a:p>
          <a:endParaRPr lang="en-US"/>
        </a:p>
      </dgm:t>
    </dgm:pt>
    <dgm:pt modelId="{53588167-A1D1-DA48-A609-E46CFE8BA0BC}" type="sibTrans" cxnId="{68C16EDF-59B2-6740-AC11-7DD1B0BEB324}">
      <dgm:prSet/>
      <dgm:spPr/>
      <dgm:t>
        <a:bodyPr/>
        <a:lstStyle/>
        <a:p>
          <a:endParaRPr lang="en-US"/>
        </a:p>
      </dgm:t>
    </dgm:pt>
    <dgm:pt modelId="{DC6B9BBD-0EC8-8446-9611-77B250190CDB}">
      <dgm:prSet phldrT="[Text]"/>
      <dgm:spPr/>
      <dgm:t>
        <a:bodyPr/>
        <a:lstStyle/>
        <a:p>
          <a:r>
            <a:rPr lang="en-US" dirty="0"/>
            <a:t>Receive the AI screening data using only prompts best performance in Phase 1 </a:t>
          </a:r>
        </a:p>
      </dgm:t>
    </dgm:pt>
    <dgm:pt modelId="{9044DC5B-980D-FD4F-A7BA-63640951FAE2}" type="parTrans" cxnId="{157CD000-F60A-6A4A-86C2-A96C1E86B78C}">
      <dgm:prSet/>
      <dgm:spPr/>
      <dgm:t>
        <a:bodyPr/>
        <a:lstStyle/>
        <a:p>
          <a:endParaRPr lang="en-US"/>
        </a:p>
      </dgm:t>
    </dgm:pt>
    <dgm:pt modelId="{8E258508-E975-D044-B88C-D701A5351462}" type="sibTrans" cxnId="{157CD000-F60A-6A4A-86C2-A96C1E86B78C}">
      <dgm:prSet/>
      <dgm:spPr/>
      <dgm:t>
        <a:bodyPr/>
        <a:lstStyle/>
        <a:p>
          <a:endParaRPr lang="en-US"/>
        </a:p>
      </dgm:t>
    </dgm:pt>
    <dgm:pt modelId="{749C2C80-063B-5741-87BD-8108A96A0D3C}">
      <dgm:prSet phldrT="[Text]"/>
      <dgm:spPr/>
      <dgm:t>
        <a:bodyPr/>
        <a:lstStyle/>
        <a:p>
          <a:r>
            <a:rPr lang="en-US" dirty="0"/>
            <a:t>Compare the model performance metrics </a:t>
          </a:r>
        </a:p>
      </dgm:t>
    </dgm:pt>
    <dgm:pt modelId="{ACBB5C78-7A9E-CD43-83BB-FA201C0D6BC1}" type="parTrans" cxnId="{2A4FDAA5-51B0-2C4B-9715-E80587BDD41C}">
      <dgm:prSet/>
      <dgm:spPr/>
      <dgm:t>
        <a:bodyPr/>
        <a:lstStyle/>
        <a:p>
          <a:endParaRPr lang="en-US"/>
        </a:p>
      </dgm:t>
    </dgm:pt>
    <dgm:pt modelId="{9AFD9845-ACAA-F14D-A78C-544775C9C6EE}" type="sibTrans" cxnId="{2A4FDAA5-51B0-2C4B-9715-E80587BDD41C}">
      <dgm:prSet/>
      <dgm:spPr/>
      <dgm:t>
        <a:bodyPr/>
        <a:lstStyle/>
        <a:p>
          <a:endParaRPr lang="en-US"/>
        </a:p>
      </dgm:t>
    </dgm:pt>
    <dgm:pt modelId="{CB2CCCEE-F1AD-A942-AAB1-EE9A14B42507}" type="pres">
      <dgm:prSet presAssocID="{FE93634F-84BD-974B-948B-719678C1701D}" presName="Name0" presStyleCnt="0">
        <dgm:presLayoutVars>
          <dgm:dir/>
          <dgm:resizeHandles val="exact"/>
        </dgm:presLayoutVars>
      </dgm:prSet>
      <dgm:spPr/>
    </dgm:pt>
    <dgm:pt modelId="{8B4EE9E8-E717-D543-AC7F-5EAE5C930842}" type="pres">
      <dgm:prSet presAssocID="{B598968C-9A93-0643-99C8-797A9F2BB22E}" presName="node" presStyleLbl="node1" presStyleIdx="0" presStyleCnt="3">
        <dgm:presLayoutVars>
          <dgm:bulletEnabled val="1"/>
        </dgm:presLayoutVars>
      </dgm:prSet>
      <dgm:spPr/>
    </dgm:pt>
    <dgm:pt modelId="{190C29DE-49DD-9548-83DA-F499F49BC0AA}" type="pres">
      <dgm:prSet presAssocID="{53588167-A1D1-DA48-A609-E46CFE8BA0BC}" presName="sibTrans" presStyleLbl="sibTrans2D1" presStyleIdx="0" presStyleCnt="2"/>
      <dgm:spPr/>
    </dgm:pt>
    <dgm:pt modelId="{6C4AF46B-0BB2-AF40-A2A8-D12F4E52BF45}" type="pres">
      <dgm:prSet presAssocID="{53588167-A1D1-DA48-A609-E46CFE8BA0BC}" presName="connectorText" presStyleLbl="sibTrans2D1" presStyleIdx="0" presStyleCnt="2"/>
      <dgm:spPr/>
    </dgm:pt>
    <dgm:pt modelId="{94EF770E-37DF-F640-A8AC-BA5EE19B7063}" type="pres">
      <dgm:prSet presAssocID="{DC6B9BBD-0EC8-8446-9611-77B250190CDB}" presName="node" presStyleLbl="node1" presStyleIdx="1" presStyleCnt="3">
        <dgm:presLayoutVars>
          <dgm:bulletEnabled val="1"/>
        </dgm:presLayoutVars>
      </dgm:prSet>
      <dgm:spPr/>
    </dgm:pt>
    <dgm:pt modelId="{35C53FE2-9FF0-554B-8DCE-B0D2E6EB1F23}" type="pres">
      <dgm:prSet presAssocID="{8E258508-E975-D044-B88C-D701A5351462}" presName="sibTrans" presStyleLbl="sibTrans2D1" presStyleIdx="1" presStyleCnt="2"/>
      <dgm:spPr/>
    </dgm:pt>
    <dgm:pt modelId="{249471C2-247A-2B49-95CD-21A7EFC71F69}" type="pres">
      <dgm:prSet presAssocID="{8E258508-E975-D044-B88C-D701A5351462}" presName="connectorText" presStyleLbl="sibTrans2D1" presStyleIdx="1" presStyleCnt="2"/>
      <dgm:spPr/>
    </dgm:pt>
    <dgm:pt modelId="{5DF53C6B-4AEB-8D43-9263-7ACF39EB0006}" type="pres">
      <dgm:prSet presAssocID="{749C2C80-063B-5741-87BD-8108A96A0D3C}" presName="node" presStyleLbl="node1" presStyleIdx="2" presStyleCnt="3">
        <dgm:presLayoutVars>
          <dgm:bulletEnabled val="1"/>
        </dgm:presLayoutVars>
      </dgm:prSet>
      <dgm:spPr/>
    </dgm:pt>
  </dgm:ptLst>
  <dgm:cxnLst>
    <dgm:cxn modelId="{157CD000-F60A-6A4A-86C2-A96C1E86B78C}" srcId="{FE93634F-84BD-974B-948B-719678C1701D}" destId="{DC6B9BBD-0EC8-8446-9611-77B250190CDB}" srcOrd="1" destOrd="0" parTransId="{9044DC5B-980D-FD4F-A7BA-63640951FAE2}" sibTransId="{8E258508-E975-D044-B88C-D701A5351462}"/>
    <dgm:cxn modelId="{8D296D37-74FB-8D47-837E-B87FEA9A7755}" type="presOf" srcId="{8E258508-E975-D044-B88C-D701A5351462}" destId="{249471C2-247A-2B49-95CD-21A7EFC71F69}" srcOrd="1" destOrd="0" presId="urn:microsoft.com/office/officeart/2005/8/layout/process1"/>
    <dgm:cxn modelId="{87B7213B-907C-3140-93DC-B5A10E5A3451}" type="presOf" srcId="{B598968C-9A93-0643-99C8-797A9F2BB22E}" destId="{8B4EE9E8-E717-D543-AC7F-5EAE5C930842}" srcOrd="0" destOrd="0" presId="urn:microsoft.com/office/officeart/2005/8/layout/process1"/>
    <dgm:cxn modelId="{2D930C54-CAD3-354C-BB01-D6B50580EE21}" type="presOf" srcId="{749C2C80-063B-5741-87BD-8108A96A0D3C}" destId="{5DF53C6B-4AEB-8D43-9263-7ACF39EB0006}" srcOrd="0" destOrd="0" presId="urn:microsoft.com/office/officeart/2005/8/layout/process1"/>
    <dgm:cxn modelId="{8CFB619C-8AAF-5942-807F-30770BFF31D1}" type="presOf" srcId="{8E258508-E975-D044-B88C-D701A5351462}" destId="{35C53FE2-9FF0-554B-8DCE-B0D2E6EB1F23}" srcOrd="0" destOrd="0" presId="urn:microsoft.com/office/officeart/2005/8/layout/process1"/>
    <dgm:cxn modelId="{2A4FDAA5-51B0-2C4B-9715-E80587BDD41C}" srcId="{FE93634F-84BD-974B-948B-719678C1701D}" destId="{749C2C80-063B-5741-87BD-8108A96A0D3C}" srcOrd="2" destOrd="0" parTransId="{ACBB5C78-7A9E-CD43-83BB-FA201C0D6BC1}" sibTransId="{9AFD9845-ACAA-F14D-A78C-544775C9C6EE}"/>
    <dgm:cxn modelId="{3C36BABD-E8E1-B54B-B5CA-35B346046F6B}" type="presOf" srcId="{53588167-A1D1-DA48-A609-E46CFE8BA0BC}" destId="{6C4AF46B-0BB2-AF40-A2A8-D12F4E52BF45}" srcOrd="1" destOrd="0" presId="urn:microsoft.com/office/officeart/2005/8/layout/process1"/>
    <dgm:cxn modelId="{AABCD9D0-178B-CF4C-99E8-59BBEE611806}" type="presOf" srcId="{FE93634F-84BD-974B-948B-719678C1701D}" destId="{CB2CCCEE-F1AD-A942-AAB1-EE9A14B42507}" srcOrd="0" destOrd="0" presId="urn:microsoft.com/office/officeart/2005/8/layout/process1"/>
    <dgm:cxn modelId="{A7BEB9DD-E7FE-5947-9D6D-96DB51B46DC4}" type="presOf" srcId="{53588167-A1D1-DA48-A609-E46CFE8BA0BC}" destId="{190C29DE-49DD-9548-83DA-F499F49BC0AA}" srcOrd="0" destOrd="0" presId="urn:microsoft.com/office/officeart/2005/8/layout/process1"/>
    <dgm:cxn modelId="{68C16EDF-59B2-6740-AC11-7DD1B0BEB324}" srcId="{FE93634F-84BD-974B-948B-719678C1701D}" destId="{B598968C-9A93-0643-99C8-797A9F2BB22E}" srcOrd="0" destOrd="0" parTransId="{B16E917A-611E-DA4A-B3BF-246063F7D535}" sibTransId="{53588167-A1D1-DA48-A609-E46CFE8BA0BC}"/>
    <dgm:cxn modelId="{69E53DF2-EE04-6244-9177-9F9DA6BC951E}" type="presOf" srcId="{DC6B9BBD-0EC8-8446-9611-77B250190CDB}" destId="{94EF770E-37DF-F640-A8AC-BA5EE19B7063}" srcOrd="0" destOrd="0" presId="urn:microsoft.com/office/officeart/2005/8/layout/process1"/>
    <dgm:cxn modelId="{9CCBEBB7-6F4E-624C-BF48-233FCDA657C9}" type="presParOf" srcId="{CB2CCCEE-F1AD-A942-AAB1-EE9A14B42507}" destId="{8B4EE9E8-E717-D543-AC7F-5EAE5C930842}" srcOrd="0" destOrd="0" presId="urn:microsoft.com/office/officeart/2005/8/layout/process1"/>
    <dgm:cxn modelId="{DC4115F7-2644-7640-B23C-F0B72D38FE94}" type="presParOf" srcId="{CB2CCCEE-F1AD-A942-AAB1-EE9A14B42507}" destId="{190C29DE-49DD-9548-83DA-F499F49BC0AA}" srcOrd="1" destOrd="0" presId="urn:microsoft.com/office/officeart/2005/8/layout/process1"/>
    <dgm:cxn modelId="{62E610F3-3820-274F-84D4-01B91F06C105}" type="presParOf" srcId="{190C29DE-49DD-9548-83DA-F499F49BC0AA}" destId="{6C4AF46B-0BB2-AF40-A2A8-D12F4E52BF45}" srcOrd="0" destOrd="0" presId="urn:microsoft.com/office/officeart/2005/8/layout/process1"/>
    <dgm:cxn modelId="{8BD9F2DA-B9DE-574E-968C-DD98176558B9}" type="presParOf" srcId="{CB2CCCEE-F1AD-A942-AAB1-EE9A14B42507}" destId="{94EF770E-37DF-F640-A8AC-BA5EE19B7063}" srcOrd="2" destOrd="0" presId="urn:microsoft.com/office/officeart/2005/8/layout/process1"/>
    <dgm:cxn modelId="{3AF34306-AAD1-D443-AC4F-F6F88CA1376F}" type="presParOf" srcId="{CB2CCCEE-F1AD-A942-AAB1-EE9A14B42507}" destId="{35C53FE2-9FF0-554B-8DCE-B0D2E6EB1F23}" srcOrd="3" destOrd="0" presId="urn:microsoft.com/office/officeart/2005/8/layout/process1"/>
    <dgm:cxn modelId="{D4ED0E11-B2FE-F94E-A32B-C20E2438131F}" type="presParOf" srcId="{35C53FE2-9FF0-554B-8DCE-B0D2E6EB1F23}" destId="{249471C2-247A-2B49-95CD-21A7EFC71F69}" srcOrd="0" destOrd="0" presId="urn:microsoft.com/office/officeart/2005/8/layout/process1"/>
    <dgm:cxn modelId="{7A91EA8F-E6C6-0940-A071-6A8C9457EF14}" type="presParOf" srcId="{CB2CCCEE-F1AD-A942-AAB1-EE9A14B42507}" destId="{5DF53C6B-4AEB-8D43-9263-7ACF39EB000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A204B-080B-D34E-9969-0835D82134D2}">
      <dsp:nvSpPr>
        <dsp:cNvPr id="0" name=""/>
        <dsp:cNvSpPr/>
      </dsp:nvSpPr>
      <dsp:spPr>
        <a:xfrm>
          <a:off x="1310" y="1553542"/>
          <a:ext cx="1651129" cy="23115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28" tIns="330200" rIns="12872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Feed the abstract data file into LLMs</a:t>
          </a:r>
        </a:p>
      </dsp:txBody>
      <dsp:txXfrm>
        <a:off x="1310" y="2431943"/>
        <a:ext cx="1651129" cy="1386948"/>
      </dsp:txXfrm>
    </dsp:sp>
    <dsp:sp modelId="{B31A1B2D-BE32-5048-8BE6-FBA4B1C89F1D}">
      <dsp:nvSpPr>
        <dsp:cNvPr id="0" name=""/>
        <dsp:cNvSpPr/>
      </dsp:nvSpPr>
      <dsp:spPr>
        <a:xfrm>
          <a:off x="480138" y="1784700"/>
          <a:ext cx="693474" cy="6934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66" tIns="12700" rIns="54066" bIns="127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</a:t>
          </a:r>
        </a:p>
      </dsp:txBody>
      <dsp:txXfrm>
        <a:off x="581695" y="1886257"/>
        <a:ext cx="490360" cy="490360"/>
      </dsp:txXfrm>
    </dsp:sp>
    <dsp:sp modelId="{C728837C-1A74-0D4B-83D4-0C8E15FCD2DD}">
      <dsp:nvSpPr>
        <dsp:cNvPr id="0" name=""/>
        <dsp:cNvSpPr/>
      </dsp:nvSpPr>
      <dsp:spPr>
        <a:xfrm>
          <a:off x="1310" y="3865052"/>
          <a:ext cx="165112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F4872-FA8B-FB45-81B2-D1CB4B514FEC}">
      <dsp:nvSpPr>
        <dsp:cNvPr id="0" name=""/>
        <dsp:cNvSpPr/>
      </dsp:nvSpPr>
      <dsp:spPr>
        <a:xfrm>
          <a:off x="1817553" y="1553542"/>
          <a:ext cx="1651129" cy="231158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28" tIns="330200" rIns="12872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Prompting </a:t>
          </a:r>
        </a:p>
      </dsp:txBody>
      <dsp:txXfrm>
        <a:off x="1817553" y="2431943"/>
        <a:ext cx="1651129" cy="1386948"/>
      </dsp:txXfrm>
    </dsp:sp>
    <dsp:sp modelId="{BAB5D8E9-C734-3747-A02B-1BCD9A1815AA}">
      <dsp:nvSpPr>
        <dsp:cNvPr id="0" name=""/>
        <dsp:cNvSpPr/>
      </dsp:nvSpPr>
      <dsp:spPr>
        <a:xfrm>
          <a:off x="2296380" y="1784700"/>
          <a:ext cx="693474" cy="6934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66" tIns="12700" rIns="54066" bIns="127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</a:t>
          </a:r>
        </a:p>
      </dsp:txBody>
      <dsp:txXfrm>
        <a:off x="2397937" y="1886257"/>
        <a:ext cx="490360" cy="490360"/>
      </dsp:txXfrm>
    </dsp:sp>
    <dsp:sp modelId="{4D6F5309-A029-C14A-9A21-1403FE4C575A}">
      <dsp:nvSpPr>
        <dsp:cNvPr id="0" name=""/>
        <dsp:cNvSpPr/>
      </dsp:nvSpPr>
      <dsp:spPr>
        <a:xfrm>
          <a:off x="1817553" y="3865052"/>
          <a:ext cx="165112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21C19-F125-D84D-A4EB-5261DDC111B2}">
      <dsp:nvSpPr>
        <dsp:cNvPr id="0" name=""/>
        <dsp:cNvSpPr/>
      </dsp:nvSpPr>
      <dsp:spPr>
        <a:xfrm>
          <a:off x="3633795" y="1553542"/>
          <a:ext cx="1651129" cy="231158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28" tIns="330200" rIns="12872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Generate the AI-screening data </a:t>
          </a:r>
        </a:p>
      </dsp:txBody>
      <dsp:txXfrm>
        <a:off x="3633795" y="2431943"/>
        <a:ext cx="1651129" cy="1386948"/>
      </dsp:txXfrm>
    </dsp:sp>
    <dsp:sp modelId="{51F7F9E9-2DF9-4748-8F82-F5CC99B2E5E8}">
      <dsp:nvSpPr>
        <dsp:cNvPr id="0" name=""/>
        <dsp:cNvSpPr/>
      </dsp:nvSpPr>
      <dsp:spPr>
        <a:xfrm>
          <a:off x="4112623" y="1784700"/>
          <a:ext cx="693474" cy="6934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66" tIns="12700" rIns="54066" bIns="127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</a:t>
          </a:r>
        </a:p>
      </dsp:txBody>
      <dsp:txXfrm>
        <a:off x="4214180" y="1886257"/>
        <a:ext cx="490360" cy="490360"/>
      </dsp:txXfrm>
    </dsp:sp>
    <dsp:sp modelId="{4A72AB4F-2BAF-0243-BAE4-84A5A5649D85}">
      <dsp:nvSpPr>
        <dsp:cNvPr id="0" name=""/>
        <dsp:cNvSpPr/>
      </dsp:nvSpPr>
      <dsp:spPr>
        <a:xfrm>
          <a:off x="3633795" y="3865052"/>
          <a:ext cx="165112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2C8FE-1D4A-3841-A4BC-8BF46CF47A99}">
      <dsp:nvSpPr>
        <dsp:cNvPr id="0" name=""/>
        <dsp:cNvSpPr/>
      </dsp:nvSpPr>
      <dsp:spPr>
        <a:xfrm>
          <a:off x="5450038" y="1553542"/>
          <a:ext cx="1651129" cy="23115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28" tIns="330200" rIns="12872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Feed the human-screening data into Python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5450038" y="2431943"/>
        <a:ext cx="1651129" cy="1386948"/>
      </dsp:txXfrm>
    </dsp:sp>
    <dsp:sp modelId="{577C6448-AD90-8C44-8C26-AEDA5E9AD5B0}">
      <dsp:nvSpPr>
        <dsp:cNvPr id="0" name=""/>
        <dsp:cNvSpPr/>
      </dsp:nvSpPr>
      <dsp:spPr>
        <a:xfrm>
          <a:off x="5928866" y="1784700"/>
          <a:ext cx="693474" cy="6934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66" tIns="12700" rIns="54066" bIns="127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</a:t>
          </a:r>
        </a:p>
      </dsp:txBody>
      <dsp:txXfrm>
        <a:off x="6030423" y="1886257"/>
        <a:ext cx="490360" cy="490360"/>
      </dsp:txXfrm>
    </dsp:sp>
    <dsp:sp modelId="{EB6BAD30-245A-8245-9974-77C1C70AF7FA}">
      <dsp:nvSpPr>
        <dsp:cNvPr id="0" name=""/>
        <dsp:cNvSpPr/>
      </dsp:nvSpPr>
      <dsp:spPr>
        <a:xfrm>
          <a:off x="5450038" y="3865052"/>
          <a:ext cx="1651129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F6ECD-EF9C-614B-8143-1B9F771E1137}">
      <dsp:nvSpPr>
        <dsp:cNvPr id="0" name=""/>
        <dsp:cNvSpPr/>
      </dsp:nvSpPr>
      <dsp:spPr>
        <a:xfrm>
          <a:off x="7266281" y="1553542"/>
          <a:ext cx="1651129" cy="2311581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28" tIns="330200" rIns="12872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Merge human-screening and AI-screening data</a:t>
          </a:r>
        </a:p>
      </dsp:txBody>
      <dsp:txXfrm>
        <a:off x="7266281" y="2431943"/>
        <a:ext cx="1651129" cy="1386948"/>
      </dsp:txXfrm>
    </dsp:sp>
    <dsp:sp modelId="{E9AF8D61-FA81-EB47-AF03-E5A98AD98A24}">
      <dsp:nvSpPr>
        <dsp:cNvPr id="0" name=""/>
        <dsp:cNvSpPr/>
      </dsp:nvSpPr>
      <dsp:spPr>
        <a:xfrm>
          <a:off x="7745108" y="1784700"/>
          <a:ext cx="693474" cy="6934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66" tIns="12700" rIns="54066" bIns="127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</a:t>
          </a:r>
        </a:p>
      </dsp:txBody>
      <dsp:txXfrm>
        <a:off x="7846665" y="1886257"/>
        <a:ext cx="490360" cy="490360"/>
      </dsp:txXfrm>
    </dsp:sp>
    <dsp:sp modelId="{46C264F6-7647-A842-B506-0575EDEEC5FD}">
      <dsp:nvSpPr>
        <dsp:cNvPr id="0" name=""/>
        <dsp:cNvSpPr/>
      </dsp:nvSpPr>
      <dsp:spPr>
        <a:xfrm>
          <a:off x="7266281" y="3865052"/>
          <a:ext cx="1651129" cy="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A3D26-6339-9647-B779-F69E063E0ED0}">
      <dsp:nvSpPr>
        <dsp:cNvPr id="0" name=""/>
        <dsp:cNvSpPr/>
      </dsp:nvSpPr>
      <dsp:spPr>
        <a:xfrm>
          <a:off x="9082523" y="1553542"/>
          <a:ext cx="1651129" cy="23115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728" tIns="330200" rIns="12872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Check performance (recall, precision, AUC, F1) </a:t>
          </a:r>
        </a:p>
      </dsp:txBody>
      <dsp:txXfrm>
        <a:off x="9082523" y="2431943"/>
        <a:ext cx="1651129" cy="1386948"/>
      </dsp:txXfrm>
    </dsp:sp>
    <dsp:sp modelId="{BE2D6CCC-6A4D-7948-ACF6-E0BD1D7A5560}">
      <dsp:nvSpPr>
        <dsp:cNvPr id="0" name=""/>
        <dsp:cNvSpPr/>
      </dsp:nvSpPr>
      <dsp:spPr>
        <a:xfrm>
          <a:off x="9561351" y="1784700"/>
          <a:ext cx="693474" cy="6934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066" tIns="12700" rIns="54066" bIns="1270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6</a:t>
          </a:r>
        </a:p>
      </dsp:txBody>
      <dsp:txXfrm>
        <a:off x="9662908" y="1886257"/>
        <a:ext cx="490360" cy="490360"/>
      </dsp:txXfrm>
    </dsp:sp>
    <dsp:sp modelId="{106F0D4A-0877-FE46-92E1-AAAF6A6D120F}">
      <dsp:nvSpPr>
        <dsp:cNvPr id="0" name=""/>
        <dsp:cNvSpPr/>
      </dsp:nvSpPr>
      <dsp:spPr>
        <a:xfrm>
          <a:off x="9082523" y="3865052"/>
          <a:ext cx="165112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EE9E8-E717-D543-AC7F-5EAE5C930842}">
      <dsp:nvSpPr>
        <dsp:cNvPr id="0" name=""/>
        <dsp:cNvSpPr/>
      </dsp:nvSpPr>
      <dsp:spPr>
        <a:xfrm>
          <a:off x="7143" y="1948672"/>
          <a:ext cx="2135187" cy="15213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Insert human-screening data into LLMs</a:t>
          </a:r>
        </a:p>
      </dsp:txBody>
      <dsp:txXfrm>
        <a:off x="51701" y="1993230"/>
        <a:ext cx="2046071" cy="1432205"/>
      </dsp:txXfrm>
    </dsp:sp>
    <dsp:sp modelId="{190C29DE-49DD-9548-83DA-F499F49BC0AA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55850" y="2550475"/>
        <a:ext cx="316861" cy="317716"/>
      </dsp:txXfrm>
    </dsp:sp>
    <dsp:sp modelId="{94EF770E-37DF-F640-A8AC-BA5EE19B7063}">
      <dsp:nvSpPr>
        <dsp:cNvPr id="0" name=""/>
        <dsp:cNvSpPr/>
      </dsp:nvSpPr>
      <dsp:spPr>
        <a:xfrm>
          <a:off x="2996406" y="1948672"/>
          <a:ext cx="2135187" cy="15213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Receive the AI screening data using only prompts best performance in Phase 1 </a:t>
          </a:r>
        </a:p>
      </dsp:txBody>
      <dsp:txXfrm>
        <a:off x="3040964" y="1993230"/>
        <a:ext cx="2046071" cy="1432205"/>
      </dsp:txXfrm>
    </dsp:sp>
    <dsp:sp modelId="{35C53FE2-9FF0-554B-8DCE-B0D2E6EB1F23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45112" y="2550475"/>
        <a:ext cx="316861" cy="317716"/>
      </dsp:txXfrm>
    </dsp:sp>
    <dsp:sp modelId="{5DF53C6B-4AEB-8D43-9263-7ACF39EB0006}">
      <dsp:nvSpPr>
        <dsp:cNvPr id="0" name=""/>
        <dsp:cNvSpPr/>
      </dsp:nvSpPr>
      <dsp:spPr>
        <a:xfrm>
          <a:off x="5985668" y="1948672"/>
          <a:ext cx="2135187" cy="15213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Compare the model performance metrics </a:t>
          </a:r>
        </a:p>
      </dsp:txBody>
      <dsp:txXfrm>
        <a:off x="6030226" y="1993230"/>
        <a:ext cx="2046071" cy="1432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C1C8E-C4D0-29E1-9A97-0C8BA0500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6E01D-D17D-EA07-EEA2-5939964A6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E356-E9DF-4EDD-2F4E-46DE9D64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0C413-C277-2BE1-54F4-D6098DD2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CFA30-D0F6-F905-64EA-191CB7D2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0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1F93-F87C-40DE-8045-8A338990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8996A-7245-4AA7-B8DE-0CB276372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0E6F1-3784-86A4-93F4-B3868540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24CB-8D23-858E-C9A2-445F2CDD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175B6-820F-6D0D-06FF-AFDCAA04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2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4406-A228-F04D-82B4-2DF88F07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7E4E4-3405-D302-365F-50E00DED2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E55FE-D71F-01B4-3D2C-67820F19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50ADC-2BF1-1FF0-8AC0-3E75A3CB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3254-A18E-CC43-4D79-4090CBB0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4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D190-88A6-1150-3936-C890CBDA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F574F-F379-84D5-AF77-2C38DAA9A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2C7F-0F5F-A881-A91E-75549BE55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17A0D-060E-191E-99E7-C86F2077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8D700-C1A5-78C8-C512-94C5A9E6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E4FDE-83D7-8FF0-6C0E-D85729A4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4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9603-7A0E-8E01-4513-36C021EB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13214-7016-92D9-39D4-6266A8BD3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26B54-894A-35E5-972E-A7C0B73E0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011CC-5D6E-F3D9-8106-5D060C575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91427-EAC8-3BAA-3359-5A1C26C66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9213C-0648-CD82-40F3-A965EDC5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34695-82E1-7879-02F3-410310E0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64D48-E1E1-62AC-7A6E-0EFD16DF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7EA9-F32C-F1A2-5F94-1AA7C319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50F4F-3DDC-4B04-97DC-64D7EB27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8DB41-49A3-D310-D780-AA9DAC73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62253-0B37-801A-1DAA-926DFD05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21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C63F8-12F1-2F70-4438-6363F643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D5EA8-5FB9-95F2-8E3A-CECC0158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EA6B2-6197-DDB9-4A51-7D1D61C8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3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08049-EE80-43E6-F8D6-821ADDB8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45F20-6403-AF4C-8AE2-50D39349B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98945-0426-F394-003C-508D27A00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371E0-B89E-D074-F9C2-FC033A2F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FA6FF-3228-AEDA-4271-87D9E32E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6D933-AEC5-34AE-9641-316368FF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7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DCD2-377A-1FD3-B151-8D312C16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14F18-63A0-F9BA-1E10-1967009D7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074C3-A53F-B897-679C-0785ADDFB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E21D1-5028-FDE4-CBCF-8AE7EDFE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B821B-68F4-D35D-9E1E-35B4269F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8A3BD-F6C2-5783-ABB7-1D2DF230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1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576A-B65E-8E5F-CE65-15F4FB58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8639D-0154-6A5E-1E55-D84CB215E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80158-4167-AE91-A074-129321C1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7F5B2-B1F3-1676-EC96-D517A4F1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4516-3637-C80E-F024-E46EB0B7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0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B0582-4F04-A3C9-3DD0-42B66D1CD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1E006-703E-0796-324F-1C002D456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8143-ABB6-AC33-7C40-3B4269BB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AB85A-123A-265F-E3B8-B3A9F8E6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2E0F-4E64-3B71-A604-DA949E52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7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DE85C-96B5-267C-BDF5-B431F9C1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A04A8-EFB6-6F60-2049-982C37BC4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C80E7-7AC6-F69E-49C3-E53650EDD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EF44D-EE28-F64D-96D8-55EF481E7992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4F9A-040F-E6C5-303B-015A4EE26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54A4B-5D62-6AF7-77A0-D8FC4D51D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A3DCD-A79A-AB4A-B5A8-6817121A6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2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platform.openai.com/docs/model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B4DBD-16FB-5655-2DB6-F6A618B86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/>
              <a:t>AI-Assisted Systematic Review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7D805-1F9B-E94C-ABF5-76792DBBC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Karikarn (Kay) Chansiri, Ph.D.</a:t>
            </a:r>
          </a:p>
        </p:txBody>
      </p:sp>
    </p:spTree>
    <p:extLst>
      <p:ext uri="{BB962C8B-B14F-4D97-AF65-F5344CB8AC3E}">
        <p14:creationId xmlns:p14="http://schemas.microsoft.com/office/powerpoint/2010/main" val="416737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4A877-5E6C-3CD2-635D-AD9912EC6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/>
              <a:t>GitHub as Worksite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28210-6D28-81E5-2C77-A81DBE09F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The following detail is under the file “tested_prompt_phase1” on GitHub </a:t>
            </a:r>
          </a:p>
          <a:p>
            <a:r>
              <a:rPr lang="en-US" sz="2400" dirty="0"/>
              <a:t>Initiate API key via OpenAI first</a:t>
            </a:r>
            <a:r>
              <a:rPr lang="en-US" sz="240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134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330E-6088-6C43-9F52-E146B47AC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Data and Workflow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C914CD9-ABB7-FCFE-7F6B-97EF08A80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99234"/>
              </p:ext>
            </p:extLst>
          </p:nvPr>
        </p:nvGraphicFramePr>
        <p:xfrm>
          <a:off x="466436" y="0"/>
          <a:ext cx="1073496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7BBDDCF-4113-DF91-67DA-92AE2C0A6A2B}"/>
              </a:ext>
            </a:extLst>
          </p:cNvPr>
          <p:cNvSpPr txBox="1"/>
          <p:nvPr/>
        </p:nvSpPr>
        <p:spPr>
          <a:xfrm>
            <a:off x="7952509" y="4013261"/>
            <a:ext cx="1330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 1: Phase1_merged.xlsx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5A0E6-07E2-1EC5-4F41-7F9C04911DF9}"/>
              </a:ext>
            </a:extLst>
          </p:cNvPr>
          <p:cNvSpPr txBox="1"/>
          <p:nvPr/>
        </p:nvSpPr>
        <p:spPr>
          <a:xfrm>
            <a:off x="3720770" y="4013261"/>
            <a:ext cx="2494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Prompt 1: </a:t>
            </a:r>
            <a:r>
              <a:rPr lang="en-US" dirty="0"/>
              <a:t>Phase1_with_FNreduction_temp0.xlsx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Prompt 2: </a:t>
            </a:r>
            <a:r>
              <a:rPr lang="en-US" dirty="0"/>
              <a:t>Phase1_strategy_2.1_refined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Prompt 3:</a:t>
            </a:r>
            <a:r>
              <a:rPr lang="en-US" dirty="0"/>
              <a:t> Phase1_strategy_2.1_refined_final.xlsx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6F56F-5AC9-9003-1C30-D504C2126626}"/>
              </a:ext>
            </a:extLst>
          </p:cNvPr>
          <p:cNvSpPr txBox="1"/>
          <p:nvPr/>
        </p:nvSpPr>
        <p:spPr>
          <a:xfrm>
            <a:off x="466436" y="4151760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Phase1.xlsx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2B950-FA4F-A0DB-9CFA-3C4897D39A87}"/>
              </a:ext>
            </a:extLst>
          </p:cNvPr>
          <p:cNvSpPr txBox="1"/>
          <p:nvPr/>
        </p:nvSpPr>
        <p:spPr>
          <a:xfrm>
            <a:off x="6096000" y="4013261"/>
            <a:ext cx="1621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Phase1_with_humans_updated</a:t>
            </a:r>
          </a:p>
        </p:txBody>
      </p:sp>
    </p:spTree>
    <p:extLst>
      <p:ext uri="{BB962C8B-B14F-4D97-AF65-F5344CB8AC3E}">
        <p14:creationId xmlns:p14="http://schemas.microsoft.com/office/powerpoint/2010/main" val="299147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E66B009-3C93-CC01-B6A7-69080030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57" y="1056640"/>
            <a:ext cx="7412690" cy="4818247"/>
          </a:xfrm>
          <a:prstGeom prst="rect">
            <a:avLst/>
          </a:prstGeom>
        </p:spPr>
      </p:pic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1EBA7-D186-6F06-76F0-8289E91F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model: gpt-4o</a:t>
            </a:r>
          </a:p>
        </p:txBody>
      </p:sp>
    </p:spTree>
    <p:extLst>
      <p:ext uri="{BB962C8B-B14F-4D97-AF65-F5344CB8AC3E}">
        <p14:creationId xmlns:p14="http://schemas.microsoft.com/office/powerpoint/2010/main" val="312826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3F0E2-FEC6-5358-8F3A-96670379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Prompt 1: Full eligibility determination (hard AND-gate logic, zero-shot)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9330589-D638-84E4-61B3-DE6AC06EF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pic>
        <p:nvPicPr>
          <p:cNvPr id="12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CC8328-C6A3-D680-0620-4637CE26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256" y="875161"/>
            <a:ext cx="6272455" cy="3453501"/>
          </a:xfrm>
          <a:prstGeom prst="rect">
            <a:avLst/>
          </a:prstGeom>
        </p:spPr>
      </p:pic>
      <p:pic>
        <p:nvPicPr>
          <p:cNvPr id="13" name="Picture 1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9FC4713-2004-DB8B-1EED-7BD1B79B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84" y="4265365"/>
            <a:ext cx="6343021" cy="119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3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FC439-CA05-144F-D6C8-98DC7753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Prompt 1 asks the model to:</a:t>
            </a:r>
            <a:br>
              <a:rPr lang="en-US" sz="5600"/>
            </a:br>
            <a:endParaRPr lang="en-US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1B791-16FC-7E34-A42C-91FA1852F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95" y="1690980"/>
            <a:ext cx="4702848" cy="3560260"/>
          </a:xfrm>
        </p:spPr>
        <p:txBody>
          <a:bodyPr anchor="ctr">
            <a:noAutofit/>
          </a:bodyPr>
          <a:lstStyle/>
          <a:p>
            <a:r>
              <a:rPr lang="en-US" sz="2000" dirty="0"/>
              <a:t>Evaluate 8 independent eligibility criteria</a:t>
            </a:r>
          </a:p>
          <a:p>
            <a:r>
              <a:rPr lang="en-US" sz="2000" dirty="0"/>
              <a:t>Treat inclusion as a conjunction (“Yes if all criteria are Yes”)</a:t>
            </a:r>
          </a:p>
          <a:p>
            <a:r>
              <a:rPr lang="en-US" sz="2000" dirty="0"/>
              <a:t>Assign explicit exclusion codes</a:t>
            </a:r>
          </a:p>
          <a:p>
            <a:r>
              <a:rPr lang="en-US" sz="2000" dirty="0"/>
              <a:t>Make a final inclusion decision, not a triage decision</a:t>
            </a:r>
          </a:p>
          <a:p>
            <a:r>
              <a:rPr lang="en-US" sz="2000" dirty="0"/>
              <a:t>Resolve ambiguity using inference, but still requires </a:t>
            </a:r>
            <a:r>
              <a:rPr lang="en-US" sz="2000" i="1" dirty="0"/>
              <a:t>all criteria satisfied</a:t>
            </a:r>
          </a:p>
          <a:p>
            <a:r>
              <a:rPr lang="en-US" sz="2000" dirty="0"/>
              <a:t>This is essentially asking the model to behave like a </a:t>
            </a:r>
            <a:r>
              <a:rPr lang="en-US" sz="2000" b="1" u="sng" dirty="0"/>
              <a:t>human reviewer at full-text screening</a:t>
            </a:r>
            <a:r>
              <a:rPr lang="en-US" sz="2000" dirty="0"/>
              <a:t>, even though it only sees abstracts and metadata.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178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4201B-CAC1-EB26-CAD6-61505A77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Prompt 1 creates an implicit logical structure: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C5A1-D71D-6A5A-9433-F9D83B931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6071" y="1325620"/>
            <a:ext cx="5035605" cy="4020493"/>
          </a:xfrm>
        </p:spPr>
        <p:txBody>
          <a:bodyPr anchor="ctr">
            <a:noAutofit/>
          </a:bodyPr>
          <a:lstStyle/>
          <a:p>
            <a:r>
              <a:rPr lang="en-US" sz="2200" dirty="0"/>
              <a:t>Include = C1 ∧ C2 ∧ C3 ∧ … ∧ C8</a:t>
            </a:r>
          </a:p>
          <a:p>
            <a:r>
              <a:rPr lang="en-US" sz="2200" dirty="0"/>
              <a:t>The structure mathematically </a:t>
            </a:r>
            <a:r>
              <a:rPr lang="en-US" sz="2200" b="1" dirty="0"/>
              <a:t>suppresses recall</a:t>
            </a:r>
            <a:r>
              <a:rPr lang="en-US" sz="2200" dirty="0"/>
              <a:t>.</a:t>
            </a:r>
          </a:p>
          <a:p>
            <a:r>
              <a:rPr lang="en-US" sz="2200" dirty="0"/>
              <a:t>Even if the model leans toward “Yes” on ambiguous criteria, the probability that </a:t>
            </a:r>
            <a:r>
              <a:rPr lang="en-US" sz="2200" i="1" dirty="0"/>
              <a:t>all eight</a:t>
            </a:r>
            <a:r>
              <a:rPr lang="en-US" sz="2200" dirty="0"/>
              <a:t> are satisfied remains low, especially when abstracts underspecify implementation details, effectiveness, intervention structure, geography, etc. </a:t>
            </a:r>
          </a:p>
        </p:txBody>
      </p:sp>
    </p:spTree>
    <p:extLst>
      <p:ext uri="{BB962C8B-B14F-4D97-AF65-F5344CB8AC3E}">
        <p14:creationId xmlns:p14="http://schemas.microsoft.com/office/powerpoint/2010/main" val="255241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2BEB1-AC8B-AD64-CB59-CC9EADF0B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84BA2-735C-E4EA-637A-012EC649A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39" y="2581281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Output file: Phase1_with_FNreduction_temp0.xlsx</a:t>
            </a:r>
          </a:p>
          <a:p>
            <a:r>
              <a:rPr lang="en-US" sz="2400" dirty="0"/>
              <a:t>Precision: 0.8511</a:t>
            </a:r>
          </a:p>
          <a:p>
            <a:r>
              <a:rPr lang="en-US" sz="2400" b="1" dirty="0"/>
              <a:t>Recall: 0.4301</a:t>
            </a:r>
          </a:p>
          <a:p>
            <a:r>
              <a:rPr lang="en-US" sz="2400" dirty="0"/>
              <a:t>F1 Score: 0.5714</a:t>
            </a:r>
          </a:p>
          <a:p>
            <a:r>
              <a:rPr lang="en-US" sz="2400" dirty="0"/>
              <a:t>AUC: 0.7056</a:t>
            </a:r>
          </a:p>
          <a:p>
            <a:r>
              <a:rPr lang="en-US" sz="2400" b="1" u="sng" dirty="0"/>
              <a:t>Issue: Low recall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92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87385F-C585-A5B5-F49B-FB710DA8C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" y="1240911"/>
            <a:ext cx="7514141" cy="4245489"/>
          </a:xfrm>
          <a:prstGeom prst="rect">
            <a:avLst/>
          </a:prstGeom>
        </p:spPr>
      </p:pic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523ED-F29C-8BF6-2F02-64D41C44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Prompt 2: Binary triage with explicit false-negative minimization (few shots)</a:t>
            </a:r>
          </a:p>
        </p:txBody>
      </p:sp>
    </p:spTree>
    <p:extLst>
      <p:ext uri="{BB962C8B-B14F-4D97-AF65-F5344CB8AC3E}">
        <p14:creationId xmlns:p14="http://schemas.microsoft.com/office/powerpoint/2010/main" val="3283731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91CB0EAC-B5AE-90C8-8E28-8BA24717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48098"/>
            <a:ext cx="10905066" cy="496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5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129AE-5F14-D59B-BF25-E999551D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000" dirty="0"/>
              <a:t>Prompt 2: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15AB04BC-1080-CD9F-F846-6D5C8FEC18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5259" y="1648870"/>
            <a:ext cx="5092699" cy="3560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Reframes the task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 pre-screening / triage, not final inclusion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Reduces the number of criteria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from 8 → 4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Removes effectiveness, implementation, and geography from exclusion logic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dirty="0"/>
              <a:t>This implicitly changes the decision rule to something closer to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 Include if (Youth ∧ Possibly Homeless ∧ Some Intervention ∧ Empirical)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Exclude only if clearly incompatible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It’s a </a:t>
            </a:r>
            <a:r>
              <a:rPr lang="en-US" sz="1800" b="1" dirty="0"/>
              <a:t>screening heuristic</a:t>
            </a:r>
            <a:r>
              <a:rPr lang="en-US" sz="1800" dirty="0"/>
              <a:t>, closer to how human reviewers behave at title/abstract stage.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9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33660-A50B-82B5-2ADB-C32B8F685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Output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CE69-ED7E-7E6D-819F-562ED519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Output file: Phase1_strategy2.xlsx</a:t>
            </a:r>
          </a:p>
          <a:p>
            <a:r>
              <a:rPr lang="en-US" sz="2400" dirty="0"/>
              <a:t>Precision: 0.405</a:t>
            </a:r>
          </a:p>
          <a:p>
            <a:r>
              <a:rPr lang="en-US" sz="2400" dirty="0"/>
              <a:t>Recall (Sensitivity): 0.735</a:t>
            </a:r>
          </a:p>
          <a:p>
            <a:r>
              <a:rPr lang="en-US" sz="2400" dirty="0"/>
              <a:t>Specificity: 0.648</a:t>
            </a:r>
          </a:p>
          <a:p>
            <a:r>
              <a:rPr lang="en-US" sz="2400" dirty="0"/>
              <a:t> Accuracy: 0.670</a:t>
            </a:r>
          </a:p>
          <a:p>
            <a:r>
              <a:rPr lang="en-US" sz="2400" dirty="0"/>
              <a:t>F1 Score: 0.522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6860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A90EE-C6FF-E63D-51EC-9EE19222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Prompt 3: Expanded inferential envelope (maximum recall regime, few-shots)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D57D8-3310-2B6E-7D08-15055CD9A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31" y="2704014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The following studies should have been included by AI but were not based on human-AI misalignment calculation: </a:t>
            </a:r>
          </a:p>
          <a:p>
            <a:pPr marL="0" indent="0">
              <a:buNone/>
            </a:pPr>
            <a:r>
              <a:rPr lang="en-US" sz="2200" dirty="0"/>
              <a:t>1) Mixed age groups where youth are likely present</a:t>
            </a:r>
          </a:p>
          <a:p>
            <a:pPr marL="0" indent="0">
              <a:buNone/>
            </a:pPr>
            <a:r>
              <a:rPr lang="en-US" sz="2200" dirty="0"/>
              <a:t>2) Housing-related interventions, even if outcomes aren’t housing-specific</a:t>
            </a:r>
          </a:p>
          <a:p>
            <a:pPr marL="0" indent="0">
              <a:buNone/>
            </a:pPr>
            <a:r>
              <a:rPr lang="en-US" sz="2200" dirty="0"/>
              <a:t>3) Studies addressing homelessness-related systems, not just direct services</a:t>
            </a:r>
          </a:p>
          <a:p>
            <a:pPr marL="0" indent="0">
              <a:buNone/>
            </a:pPr>
            <a:r>
              <a:rPr lang="en-US" sz="2200" dirty="0"/>
              <a:t>4) Broader public health interventions delivered in homeless-serving contexts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254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89697-848E-DA62-95CD-748516B47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Key changes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5FE72-8918-B6DF-C35B-A531CBBC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• Mixed-age samples explicitly allowed</a:t>
            </a:r>
            <a:br>
              <a:rPr lang="en-US" sz="2400"/>
            </a:br>
            <a:r>
              <a:rPr lang="en-US" sz="2400"/>
              <a:t>• Systems-level and structural homelessness contexts allowed</a:t>
            </a:r>
            <a:br>
              <a:rPr lang="en-US" sz="2400"/>
            </a:br>
            <a:r>
              <a:rPr lang="en-US" sz="2400"/>
              <a:t>• Interventions not directly targeting housing allowed</a:t>
            </a:r>
            <a:br>
              <a:rPr lang="en-US" sz="2400"/>
            </a:br>
            <a:r>
              <a:rPr lang="en-US" sz="2400"/>
              <a:t>• Vulnerability → homelessness risk inference made explicit</a:t>
            </a:r>
            <a:br>
              <a:rPr lang="en-US" sz="2400"/>
            </a:br>
            <a:r>
              <a:rPr lang="en-US" sz="2400"/>
              <a:t>• “Exclude only if explicitly not relevant” framing reinforced</a:t>
            </a:r>
          </a:p>
          <a:p>
            <a:r>
              <a:rPr lang="en-US" sz="2400"/>
              <a:t>This effectively changes the decision boundary from “Does this study clearly match youth homelessness intervention criteria?” to “Is it plausible that this study intersects youth homelessness systems or populations?”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3590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and purple text&#10;&#10;AI-generated content may be incorrect.">
            <a:extLst>
              <a:ext uri="{FF2B5EF4-FFF2-40B4-BE49-F238E27FC236}">
                <a16:creationId xmlns:a16="http://schemas.microsoft.com/office/drawing/2014/main" id="{43107A02-AF94-E7B9-BAA0-32CD93A6D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018" y="643466"/>
            <a:ext cx="932396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97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D5C4A50-725B-CD07-AAD2-1106E8D3F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563" y="643466"/>
            <a:ext cx="96468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8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DA5E0-76FA-C7B8-7267-E2C02029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3400"/>
              <a:t>The differences across prompt strategies arise because of the changes 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F2CB-CABA-81CB-725D-286868DDF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The</a:t>
            </a:r>
            <a:r>
              <a:rPr lang="en-US" sz="2400" b="1" dirty="0"/>
              <a:t> </a:t>
            </a:r>
            <a:r>
              <a:rPr lang="en-US" sz="2400" dirty="0"/>
              <a:t>decision objective</a:t>
            </a:r>
          </a:p>
          <a:p>
            <a:r>
              <a:rPr lang="en-US" sz="2400" dirty="0"/>
              <a:t>The loss function implicitly encoded in the instructions</a:t>
            </a:r>
          </a:p>
          <a:p>
            <a:r>
              <a:rPr lang="en-US" sz="2400" dirty="0"/>
              <a:t>The cost asymmetry between false positives and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377519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3E23A-BDBD-C3CC-39B2-08F1D177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Output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2DB48-AF76-495F-2FE9-8EA80B621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Precision (Positive Predictive Value): 0.371</a:t>
            </a:r>
          </a:p>
          <a:p>
            <a:r>
              <a:rPr lang="en-US" sz="2400" b="1" dirty="0"/>
              <a:t>Recall (Sensitivity): 0.892</a:t>
            </a:r>
          </a:p>
          <a:p>
            <a:r>
              <a:rPr lang="en-US" sz="2400" dirty="0"/>
              <a:t>Specificity: 0.616</a:t>
            </a:r>
          </a:p>
          <a:p>
            <a:r>
              <a:rPr lang="en-US" sz="2400" dirty="0"/>
              <a:t>Accuracy: 0.672</a:t>
            </a:r>
          </a:p>
          <a:p>
            <a:r>
              <a:rPr lang="en-US" sz="2400" dirty="0"/>
              <a:t>F1 Score: 0.524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1032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4EA88-CF4A-0A33-A83F-25C620D9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 fontScale="90000"/>
          </a:bodyPr>
          <a:lstStyle/>
          <a:p>
            <a:r>
              <a:rPr lang="en-US" sz="7200" dirty="0"/>
              <a:t>Phase 2 Data and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5167-A8CE-6570-5D8D-D38DA217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lang="en-US" sz="2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D9B7C31-FDFC-6FEA-45F5-A0C06933B9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703817"/>
              </p:ext>
            </p:extLst>
          </p:nvPr>
        </p:nvGraphicFramePr>
        <p:xfrm>
          <a:off x="1232055" y="12398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E8E51A-3CD9-720A-1CDD-BB3507A7218A}"/>
              </a:ext>
            </a:extLst>
          </p:cNvPr>
          <p:cNvSpPr txBox="1"/>
          <p:nvPr/>
        </p:nvSpPr>
        <p:spPr>
          <a:xfrm>
            <a:off x="1232055" y="4964482"/>
            <a:ext cx="2539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Phase_2_combined.csv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85E270-5FD6-2B42-F176-19466B1D17E7}"/>
              </a:ext>
            </a:extLst>
          </p:cNvPr>
          <p:cNvSpPr txBox="1"/>
          <p:nvPr/>
        </p:nvSpPr>
        <p:spPr>
          <a:xfrm>
            <a:off x="4121225" y="5010649"/>
            <a:ext cx="2349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 3: Phase2_AI_screening_results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68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FA741-8730-F6B4-C343-1526073B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100"/>
              <a:t>Prompt 3’s performance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D488-397E-2B1B-5200-E9FD6D48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b="1"/>
              <a:t>Recall (Sensitivity): 0.914</a:t>
            </a:r>
          </a:p>
          <a:p>
            <a:r>
              <a:rPr lang="en-US" sz="2400"/>
              <a:t>Specificity: 0.493</a:t>
            </a:r>
          </a:p>
          <a:p>
            <a:r>
              <a:rPr lang="en-US" sz="2400"/>
              <a:t>Precision: 0.206</a:t>
            </a:r>
          </a:p>
          <a:p>
            <a:r>
              <a:rPr lang="en-US" sz="2400"/>
              <a:t>F1 Score: 0.336</a:t>
            </a:r>
          </a:p>
          <a:p>
            <a:r>
              <a:rPr lang="en-US" sz="2400"/>
              <a:t>Accuracy: 0.546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03074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4F41F-DEA2-831F-A726-7E591607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CD494-439A-842A-4837-0527AEE7B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• LLMs can be tuned via prompt design to optimize sensitivity or specificity</a:t>
            </a:r>
            <a:br>
              <a:rPr lang="en-US" sz="2400" dirty="0"/>
            </a:br>
            <a:r>
              <a:rPr lang="en-US" sz="2400" dirty="0"/>
              <a:t>• AI-assisted screening can substantially reduce false negatives at abstract stage</a:t>
            </a:r>
            <a:br>
              <a:rPr lang="en-US" sz="2400" dirty="0"/>
            </a:br>
            <a:r>
              <a:rPr lang="en-US" sz="2400" dirty="0"/>
              <a:t>• Different prompting regimes correspond to different stages of systematic review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3215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EC02-4B91-1EE2-C33B-B3DFDDD35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67" y="268098"/>
            <a:ext cx="11475717" cy="1325563"/>
          </a:xfrm>
        </p:spPr>
        <p:txBody>
          <a:bodyPr>
            <a:normAutofit/>
          </a:bodyPr>
          <a:lstStyle/>
          <a:p>
            <a:r>
              <a:rPr lang="en-US" sz="3000" dirty="0"/>
              <a:t>Prompt 3 best performed across both data phases. The next step is to test the prompt across different contexts: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9DBDD5-C883-5C89-88BF-F2AFE12E5B63}"/>
              </a:ext>
            </a:extLst>
          </p:cNvPr>
          <p:cNvSpPr/>
          <p:nvPr/>
        </p:nvSpPr>
        <p:spPr>
          <a:xfrm>
            <a:off x="4463510" y="1737124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 types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8A381-B87D-6185-9F67-3522AD06A3BA}"/>
              </a:ext>
            </a:extLst>
          </p:cNvPr>
          <p:cNvSpPr/>
          <p:nvPr/>
        </p:nvSpPr>
        <p:spPr>
          <a:xfrm>
            <a:off x="2186232" y="2992605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Zero shot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17FC0D-AD0C-9718-A4EE-0417486CC01D}"/>
              </a:ext>
            </a:extLst>
          </p:cNvPr>
          <p:cNvSpPr/>
          <p:nvPr/>
        </p:nvSpPr>
        <p:spPr>
          <a:xfrm>
            <a:off x="7007487" y="2978412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Few shots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E3536C-D97F-3413-8B5A-BC7D6D26D7E3}"/>
              </a:ext>
            </a:extLst>
          </p:cNvPr>
          <p:cNvSpPr/>
          <p:nvPr/>
        </p:nvSpPr>
        <p:spPr>
          <a:xfrm>
            <a:off x="465275" y="4301130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 decision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87CD64-5910-09F2-935D-898A0DBE848A}"/>
              </a:ext>
            </a:extLst>
          </p:cNvPr>
          <p:cNvSpPr/>
          <p:nvPr/>
        </p:nvSpPr>
        <p:spPr>
          <a:xfrm>
            <a:off x="3422220" y="4301130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 of Thoughts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B554C3-1AAA-2908-A839-D0FDD815555B}"/>
              </a:ext>
            </a:extLst>
          </p:cNvPr>
          <p:cNvSpPr/>
          <p:nvPr/>
        </p:nvSpPr>
        <p:spPr>
          <a:xfrm>
            <a:off x="6364638" y="4301130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 Decision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96666-885D-34E4-2ECF-B2A2F1C4E077}"/>
              </a:ext>
            </a:extLst>
          </p:cNvPr>
          <p:cNvSpPr/>
          <p:nvPr/>
        </p:nvSpPr>
        <p:spPr>
          <a:xfrm>
            <a:off x="9185651" y="4278777"/>
            <a:ext cx="2448733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 of Thoughts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5F986-E762-E573-FD14-DE09064C0A8A}"/>
              </a:ext>
            </a:extLst>
          </p:cNvPr>
          <p:cNvSpPr/>
          <p:nvPr/>
        </p:nvSpPr>
        <p:spPr>
          <a:xfrm>
            <a:off x="8068" y="5664091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503B75-0DDD-212C-081E-BD6E134776EB}"/>
              </a:ext>
            </a:extLst>
          </p:cNvPr>
          <p:cNvSpPr/>
          <p:nvPr/>
        </p:nvSpPr>
        <p:spPr>
          <a:xfrm>
            <a:off x="1507209" y="5664091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Likert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6A2D62-4BE6-1790-1327-EEEC72486EF8}"/>
              </a:ext>
            </a:extLst>
          </p:cNvPr>
          <p:cNvSpPr/>
          <p:nvPr/>
        </p:nvSpPr>
        <p:spPr>
          <a:xfrm>
            <a:off x="3147446" y="5631405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F2730-C21E-D801-A0A5-2675E8E84974}"/>
              </a:ext>
            </a:extLst>
          </p:cNvPr>
          <p:cNvSpPr/>
          <p:nvPr/>
        </p:nvSpPr>
        <p:spPr>
          <a:xfrm>
            <a:off x="4646587" y="5628011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Likert 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57AFC9-5BAB-C478-31F2-72346BD66838}"/>
              </a:ext>
            </a:extLst>
          </p:cNvPr>
          <p:cNvSpPr/>
          <p:nvPr/>
        </p:nvSpPr>
        <p:spPr>
          <a:xfrm>
            <a:off x="6328464" y="5641512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F6C313-0E85-1F98-99CF-F23D269FFDDB}"/>
              </a:ext>
            </a:extLst>
          </p:cNvPr>
          <p:cNvSpPr/>
          <p:nvPr/>
        </p:nvSpPr>
        <p:spPr>
          <a:xfrm>
            <a:off x="7849886" y="5656007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Likert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73F5AE-56D6-2343-1C44-4DF7796780D9}"/>
              </a:ext>
            </a:extLst>
          </p:cNvPr>
          <p:cNvSpPr/>
          <p:nvPr/>
        </p:nvSpPr>
        <p:spPr>
          <a:xfrm>
            <a:off x="9371308" y="5637614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Binary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E55F1A-352F-DBDD-D2C5-B0371B80970C}"/>
              </a:ext>
            </a:extLst>
          </p:cNvPr>
          <p:cNvSpPr/>
          <p:nvPr/>
        </p:nvSpPr>
        <p:spPr>
          <a:xfrm>
            <a:off x="10833954" y="5656006"/>
            <a:ext cx="1358046" cy="97639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Likert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70BDF-92A0-1832-F214-0F3798CCCC6E}"/>
              </a:ext>
            </a:extLst>
          </p:cNvPr>
          <p:cNvSpPr txBox="1"/>
          <p:nvPr/>
        </p:nvSpPr>
        <p:spPr>
          <a:xfrm>
            <a:off x="9431638" y="3070102"/>
            <a:ext cx="220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Supervision regime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D0D94E-C213-1488-4850-EC36DB956988}"/>
              </a:ext>
            </a:extLst>
          </p:cNvPr>
          <p:cNvSpPr txBox="1"/>
          <p:nvPr/>
        </p:nvSpPr>
        <p:spPr>
          <a:xfrm>
            <a:off x="10222683" y="3925452"/>
            <a:ext cx="1929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Resoning regime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9A9927-0F61-8557-251B-61E8B792F9E8}"/>
              </a:ext>
            </a:extLst>
          </p:cNvPr>
          <p:cNvSpPr txBox="1"/>
          <p:nvPr/>
        </p:nvSpPr>
        <p:spPr>
          <a:xfrm>
            <a:off x="10331957" y="5214275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Decision structure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A5F1BE-0EA9-592A-AA0B-25E50636DE6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687877" y="2713517"/>
            <a:ext cx="0" cy="121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34889F-B3F5-A415-1C22-B2D4D8C7060D}"/>
              </a:ext>
            </a:extLst>
          </p:cNvPr>
          <p:cNvCxnSpPr>
            <a:cxnSpLocks/>
          </p:cNvCxnSpPr>
          <p:nvPr/>
        </p:nvCxnSpPr>
        <p:spPr>
          <a:xfrm>
            <a:off x="4297680" y="2834640"/>
            <a:ext cx="2849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E5FDBD-2C89-3341-7E4E-38A46606CA25}"/>
              </a:ext>
            </a:extLst>
          </p:cNvPr>
          <p:cNvCxnSpPr/>
          <p:nvPr/>
        </p:nvCxnSpPr>
        <p:spPr>
          <a:xfrm>
            <a:off x="4297680" y="2834640"/>
            <a:ext cx="0" cy="14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3F9453-F106-307C-DD8E-8A764583061A}"/>
              </a:ext>
            </a:extLst>
          </p:cNvPr>
          <p:cNvCxnSpPr/>
          <p:nvPr/>
        </p:nvCxnSpPr>
        <p:spPr>
          <a:xfrm>
            <a:off x="7147560" y="2834640"/>
            <a:ext cx="0" cy="1557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07B720-B43B-E3C1-499A-FAD243F4D1F7}"/>
              </a:ext>
            </a:extLst>
          </p:cNvPr>
          <p:cNvCxnSpPr>
            <a:stCxn id="5" idx="2"/>
          </p:cNvCxnSpPr>
          <p:nvPr/>
        </p:nvCxnSpPr>
        <p:spPr>
          <a:xfrm flipH="1">
            <a:off x="3410598" y="3968998"/>
            <a:ext cx="1" cy="1610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BCFCD0-7855-2EDC-800F-5B74CFB0E398}"/>
              </a:ext>
            </a:extLst>
          </p:cNvPr>
          <p:cNvCxnSpPr>
            <a:cxnSpLocks/>
          </p:cNvCxnSpPr>
          <p:nvPr/>
        </p:nvCxnSpPr>
        <p:spPr>
          <a:xfrm>
            <a:off x="1796706" y="4130040"/>
            <a:ext cx="2849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7E2131-D82B-6F9E-8631-F131C65A9069}"/>
              </a:ext>
            </a:extLst>
          </p:cNvPr>
          <p:cNvCxnSpPr/>
          <p:nvPr/>
        </p:nvCxnSpPr>
        <p:spPr>
          <a:xfrm>
            <a:off x="1796706" y="4130040"/>
            <a:ext cx="0" cy="171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28ABB72-4FD1-DEA8-F45A-5F4D0CA1DF7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634965" y="4130040"/>
            <a:ext cx="11622" cy="171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56791C-3479-D96C-15E9-A665B9F1B206}"/>
              </a:ext>
            </a:extLst>
          </p:cNvPr>
          <p:cNvCxnSpPr>
            <a:stCxn id="6" idx="2"/>
          </p:cNvCxnSpPr>
          <p:nvPr/>
        </p:nvCxnSpPr>
        <p:spPr>
          <a:xfrm flipH="1">
            <a:off x="8231853" y="3954805"/>
            <a:ext cx="1" cy="1752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5FCAB7F-F558-2A95-05B6-69E51C2EC915}"/>
              </a:ext>
            </a:extLst>
          </p:cNvPr>
          <p:cNvCxnSpPr/>
          <p:nvPr/>
        </p:nvCxnSpPr>
        <p:spPr>
          <a:xfrm>
            <a:off x="7376160" y="4130040"/>
            <a:ext cx="26741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61D05A-5A01-5A22-FF93-9DDEB2674AAB}"/>
              </a:ext>
            </a:extLst>
          </p:cNvPr>
          <p:cNvCxnSpPr/>
          <p:nvPr/>
        </p:nvCxnSpPr>
        <p:spPr>
          <a:xfrm>
            <a:off x="7376160" y="4130040"/>
            <a:ext cx="0" cy="1444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33035C-374F-0301-7C87-180A905E965E}"/>
              </a:ext>
            </a:extLst>
          </p:cNvPr>
          <p:cNvCxnSpPr/>
          <p:nvPr/>
        </p:nvCxnSpPr>
        <p:spPr>
          <a:xfrm>
            <a:off x="10050331" y="4130040"/>
            <a:ext cx="0" cy="1444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6067041-DBBF-AABB-C675-23475CF24A29}"/>
              </a:ext>
            </a:extLst>
          </p:cNvPr>
          <p:cNvCxnSpPr>
            <a:cxnSpLocks/>
          </p:cNvCxnSpPr>
          <p:nvPr/>
        </p:nvCxnSpPr>
        <p:spPr>
          <a:xfrm>
            <a:off x="213360" y="5497741"/>
            <a:ext cx="2651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F0FD6CB-04B7-81D0-B3D7-E2684D37B3A6}"/>
              </a:ext>
            </a:extLst>
          </p:cNvPr>
          <p:cNvCxnSpPr>
            <a:cxnSpLocks/>
          </p:cNvCxnSpPr>
          <p:nvPr/>
        </p:nvCxnSpPr>
        <p:spPr>
          <a:xfrm>
            <a:off x="3179544" y="5497741"/>
            <a:ext cx="2651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60C5D21-778E-E2A5-794D-91A63544AF5C}"/>
              </a:ext>
            </a:extLst>
          </p:cNvPr>
          <p:cNvCxnSpPr>
            <a:cxnSpLocks/>
          </p:cNvCxnSpPr>
          <p:nvPr/>
        </p:nvCxnSpPr>
        <p:spPr>
          <a:xfrm>
            <a:off x="6291212" y="5497741"/>
            <a:ext cx="2651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E24C25-2419-C429-0BD8-077DBCA7DFC4}"/>
              </a:ext>
            </a:extLst>
          </p:cNvPr>
          <p:cNvCxnSpPr>
            <a:cxnSpLocks/>
          </p:cNvCxnSpPr>
          <p:nvPr/>
        </p:nvCxnSpPr>
        <p:spPr>
          <a:xfrm>
            <a:off x="9403406" y="5493842"/>
            <a:ext cx="2651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D84F8A1-B438-5E3C-4E90-3F972D4EF408}"/>
              </a:ext>
            </a:extLst>
          </p:cNvPr>
          <p:cNvCxnSpPr>
            <a:stCxn id="8" idx="2"/>
          </p:cNvCxnSpPr>
          <p:nvPr/>
        </p:nvCxnSpPr>
        <p:spPr>
          <a:xfrm flipH="1">
            <a:off x="1689641" y="5277523"/>
            <a:ext cx="1" cy="2202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C30269C-F83F-981C-C1B5-65A9EC372C8C}"/>
              </a:ext>
            </a:extLst>
          </p:cNvPr>
          <p:cNvCxnSpPr>
            <a:stCxn id="9" idx="2"/>
          </p:cNvCxnSpPr>
          <p:nvPr/>
        </p:nvCxnSpPr>
        <p:spPr>
          <a:xfrm flipH="1">
            <a:off x="4646586" y="5277523"/>
            <a:ext cx="1" cy="216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8685088-31BF-8F52-7C91-48292BBD6563}"/>
              </a:ext>
            </a:extLst>
          </p:cNvPr>
          <p:cNvCxnSpPr>
            <a:stCxn id="10" idx="2"/>
          </p:cNvCxnSpPr>
          <p:nvPr/>
        </p:nvCxnSpPr>
        <p:spPr>
          <a:xfrm flipH="1">
            <a:off x="7589004" y="5277523"/>
            <a:ext cx="1" cy="216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F26A583-E2BF-5FE5-396D-CD8A84FDA54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410018" y="5255170"/>
            <a:ext cx="0" cy="238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F090EFB-122B-B8E3-C0CE-3ADEF94ABA2E}"/>
              </a:ext>
            </a:extLst>
          </p:cNvPr>
          <p:cNvCxnSpPr/>
          <p:nvPr/>
        </p:nvCxnSpPr>
        <p:spPr>
          <a:xfrm>
            <a:off x="213360" y="5493842"/>
            <a:ext cx="0" cy="14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48FA62F-FC23-E669-FB6E-B8728D5EE65B}"/>
              </a:ext>
            </a:extLst>
          </p:cNvPr>
          <p:cNvCxnSpPr/>
          <p:nvPr/>
        </p:nvCxnSpPr>
        <p:spPr>
          <a:xfrm>
            <a:off x="2865255" y="5493842"/>
            <a:ext cx="0" cy="1702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872BA67-1F56-E2CA-C27B-9F68522328FD}"/>
              </a:ext>
            </a:extLst>
          </p:cNvPr>
          <p:cNvCxnSpPr>
            <a:cxnSpLocks/>
          </p:cNvCxnSpPr>
          <p:nvPr/>
        </p:nvCxnSpPr>
        <p:spPr>
          <a:xfrm>
            <a:off x="3179544" y="5493842"/>
            <a:ext cx="0" cy="1621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AA2EEF4-E70C-70A7-08B3-982FC6806854}"/>
              </a:ext>
            </a:extLst>
          </p:cNvPr>
          <p:cNvCxnSpPr/>
          <p:nvPr/>
        </p:nvCxnSpPr>
        <p:spPr>
          <a:xfrm>
            <a:off x="5831439" y="5493842"/>
            <a:ext cx="0" cy="134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1B69131-79BB-94D2-A361-DA2F960B947A}"/>
              </a:ext>
            </a:extLst>
          </p:cNvPr>
          <p:cNvCxnSpPr/>
          <p:nvPr/>
        </p:nvCxnSpPr>
        <p:spPr>
          <a:xfrm>
            <a:off x="6328464" y="5493842"/>
            <a:ext cx="0" cy="1702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5346BD-9BD2-8BA1-D3BB-292DC509359A}"/>
              </a:ext>
            </a:extLst>
          </p:cNvPr>
          <p:cNvCxnSpPr/>
          <p:nvPr/>
        </p:nvCxnSpPr>
        <p:spPr>
          <a:xfrm>
            <a:off x="8943107" y="5493842"/>
            <a:ext cx="0" cy="1621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D51BCBB-79A1-4F7D-F5D4-9A3ED8F76144}"/>
              </a:ext>
            </a:extLst>
          </p:cNvPr>
          <p:cNvCxnSpPr/>
          <p:nvPr/>
        </p:nvCxnSpPr>
        <p:spPr>
          <a:xfrm>
            <a:off x="9403406" y="5493842"/>
            <a:ext cx="0" cy="1621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3985C8E-1EF2-A6A3-DAFF-43B55C8436B0}"/>
              </a:ext>
            </a:extLst>
          </p:cNvPr>
          <p:cNvCxnSpPr/>
          <p:nvPr/>
        </p:nvCxnSpPr>
        <p:spPr>
          <a:xfrm>
            <a:off x="12055301" y="5493842"/>
            <a:ext cx="0" cy="1437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416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643A0-70F7-436A-4729-CBEBB26C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Test zero-shot, direct decision, binary first to see it it performs better than few-shots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FF83-8AF7-959B-E9D7-1CAA8F96F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Precision: 0.340</a:t>
            </a:r>
          </a:p>
          <a:p>
            <a:r>
              <a:rPr lang="en-US" sz="2400" dirty="0"/>
              <a:t>Recall (Sensitivity): 0.903</a:t>
            </a:r>
          </a:p>
          <a:p>
            <a:r>
              <a:rPr lang="en-US" sz="2400" dirty="0"/>
              <a:t>Specificity: 0.556</a:t>
            </a:r>
          </a:p>
          <a:p>
            <a:r>
              <a:rPr lang="en-US" sz="2400" dirty="0"/>
              <a:t>Accuracy: 0.626</a:t>
            </a:r>
          </a:p>
          <a:p>
            <a:r>
              <a:rPr lang="en-US" sz="2400" dirty="0"/>
              <a:t>F1 Score: 0.494</a:t>
            </a:r>
          </a:p>
          <a:p>
            <a:pPr marL="0" indent="0">
              <a:buNone/>
            </a:pP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234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D5871-467B-EF51-8084-08E20588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/>
              <a:t>GitHub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E1FF-E159-2CF5-FEB5-E2E8A86C7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962" y="2668820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 the code under “to_betested_prompt_phase1” on </a:t>
            </a:r>
            <a:r>
              <a:rPr lang="en-US" sz="2000" dirty="0" err="1"/>
              <a:t>Github</a:t>
            </a:r>
            <a:r>
              <a:rPr lang="en-US" sz="2000" dirty="0"/>
              <a:t> to fill up the following table</a:t>
            </a:r>
          </a:p>
          <a:p>
            <a:r>
              <a:rPr lang="en-US" sz="2000" b="1" dirty="0"/>
              <a:t>Replace the model accordingly (the current one is a test file)** </a:t>
            </a:r>
          </a:p>
          <a:p>
            <a:r>
              <a:rPr lang="en-US" sz="2000" dirty="0"/>
              <a:t>Change the file name as appropriate.</a:t>
            </a:r>
          </a:p>
          <a:p>
            <a:r>
              <a:rPr lang="en-US" sz="2000" dirty="0"/>
              <a:t>*Note in the code example, I use a small, test data ("Phase1_test.xlsx”); the actual one for Phase 1 should be Phase1_test.xlsx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425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111C7-25DF-4B1A-347B-C34EB1E2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Phase 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020F7A-4BEB-1C75-500F-AED751627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5416038"/>
              </p:ext>
            </p:extLst>
          </p:nvPr>
        </p:nvGraphicFramePr>
        <p:xfrm>
          <a:off x="904602" y="3090516"/>
          <a:ext cx="10378445" cy="33079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98738">
                  <a:extLst>
                    <a:ext uri="{9D8B030D-6E8A-4147-A177-3AD203B41FA5}">
                      <a16:colId xmlns:a16="http://schemas.microsoft.com/office/drawing/2014/main" val="3235431249"/>
                    </a:ext>
                  </a:extLst>
                </a:gridCol>
                <a:gridCol w="1563062">
                  <a:extLst>
                    <a:ext uri="{9D8B030D-6E8A-4147-A177-3AD203B41FA5}">
                      <a16:colId xmlns:a16="http://schemas.microsoft.com/office/drawing/2014/main" val="2814551471"/>
                    </a:ext>
                  </a:extLst>
                </a:gridCol>
                <a:gridCol w="1498738">
                  <a:extLst>
                    <a:ext uri="{9D8B030D-6E8A-4147-A177-3AD203B41FA5}">
                      <a16:colId xmlns:a16="http://schemas.microsoft.com/office/drawing/2014/main" val="3281827529"/>
                    </a:ext>
                  </a:extLst>
                </a:gridCol>
                <a:gridCol w="1498738">
                  <a:extLst>
                    <a:ext uri="{9D8B030D-6E8A-4147-A177-3AD203B41FA5}">
                      <a16:colId xmlns:a16="http://schemas.microsoft.com/office/drawing/2014/main" val="2265927188"/>
                    </a:ext>
                  </a:extLst>
                </a:gridCol>
                <a:gridCol w="1498738">
                  <a:extLst>
                    <a:ext uri="{9D8B030D-6E8A-4147-A177-3AD203B41FA5}">
                      <a16:colId xmlns:a16="http://schemas.microsoft.com/office/drawing/2014/main" val="3202702697"/>
                    </a:ext>
                  </a:extLst>
                </a:gridCol>
                <a:gridCol w="1498738">
                  <a:extLst>
                    <a:ext uri="{9D8B030D-6E8A-4147-A177-3AD203B41FA5}">
                      <a16:colId xmlns:a16="http://schemas.microsoft.com/office/drawing/2014/main" val="4255838158"/>
                    </a:ext>
                  </a:extLst>
                </a:gridCol>
                <a:gridCol w="1321693">
                  <a:extLst>
                    <a:ext uri="{9D8B030D-6E8A-4147-A177-3AD203B41FA5}">
                      <a16:colId xmlns:a16="http://schemas.microsoft.com/office/drawing/2014/main" val="3410446101"/>
                    </a:ext>
                  </a:extLst>
                </a:gridCol>
              </a:tblGrid>
              <a:tr h="394188">
                <a:tc>
                  <a:txBody>
                    <a:bodyPr/>
                    <a:lstStyle/>
                    <a:p>
                      <a:r>
                        <a:rPr lang="en-US" sz="1800" dirty="0"/>
                        <a:t>Model 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Prompt-type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Recall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Specificity 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Accuracy 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Running time 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Cost </a:t>
                      </a:r>
                    </a:p>
                  </a:txBody>
                  <a:tcPr marL="89588" marR="89588" marT="44794" marB="44794"/>
                </a:tc>
                <a:extLst>
                  <a:ext uri="{0D108BD9-81ED-4DB2-BD59-A6C34878D82A}">
                    <a16:rowId xmlns:a16="http://schemas.microsoft.com/office/drawing/2014/main" val="3208612584"/>
                  </a:ext>
                </a:extLst>
              </a:tr>
              <a:tr h="1200479">
                <a:tc>
                  <a:txBody>
                    <a:bodyPr/>
                    <a:lstStyle/>
                    <a:p>
                      <a:r>
                        <a:rPr lang="en-US" sz="1800"/>
                        <a:t>GPT 4.0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Few shots, direct decision, binary 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89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62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67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89588" marR="89588" marT="44794" marB="44794"/>
                </a:tc>
                <a:extLst>
                  <a:ext uri="{0D108BD9-81ED-4DB2-BD59-A6C34878D82A}">
                    <a16:rowId xmlns:a16="http://schemas.microsoft.com/office/drawing/2014/main" val="555309264"/>
                  </a:ext>
                </a:extLst>
              </a:tr>
              <a:tr h="1469243">
                <a:tc>
                  <a:txBody>
                    <a:bodyPr/>
                    <a:lstStyle/>
                    <a:p>
                      <a:r>
                        <a:rPr lang="en-US" sz="1800"/>
                        <a:t>GPT 4.0 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Zero shots, direct decision, binary </a:t>
                      </a:r>
                    </a:p>
                    <a:p>
                      <a:endParaRPr lang="en-US" sz="1800"/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90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56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63</a:t>
                      </a:r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89588" marR="89588" marT="44794" marB="44794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89588" marR="89588" marT="44794" marB="44794"/>
                </a:tc>
                <a:extLst>
                  <a:ext uri="{0D108BD9-81ED-4DB2-BD59-A6C34878D82A}">
                    <a16:rowId xmlns:a16="http://schemas.microsoft.com/office/drawing/2014/main" val="74554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687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1AF7-AB2D-8FDA-FCA3-A1533E1F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326C00-EDBC-E528-E2C5-B8496F1CD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846572"/>
              </p:ext>
            </p:extLst>
          </p:nvPr>
        </p:nvGraphicFramePr>
        <p:xfrm>
          <a:off x="838200" y="1539440"/>
          <a:ext cx="10515596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4290920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3094641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373012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73107438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0841852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2503367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506545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8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19.10min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77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12.20min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98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32.03min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28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26.27min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801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37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A8E8-2031-B214-DCEC-A5BBDC650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15D8EA-8786-6916-484A-02545E581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978584"/>
              </p:ext>
            </p:extLst>
          </p:nvPr>
        </p:nvGraphicFramePr>
        <p:xfrm>
          <a:off x="838200" y="1825625"/>
          <a:ext cx="10515596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2249544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689879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3286427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004659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5044318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3863601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8201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6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58.87min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75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59.39min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1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80.35min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59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68.43min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36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598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F5B0-26E4-551B-DEC6-59E4CFF9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8B56-9372-0BD8-0E69-507DE6F4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9BD059-DB9D-73DA-F878-6A9538253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404730"/>
              </p:ext>
            </p:extLst>
          </p:nvPr>
        </p:nvGraphicFramePr>
        <p:xfrm>
          <a:off x="838200" y="1825625"/>
          <a:ext cx="10515596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2249544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689879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3286427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004659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5044318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3863601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8201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6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97.22min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75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101.53min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1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104.84min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59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112.19min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36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891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442DE-1722-1DB0-0920-0E5E40A0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To see the full code of how to write GPT models in the code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952F2-8702-A121-2664-DBF836A2D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19" y="2389218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Go to </a:t>
            </a:r>
            <a:r>
              <a:rPr lang="en-US" sz="2000" dirty="0">
                <a:hlinkClick r:id="rId2"/>
              </a:rPr>
              <a:t>https://platform.openai.com/docs/models</a:t>
            </a:r>
            <a:r>
              <a:rPr lang="en-US" sz="2000" dirty="0"/>
              <a:t> </a:t>
            </a:r>
          </a:p>
          <a:p>
            <a:r>
              <a:rPr lang="en-US" sz="2000" dirty="0"/>
              <a:t>Select a specific model. </a:t>
            </a:r>
          </a:p>
          <a:p>
            <a:r>
              <a:rPr lang="en-US" sz="2000" dirty="0"/>
              <a:t>Click at the copy symbol to get the model code and replace that in the full code.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A78FD-EAD5-4592-BD4F-214893E5E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923" y="2757173"/>
            <a:ext cx="6268855" cy="22567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69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B537-8D5C-5F5D-FCBD-1A403686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Validation Set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47E93B-DDEA-F648-D49C-37296DFA6C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355933"/>
              </p:ext>
            </p:extLst>
          </p:nvPr>
        </p:nvGraphicFramePr>
        <p:xfrm>
          <a:off x="838199" y="1825625"/>
          <a:ext cx="10708040" cy="3017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29720">
                  <a:extLst>
                    <a:ext uri="{9D8B030D-6E8A-4147-A177-3AD203B41FA5}">
                      <a16:colId xmlns:a16="http://schemas.microsoft.com/office/drawing/2014/main" val="3235431249"/>
                    </a:ext>
                  </a:extLst>
                </a:gridCol>
                <a:gridCol w="1529720">
                  <a:extLst>
                    <a:ext uri="{9D8B030D-6E8A-4147-A177-3AD203B41FA5}">
                      <a16:colId xmlns:a16="http://schemas.microsoft.com/office/drawing/2014/main" val="2814551471"/>
                    </a:ext>
                  </a:extLst>
                </a:gridCol>
                <a:gridCol w="1529720">
                  <a:extLst>
                    <a:ext uri="{9D8B030D-6E8A-4147-A177-3AD203B41FA5}">
                      <a16:colId xmlns:a16="http://schemas.microsoft.com/office/drawing/2014/main" val="3281827529"/>
                    </a:ext>
                  </a:extLst>
                </a:gridCol>
                <a:gridCol w="1529720">
                  <a:extLst>
                    <a:ext uri="{9D8B030D-6E8A-4147-A177-3AD203B41FA5}">
                      <a16:colId xmlns:a16="http://schemas.microsoft.com/office/drawing/2014/main" val="2265927188"/>
                    </a:ext>
                  </a:extLst>
                </a:gridCol>
                <a:gridCol w="1529720">
                  <a:extLst>
                    <a:ext uri="{9D8B030D-6E8A-4147-A177-3AD203B41FA5}">
                      <a16:colId xmlns:a16="http://schemas.microsoft.com/office/drawing/2014/main" val="3202702697"/>
                    </a:ext>
                  </a:extLst>
                </a:gridCol>
                <a:gridCol w="1529720">
                  <a:extLst>
                    <a:ext uri="{9D8B030D-6E8A-4147-A177-3AD203B41FA5}">
                      <a16:colId xmlns:a16="http://schemas.microsoft.com/office/drawing/2014/main" val="4255838158"/>
                    </a:ext>
                  </a:extLst>
                </a:gridCol>
                <a:gridCol w="1529720">
                  <a:extLst>
                    <a:ext uri="{9D8B030D-6E8A-4147-A177-3AD203B41FA5}">
                      <a16:colId xmlns:a16="http://schemas.microsoft.com/office/drawing/2014/main" val="3410446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61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4.0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309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4.0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2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445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E49A-5275-DD69-156B-67FC492C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4A6E04-983D-D56A-C70B-8E3153F5F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810564"/>
              </p:ext>
            </p:extLst>
          </p:nvPr>
        </p:nvGraphicFramePr>
        <p:xfrm>
          <a:off x="838200" y="1539440"/>
          <a:ext cx="10515596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4290920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3094641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373012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73107438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0841852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72503367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506545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8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77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98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28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GPT  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801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517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1AEE7F-29FA-6449-B4D0-D1B0CDE18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8453799"/>
              </p:ext>
            </p:extLst>
          </p:nvPr>
        </p:nvGraphicFramePr>
        <p:xfrm>
          <a:off x="838202" y="1005840"/>
          <a:ext cx="10515596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2249544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689879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3286427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004659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5044318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3863601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8201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6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75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1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59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36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112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52313-3E39-5DF8-FAEC-E5837BC44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EBB6BD-16A4-0962-53AD-AC7DC56A78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618170"/>
              </p:ext>
            </p:extLst>
          </p:nvPr>
        </p:nvGraphicFramePr>
        <p:xfrm>
          <a:off x="838204" y="1005840"/>
          <a:ext cx="10515596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422495440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16898793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3286427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8004659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35044318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3863601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8201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66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75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shots, direct decision,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1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binary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59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GPT 5 Nano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Zero </a:t>
                      </a:r>
                      <a:r>
                        <a:rPr lang="en-US" dirty="0" err="1"/>
                        <a:t>shots,CoT</a:t>
                      </a:r>
                      <a:r>
                        <a:rPr lang="en-US" dirty="0"/>
                        <a:t>, Likert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36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056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AA0A6-B1F5-6A7A-D605-20FB408A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000"/>
              <a:t>Check how much cost is wasted. If not more than $300, check  other models (select the most updated version)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A9ADD-700D-A413-FF36-935AFD11B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38" y="220307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LLAMA</a:t>
            </a:r>
          </a:p>
          <a:p>
            <a:r>
              <a:rPr lang="en-US" sz="2400" dirty="0"/>
              <a:t>Claude</a:t>
            </a:r>
          </a:p>
          <a:p>
            <a:r>
              <a:rPr lang="en-US" sz="2400" dirty="0"/>
              <a:t>Gemini</a:t>
            </a:r>
          </a:p>
        </p:txBody>
      </p:sp>
    </p:spTree>
    <p:extLst>
      <p:ext uri="{BB962C8B-B14F-4D97-AF65-F5344CB8AC3E}">
        <p14:creationId xmlns:p14="http://schemas.microsoft.com/office/powerpoint/2010/main" val="3475082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9921</TotalTime>
  <Words>1392</Words>
  <Application>Microsoft Macintosh PowerPoint</Application>
  <PresentationFormat>Widescreen</PresentationFormat>
  <Paragraphs>316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AI-Assisted Systematic Review Workflow</vt:lpstr>
      <vt:lpstr>GitHub as Worksite </vt:lpstr>
      <vt:lpstr>Phase 1 Data and Workflow </vt:lpstr>
      <vt:lpstr>Current model: gpt-4o</vt:lpstr>
      <vt:lpstr>Prompt 1: Full eligibility determination (hard AND-gate logic, zero-shot)</vt:lpstr>
      <vt:lpstr>Prompt 1 asks the model to: </vt:lpstr>
      <vt:lpstr>Prompt 1 creates an implicit logical structure:</vt:lpstr>
      <vt:lpstr>Output </vt:lpstr>
      <vt:lpstr>Prompt 2: Binary triage with explicit false-negative minimization (few shots)</vt:lpstr>
      <vt:lpstr>PowerPoint Presentation</vt:lpstr>
      <vt:lpstr>Prompt 2: </vt:lpstr>
      <vt:lpstr>Output </vt:lpstr>
      <vt:lpstr>Prompt 3: Expanded inferential envelope (maximum recall regime, few-shots)</vt:lpstr>
      <vt:lpstr>Key changes</vt:lpstr>
      <vt:lpstr>PowerPoint Presentation</vt:lpstr>
      <vt:lpstr>PowerPoint Presentation</vt:lpstr>
      <vt:lpstr>The differences across prompt strategies arise because of the changes in </vt:lpstr>
      <vt:lpstr>Output </vt:lpstr>
      <vt:lpstr>Phase 2 Data and Workflow</vt:lpstr>
      <vt:lpstr>Prompt 3’s performance </vt:lpstr>
      <vt:lpstr>Conclusion</vt:lpstr>
      <vt:lpstr>Prompt 3 best performed across both data phases. The next step is to test the prompt across different contexts: </vt:lpstr>
      <vt:lpstr>Test zero-shot, direct decision, binary first to see it it performs better than few-shots </vt:lpstr>
      <vt:lpstr>GitHub </vt:lpstr>
      <vt:lpstr>Phase 1</vt:lpstr>
      <vt:lpstr>Phase 1</vt:lpstr>
      <vt:lpstr>PowerPoint Presentation</vt:lpstr>
      <vt:lpstr>PowerPoint Presentation</vt:lpstr>
      <vt:lpstr>To see the full code of how to write GPT models in the code </vt:lpstr>
      <vt:lpstr>Phase 2: Validation Set </vt:lpstr>
      <vt:lpstr>Phase 2</vt:lpstr>
      <vt:lpstr>PowerPoint Presentation</vt:lpstr>
      <vt:lpstr>PowerPoint Presentation</vt:lpstr>
      <vt:lpstr>Check how much cost is wasted. If not more than $300, check  other models (select the most updated version)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Chansiri, Karikarn</dc:creator>
  <cp:lastModifiedBy>Wei, Xinyu</cp:lastModifiedBy>
  <cp:revision>59</cp:revision>
  <cp:lastPrinted>2025-12-19T18:45:09Z</cp:lastPrinted>
  <dcterms:created xsi:type="dcterms:W3CDTF">2025-12-19T18:04:23Z</dcterms:created>
  <dcterms:modified xsi:type="dcterms:W3CDTF">2026-03-20T19:20:19Z</dcterms:modified>
</cp:coreProperties>
</file>