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60" r:id="rId3"/>
    <p:sldId id="291" r:id="rId4"/>
    <p:sldId id="311" r:id="rId5"/>
    <p:sldId id="312" r:id="rId6"/>
    <p:sldId id="263" r:id="rId7"/>
    <p:sldId id="283" r:id="rId8"/>
    <p:sldId id="261" r:id="rId9"/>
    <p:sldId id="278" r:id="rId10"/>
    <p:sldId id="301" r:id="rId11"/>
    <p:sldId id="284" r:id="rId12"/>
    <p:sldId id="285" r:id="rId13"/>
    <p:sldId id="313" r:id="rId14"/>
    <p:sldId id="265" r:id="rId15"/>
    <p:sldId id="295" r:id="rId16"/>
    <p:sldId id="298" r:id="rId17"/>
    <p:sldId id="299" r:id="rId18"/>
    <p:sldId id="262" r:id="rId19"/>
    <p:sldId id="275" r:id="rId20"/>
    <p:sldId id="314" r:id="rId21"/>
    <p:sldId id="281" r:id="rId22"/>
    <p:sldId id="306" r:id="rId23"/>
    <p:sldId id="264" r:id="rId24"/>
    <p:sldId id="315" r:id="rId25"/>
    <p:sldId id="276" r:id="rId26"/>
    <p:sldId id="269" r:id="rId27"/>
    <p:sldId id="277" r:id="rId28"/>
    <p:sldId id="292" r:id="rId29"/>
    <p:sldId id="289" r:id="rId30"/>
    <p:sldId id="290" r:id="rId31"/>
    <p:sldId id="267" r:id="rId32"/>
    <p:sldId id="293" r:id="rId33"/>
    <p:sldId id="287" r:id="rId34"/>
    <p:sldId id="288" r:id="rId35"/>
    <p:sldId id="300" r:id="rId36"/>
    <p:sldId id="316" r:id="rId37"/>
    <p:sldId id="317" r:id="rId38"/>
    <p:sldId id="303" r:id="rId39"/>
    <p:sldId id="268" r:id="rId40"/>
    <p:sldId id="318" r:id="rId41"/>
    <p:sldId id="272" r:id="rId42"/>
    <p:sldId id="307" r:id="rId43"/>
    <p:sldId id="296" r:id="rId44"/>
    <p:sldId id="273" r:id="rId45"/>
    <p:sldId id="320" r:id="rId46"/>
    <p:sldId id="321" r:id="rId47"/>
    <p:sldId id="297" r:id="rId48"/>
    <p:sldId id="258" r:id="rId49"/>
    <p:sldId id="25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79"/>
    <p:restoredTop sz="94737"/>
  </p:normalViewPr>
  <p:slideViewPr>
    <p:cSldViewPr snapToGrid="0">
      <p:cViewPr varScale="1">
        <p:scale>
          <a:sx n="109" d="100"/>
          <a:sy n="109" d="100"/>
        </p:scale>
        <p:origin x="208"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3" Type="http://schemas.openxmlformats.org/officeDocument/2006/relationships/hyperlink" Target="4.%09https:/link.springer.com/article/10.1186/s13643-024-02575-4" TargetMode="External"/><Relationship Id="rId2" Type="http://schemas.openxmlformats.org/officeDocument/2006/relationships/hyperlink" Target="https://link.springer.com/article/10.1186/s13643-024-02609-x" TargetMode="External"/><Relationship Id="rId1" Type="http://schemas.openxmlformats.org/officeDocument/2006/relationships/hyperlink" Target="https://www.medrxiv.org/content/10.1101/2024.06.01.24308323v1.full.pdf"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4.%09https:/link.springer.com/article/10.1186/s13643-024-02575-4" TargetMode="External"/><Relationship Id="rId2" Type="http://schemas.openxmlformats.org/officeDocument/2006/relationships/hyperlink" Target="https://link.springer.com/article/10.1186/s13643-024-02609-x" TargetMode="External"/><Relationship Id="rId1" Type="http://schemas.openxmlformats.org/officeDocument/2006/relationships/hyperlink" Target="https://www.medrxiv.org/content/10.1101/2024.06.01.24308323v1.full.pdf" TargetMode="Externa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ECCD45-DD69-42B3-B7AC-51B83713F4DC}"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4DA44A3B-770A-43AE-BE89-7406557A584F}">
      <dgm:prSet/>
      <dgm:spPr/>
      <dgm:t>
        <a:bodyPr/>
        <a:lstStyle/>
        <a:p>
          <a:r>
            <a:rPr lang="en-US" dirty="0"/>
            <a:t>Binary decision: yes or no, xxx or </a:t>
          </a:r>
          <a:r>
            <a:rPr lang="en-US" dirty="0" err="1"/>
            <a:t>yyy</a:t>
          </a:r>
          <a:r>
            <a:rPr lang="en-US" baseline="30000" dirty="0">
              <a:hlinkClick xmlns:r="http://schemas.openxmlformats.org/officeDocument/2006/relationships" r:id="rId1"/>
            </a:rPr>
            <a:t> 1</a:t>
          </a:r>
          <a:r>
            <a:rPr lang="en-US" baseline="30000" dirty="0"/>
            <a:t>.</a:t>
          </a:r>
          <a:r>
            <a:rPr lang="en-US" baseline="30000" dirty="0">
              <a:hlinkClick xmlns:r="http://schemas.openxmlformats.org/officeDocument/2006/relationships" r:id="rId2"/>
            </a:rPr>
            <a:t> 2</a:t>
          </a:r>
          <a:endParaRPr lang="en-US" dirty="0"/>
        </a:p>
      </dgm:t>
    </dgm:pt>
    <dgm:pt modelId="{91201739-77A0-4457-92EB-D3CDBAA2BFFE}" type="parTrans" cxnId="{4163453B-EC14-44C1-9D27-9E3F886AC89D}">
      <dgm:prSet/>
      <dgm:spPr/>
      <dgm:t>
        <a:bodyPr/>
        <a:lstStyle/>
        <a:p>
          <a:endParaRPr lang="en-US"/>
        </a:p>
      </dgm:t>
    </dgm:pt>
    <dgm:pt modelId="{7960FFE0-E764-41A1-9A92-5078A64AEAE6}" type="sibTrans" cxnId="{4163453B-EC14-44C1-9D27-9E3F886AC89D}">
      <dgm:prSet/>
      <dgm:spPr/>
      <dgm:t>
        <a:bodyPr/>
        <a:lstStyle/>
        <a:p>
          <a:endParaRPr lang="en-US"/>
        </a:p>
      </dgm:t>
    </dgm:pt>
    <dgm:pt modelId="{84E0BE0E-2C9C-4AB7-BB9D-C721C07D053C}">
      <dgm:prSet/>
      <dgm:spPr/>
      <dgm:t>
        <a:bodyPr/>
        <a:lstStyle/>
        <a:p>
          <a:r>
            <a:rPr lang="en-US"/>
            <a:t>Likert scale decision</a:t>
          </a:r>
          <a:r>
            <a:rPr lang="en-US" baseline="30000">
              <a:hlinkClick xmlns:r="http://schemas.openxmlformats.org/officeDocument/2006/relationships" r:id="rId3"/>
            </a:rPr>
            <a:t>3</a:t>
          </a:r>
          <a:r>
            <a:rPr lang="en-US"/>
            <a:t>: “Not relevant” to “highly relevant” </a:t>
          </a:r>
        </a:p>
      </dgm:t>
    </dgm:pt>
    <dgm:pt modelId="{DED74B90-E1AF-46E1-B48E-01D403815B66}" type="parTrans" cxnId="{8A198B16-3A79-47D8-B4B8-A2F1FE2BBD68}">
      <dgm:prSet/>
      <dgm:spPr/>
      <dgm:t>
        <a:bodyPr/>
        <a:lstStyle/>
        <a:p>
          <a:endParaRPr lang="en-US"/>
        </a:p>
      </dgm:t>
    </dgm:pt>
    <dgm:pt modelId="{0E97F4F4-1C26-40B4-85C5-7B3985E0AB43}" type="sibTrans" cxnId="{8A198B16-3A79-47D8-B4B8-A2F1FE2BBD68}">
      <dgm:prSet/>
      <dgm:spPr/>
      <dgm:t>
        <a:bodyPr/>
        <a:lstStyle/>
        <a:p>
          <a:endParaRPr lang="en-US"/>
        </a:p>
      </dgm:t>
    </dgm:pt>
    <dgm:pt modelId="{6107D124-F086-4941-A177-65C6A216BE10}" type="pres">
      <dgm:prSet presAssocID="{C0ECCD45-DD69-42B3-B7AC-51B83713F4DC}" presName="hierChild1" presStyleCnt="0">
        <dgm:presLayoutVars>
          <dgm:chPref val="1"/>
          <dgm:dir/>
          <dgm:animOne val="branch"/>
          <dgm:animLvl val="lvl"/>
          <dgm:resizeHandles/>
        </dgm:presLayoutVars>
      </dgm:prSet>
      <dgm:spPr/>
    </dgm:pt>
    <dgm:pt modelId="{061159F9-9D44-8E4C-AA5E-96DC511E6F8A}" type="pres">
      <dgm:prSet presAssocID="{4DA44A3B-770A-43AE-BE89-7406557A584F}" presName="hierRoot1" presStyleCnt="0"/>
      <dgm:spPr/>
    </dgm:pt>
    <dgm:pt modelId="{4A8351B0-AA12-C041-9FEB-BB38D915CD37}" type="pres">
      <dgm:prSet presAssocID="{4DA44A3B-770A-43AE-BE89-7406557A584F}" presName="composite" presStyleCnt="0"/>
      <dgm:spPr/>
    </dgm:pt>
    <dgm:pt modelId="{8797FC1E-3D0C-AA45-9E08-E9608FBE9560}" type="pres">
      <dgm:prSet presAssocID="{4DA44A3B-770A-43AE-BE89-7406557A584F}" presName="background" presStyleLbl="node0" presStyleIdx="0" presStyleCnt="2"/>
      <dgm:spPr/>
    </dgm:pt>
    <dgm:pt modelId="{8338E95D-8E18-C74F-B365-5D0F1E40BACC}" type="pres">
      <dgm:prSet presAssocID="{4DA44A3B-770A-43AE-BE89-7406557A584F}" presName="text" presStyleLbl="fgAcc0" presStyleIdx="0" presStyleCnt="2">
        <dgm:presLayoutVars>
          <dgm:chPref val="3"/>
        </dgm:presLayoutVars>
      </dgm:prSet>
      <dgm:spPr/>
    </dgm:pt>
    <dgm:pt modelId="{1BC45CB8-BCED-0F47-8975-6E713D5FA045}" type="pres">
      <dgm:prSet presAssocID="{4DA44A3B-770A-43AE-BE89-7406557A584F}" presName="hierChild2" presStyleCnt="0"/>
      <dgm:spPr/>
    </dgm:pt>
    <dgm:pt modelId="{5C7B96CF-FB3D-2F4D-9380-94AEE212BFE6}" type="pres">
      <dgm:prSet presAssocID="{84E0BE0E-2C9C-4AB7-BB9D-C721C07D053C}" presName="hierRoot1" presStyleCnt="0"/>
      <dgm:spPr/>
    </dgm:pt>
    <dgm:pt modelId="{87918F63-E235-CE45-BB2F-BE896216C90D}" type="pres">
      <dgm:prSet presAssocID="{84E0BE0E-2C9C-4AB7-BB9D-C721C07D053C}" presName="composite" presStyleCnt="0"/>
      <dgm:spPr/>
    </dgm:pt>
    <dgm:pt modelId="{16678B0E-50CE-2243-997F-C29850F4A8DD}" type="pres">
      <dgm:prSet presAssocID="{84E0BE0E-2C9C-4AB7-BB9D-C721C07D053C}" presName="background" presStyleLbl="node0" presStyleIdx="1" presStyleCnt="2"/>
      <dgm:spPr/>
    </dgm:pt>
    <dgm:pt modelId="{B8FB6551-28C6-E843-9632-96584D8E0320}" type="pres">
      <dgm:prSet presAssocID="{84E0BE0E-2C9C-4AB7-BB9D-C721C07D053C}" presName="text" presStyleLbl="fgAcc0" presStyleIdx="1" presStyleCnt="2">
        <dgm:presLayoutVars>
          <dgm:chPref val="3"/>
        </dgm:presLayoutVars>
      </dgm:prSet>
      <dgm:spPr/>
    </dgm:pt>
    <dgm:pt modelId="{1FF4C2BD-6212-9E42-ADE1-6C69342D812D}" type="pres">
      <dgm:prSet presAssocID="{84E0BE0E-2C9C-4AB7-BB9D-C721C07D053C}" presName="hierChild2" presStyleCnt="0"/>
      <dgm:spPr/>
    </dgm:pt>
  </dgm:ptLst>
  <dgm:cxnLst>
    <dgm:cxn modelId="{8A198B16-3A79-47D8-B4B8-A2F1FE2BBD68}" srcId="{C0ECCD45-DD69-42B3-B7AC-51B83713F4DC}" destId="{84E0BE0E-2C9C-4AB7-BB9D-C721C07D053C}" srcOrd="1" destOrd="0" parTransId="{DED74B90-E1AF-46E1-B48E-01D403815B66}" sibTransId="{0E97F4F4-1C26-40B4-85C5-7B3985E0AB43}"/>
    <dgm:cxn modelId="{4163453B-EC14-44C1-9D27-9E3F886AC89D}" srcId="{C0ECCD45-DD69-42B3-B7AC-51B83713F4DC}" destId="{4DA44A3B-770A-43AE-BE89-7406557A584F}" srcOrd="0" destOrd="0" parTransId="{91201739-77A0-4457-92EB-D3CDBAA2BFFE}" sibTransId="{7960FFE0-E764-41A1-9A92-5078A64AEAE6}"/>
    <dgm:cxn modelId="{9D4B2B4B-A3CC-824A-AA12-3A565E0C81E3}" type="presOf" srcId="{84E0BE0E-2C9C-4AB7-BB9D-C721C07D053C}" destId="{B8FB6551-28C6-E843-9632-96584D8E0320}" srcOrd="0" destOrd="0" presId="urn:microsoft.com/office/officeart/2005/8/layout/hierarchy1"/>
    <dgm:cxn modelId="{71E5F3C6-D140-7E4A-8298-A9E0AFD22A23}" type="presOf" srcId="{4DA44A3B-770A-43AE-BE89-7406557A584F}" destId="{8338E95D-8E18-C74F-B365-5D0F1E40BACC}" srcOrd="0" destOrd="0" presId="urn:microsoft.com/office/officeart/2005/8/layout/hierarchy1"/>
    <dgm:cxn modelId="{A2D56AF0-1468-3148-9C08-6AFBF6B0F372}" type="presOf" srcId="{C0ECCD45-DD69-42B3-B7AC-51B83713F4DC}" destId="{6107D124-F086-4941-A177-65C6A216BE10}" srcOrd="0" destOrd="0" presId="urn:microsoft.com/office/officeart/2005/8/layout/hierarchy1"/>
    <dgm:cxn modelId="{4CA618D9-70DC-AD4C-9EE9-60A93CFC1E7C}" type="presParOf" srcId="{6107D124-F086-4941-A177-65C6A216BE10}" destId="{061159F9-9D44-8E4C-AA5E-96DC511E6F8A}" srcOrd="0" destOrd="0" presId="urn:microsoft.com/office/officeart/2005/8/layout/hierarchy1"/>
    <dgm:cxn modelId="{143360EC-EDD0-BE40-B78B-4330A90B14B0}" type="presParOf" srcId="{061159F9-9D44-8E4C-AA5E-96DC511E6F8A}" destId="{4A8351B0-AA12-C041-9FEB-BB38D915CD37}" srcOrd="0" destOrd="0" presId="urn:microsoft.com/office/officeart/2005/8/layout/hierarchy1"/>
    <dgm:cxn modelId="{D8C8B1E5-D103-2341-8EEF-BDE0DDC892A0}" type="presParOf" srcId="{4A8351B0-AA12-C041-9FEB-BB38D915CD37}" destId="{8797FC1E-3D0C-AA45-9E08-E9608FBE9560}" srcOrd="0" destOrd="0" presId="urn:microsoft.com/office/officeart/2005/8/layout/hierarchy1"/>
    <dgm:cxn modelId="{2BEF6C22-05F1-1048-A681-A576A3523587}" type="presParOf" srcId="{4A8351B0-AA12-C041-9FEB-BB38D915CD37}" destId="{8338E95D-8E18-C74F-B365-5D0F1E40BACC}" srcOrd="1" destOrd="0" presId="urn:microsoft.com/office/officeart/2005/8/layout/hierarchy1"/>
    <dgm:cxn modelId="{0B688662-5456-3B40-9778-E8DCA77B6279}" type="presParOf" srcId="{061159F9-9D44-8E4C-AA5E-96DC511E6F8A}" destId="{1BC45CB8-BCED-0F47-8975-6E713D5FA045}" srcOrd="1" destOrd="0" presId="urn:microsoft.com/office/officeart/2005/8/layout/hierarchy1"/>
    <dgm:cxn modelId="{76A96931-2933-344B-ACD8-70EFDCD20ED2}" type="presParOf" srcId="{6107D124-F086-4941-A177-65C6A216BE10}" destId="{5C7B96CF-FB3D-2F4D-9380-94AEE212BFE6}" srcOrd="1" destOrd="0" presId="urn:microsoft.com/office/officeart/2005/8/layout/hierarchy1"/>
    <dgm:cxn modelId="{8807D880-6DB1-C545-A5BF-A65B36C888E7}" type="presParOf" srcId="{5C7B96CF-FB3D-2F4D-9380-94AEE212BFE6}" destId="{87918F63-E235-CE45-BB2F-BE896216C90D}" srcOrd="0" destOrd="0" presId="urn:microsoft.com/office/officeart/2005/8/layout/hierarchy1"/>
    <dgm:cxn modelId="{4099F4D2-19E1-104E-BD2F-1F16EEBB4F5A}" type="presParOf" srcId="{87918F63-E235-CE45-BB2F-BE896216C90D}" destId="{16678B0E-50CE-2243-997F-C29850F4A8DD}" srcOrd="0" destOrd="0" presId="urn:microsoft.com/office/officeart/2005/8/layout/hierarchy1"/>
    <dgm:cxn modelId="{FC9B0BB7-73EB-F740-851E-E9C423F53A40}" type="presParOf" srcId="{87918F63-E235-CE45-BB2F-BE896216C90D}" destId="{B8FB6551-28C6-E843-9632-96584D8E0320}" srcOrd="1" destOrd="0" presId="urn:microsoft.com/office/officeart/2005/8/layout/hierarchy1"/>
    <dgm:cxn modelId="{433952C9-0D6A-2D47-B624-7225C7CC03CA}" type="presParOf" srcId="{5C7B96CF-FB3D-2F4D-9380-94AEE212BFE6}" destId="{1FF4C2BD-6212-9E42-ADE1-6C69342D812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7FC1E-3D0C-AA45-9E08-E9608FBE9560}">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38E95D-8E18-C74F-B365-5D0F1E40BACC}">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dirty="0"/>
            <a:t>Binary decision: yes or no, xxx or </a:t>
          </a:r>
          <a:r>
            <a:rPr lang="en-US" sz="4400" kern="1200" dirty="0" err="1"/>
            <a:t>yyy</a:t>
          </a:r>
          <a:r>
            <a:rPr lang="en-US" sz="4400" kern="1200" baseline="30000" dirty="0">
              <a:hlinkClick xmlns:r="http://schemas.openxmlformats.org/officeDocument/2006/relationships" r:id="rId1"/>
            </a:rPr>
            <a:t> 1</a:t>
          </a:r>
          <a:r>
            <a:rPr lang="en-US" sz="4400" kern="1200" baseline="30000" dirty="0"/>
            <a:t>.</a:t>
          </a:r>
          <a:r>
            <a:rPr lang="en-US" sz="4400" kern="1200" baseline="30000" dirty="0">
              <a:hlinkClick xmlns:r="http://schemas.openxmlformats.org/officeDocument/2006/relationships" r:id="rId2"/>
            </a:rPr>
            <a:t> 2</a:t>
          </a:r>
          <a:endParaRPr lang="en-US" sz="4400" kern="1200" dirty="0"/>
        </a:p>
      </dsp:txBody>
      <dsp:txXfrm>
        <a:off x="608661" y="692298"/>
        <a:ext cx="4508047" cy="2799040"/>
      </dsp:txXfrm>
    </dsp:sp>
    <dsp:sp modelId="{16678B0E-50CE-2243-997F-C29850F4A8DD}">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FB6551-28C6-E843-9632-96584D8E0320}">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a:t>Likert scale decision</a:t>
          </a:r>
          <a:r>
            <a:rPr lang="en-US" sz="4400" kern="1200" baseline="30000">
              <a:hlinkClick xmlns:r="http://schemas.openxmlformats.org/officeDocument/2006/relationships" r:id="rId3"/>
            </a:rPr>
            <a:t>3</a:t>
          </a:r>
          <a:r>
            <a:rPr lang="en-US" sz="4400" kern="1200"/>
            <a:t>: “Not relevant” to “highly relevant” </a:t>
          </a:r>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8T17:12:30.9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73,'64'0,"8"0,15 0,-27 0,6 0,30 0,6 0,-32 0,0 0,3 0,11 0,2 0,2 0,1 0,1 0,1 0,-2 0,1 0,2 0,-16 0,1 0,1 0,-1 0,19 0,-1 0,-1 0,-4 0,-1 0,-2 0,-13 0,-1 0,-4 0,16 0,-5 0,-10 0,-2 0,-7 0,0 0,2 0,-1 0,1 0,-1 0,-6 0,-2 0,43-3,-12-8,-13-7,-16-2,-9 6,14 8,20 6,3 0,13 0,-18 0,4 0,2 0,-11 0,2 0,2 0,0 0,5 0,2 0,0 0,-2 0,-5 0,-1 0,0 0,0 0,2 0,1 0,-1 0,1 0,-3 0,0-1,-1 1,-1 1,18 0,-3 1,-2 1,-12 0,-3 1,-2 1,24 5,-4 3,-9 1,-1 0,3 0,0 0,-1-1,-3-1,-11-3,-3-1,-8-2,-3-1,33 1,-22-6,-21 1,-20-1,-4 0,14 0,31 0,6 1,11 2,-14 0,5 0,2 1,8 1,4 0,-1 1,4 0,0 2,-2-1,-9-1,-2-1,-2 0,22 2,-4-2,-9-2,-4-1,-14-2,-3 0,-9 0,-2 0,3 1,0 1,42 2,0 0,-13 0,-9-3,-8-1,-5 0,-2 0,-1 0,-2 0,-11 0,-6 0,-2 0,10 0,38 3,-37 0,1 1,4 0,-1 0,42 7,-29-4,-13-3,-14-1,-8-3,-4 0,-5 0,0 0,-1 0,-3 0,3 0,-1 0,-2 0,2 0,-3 0,-3 0,0 0,6 0,-4 0,4 0,-7 0,3 0,-4 0,8 0,-6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8T17:12:33.7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16,'94'0,"-6"0,-15 0,3 0,-2 0,-2 0,-7 0,-15 0,-4 0,-12 0,-1 0,-4 0,-4 0,0 0,-2 0,2 0,-2 0,-2 0,0 0,0 0,1 0,-1 0,0 0,1 0,3 2,0 4,0 0,1 2,-1 1,3-2,1 2,-3-3,-2-3,-3 0,1-3,2 0,1 0,-3 0,0 0,-3 0,0 0,2 0,-3 0,3 0,-5-2,-3 0,4-1,0 0,0 2,-1 1,-1-1,0 1,10 0,0 0,17 0,6 3,11 0,11 0,-3 0,7-2,-2-1,-5 0,3 0,0 0,4-4,-7-2,-3-6,-4-5,1 2,8 2,-3 7,-1 5,-4 0,0 1,-5-1,-2 1,-4 0,-10 0,-4 0,-10 0,-6 0,-3 0,-4 0,4 0,2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8T17:12:35.2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4421 146,'-98'0,"6"0,11 0,-16-4,36-1,-2 0,2 0,-1 0,1 0,0 0,3 2,1 2,-42 1,48 0,-1 0,-48 0,6 0,-2 0,3 0,9 0,1 0,1 0,0 0,3 0,0 0,6 2,0 1,0 1,-3 0,-6-3,1 0,2-1,6 0,7 0,8 0,8 0,5 0,2 0,2 0,1 0,0 0,1 0,-6 0,-4 0,-2 0,-1 0,-8 0,0 0,-4 0,8 0,2 0,2 0,-1 0,-5 0,5 0,0 0,6 0,8-2,1-5,1-3,4 0,1 2,4 2,0 1,-1-2,-2 0,2 1,3 1,3 0,1 1,0-2,0 1,-2 1,2 0,1 1,1 0,-2 0,-1 0,1 0,3-1,2 2,2 1,3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8T17:12:45.22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0 235,'60'0,"0"0,6 0,0 0,-5 0,2 0,16 0,7 0,-17 0,5 0,2 0,17 0,4 0,6 0,-25 1,3 0,3 0,0 1,1 0,1 0,2 0,0 0,-1 1,0 0,-3 1,0 0,-1 0,-1 1,-1 2,14 1,-2 2,-1 0,-3 2,-10 0,-3 1,0 1,0 1,1-1,-1 2,1-1,-1 2,22 5,-1 2,-5-1,-14-4,-3 0,-5-1,15 6,-7-2,-16-3,-3-3,-6-4,0-2,1-1,-1-1,39 2,-18-4,-20-6,-21-4,-1-2,15 1,21 3,27 2,-40 0,3 0,18 0,6 0,14 0,5 0,-25-1,1-1,2 1,3-1,2 0,-2 0,-5 0,-1 0,0 0,2 0,1 0,-1 1,-6 0,0 1,-3 0,21-1,-3 1,2 0,-2 0,-16 0,-4 0,-7 0,-1 0,-1 0,-2 0,33 0,10 0,-46 0,0 0,47 0,-9 0,-7 0,-11 0,-18 0,-16 0,-4 0,17 0,43-4,-37 1,5-1,28-2,9-2,-21 1,3 0,5-1,-7 2,4-1,3 1,-1 0,4-1,2 1,0 0,-1 0,-4 2,-1 0,0 0,-1 1,-3 1,0 0,-2 0,-3 1,8 0,-4 1,1 1,2-1,0 0,-1 0,-6 0,-1 0,-1 0,-3 0,-1 0,0 0,2 0,1 0,-3 0,21 0,-4 0,-8 0,-2 0,-6 0,-3 0,-4 0,-1 0,2 0,0 0,-7 0,-1 0,-3 0,-1 0,42 0,-12 0,-6 0,-3 0,1 0,5 0,0 0,11 0,3 0,-45 0,0 0,43 0,-7 0,-2-7,-10-4,18-5,-3-2,-40 11,2 2,4-2,0 0,-3 3,0-1,3 0,0 1,-2-1,-1 1,-1 1,-2 1,49-2,-2 0,0-1,-9 0,-3 1,-5 4,-1 0,3-2,-5-2,1 0,0-3,-1 0,-5-5,-3-3,-11 2,5 2,-8 1,-5 1,1 1,-8 1,3 2,-3 4,-1 1,0-1,-3 1,-2 0,-5-3,-5 0,-1 0,-3 0,0 3,5-3,5-3,8-1,10-3,1 0,2-1,-3-3,-10 4,-2 1,0 0,2 0,8-1,2 0,1-1,0 0,0 0,0 0,-5 4,2 0,-7 0,-2 3,0 1,-6 3,3 0,-2 0,-3 0,-4 0,-7 0,-5 0,1 0,-3 0,10 0,-9 0,4 0,-1 0,-4 2,7 1,-4 0,0-1,0-2,1 0,4 0,0 0,0 0,-2 0,-1 0,0 0,-3 0,0 0,0 2,1 3,0 2,-2 4,-1 2,-1 4,1 5,-3 2,-4-2,-3-1,-3-5,0-3,0 4,0-3,0 5,0-4,0-1,0 3,-2-2,-9-1,-1-4,-12-5,-7 4,-14 2,-24 4,-16 1,-12 1,1-1,12 1,2 1,-1 1,34-8,-3 1,-6 0,-3 0,-6 0,-1 0,-5 1,-2-2,-1-2,-1-1,-5 0,-2-1,-3 1,0 0,1-1,-1 1,2 4,2 0,8 0,2 2,2 0,1 1,-1 2,0 1,-3 1,0 1,-5 2,-2 0,-1 0,0 1,-2 0,0-1,7-3,2-2,3-1,3-2,5-1,1-2,9-3,0-1,0-1,1 0,-34 3,12-5,2 0,-8-4,-15 0,44-1,0-2,1 1,2-3,-46-10,7-6,0-3,2-4,14 3,4-2,5 0,-4-1,-7-3,0 0,-3-1,-4-1,0 1,0 2,0 2,33 13,0 1,-39-11,-6-1,42 12,1 1,0-1,-1 0,-10-3,-2 0,-3-2,-1 1,-4-1,-1 0,-1-1,-1 1,-2 0,0 2,0 0,0 0,1 2,-1 1,-5 0,1 2,8 1,2 1,2 1,0 1,0-1,2 1,6 0,1-1,-6 0,0 0,5 0,1 0,1 0,1 0,-3 0,1 0,2 1,0 1,3 1,1-1,-5 0,-1 1,4-1,1 0,3 0,0-1,-48-5,4 2,43 6,0 0,-2 0,0 0,-1 0,0 1,-40-5,-1 0,6 4,7 1,3 3,1 1,9 0,2 0,-4 0,-3 0,-9 0,-1 3,1 4,1 5,1 3,0 4,6 1,2 0,2 2,6-5,1 1,4 1,7-2,3 1,13-3,7-7,-7-4,-25-4,-25 1,36 0,-2 1,0 0,-1 1,-2-1,-2 0,-4 0,-1 0,6-2,0 0,-9 0,0 0,0 0,1 0,5 0,0 0,-7 0,1 0,10 0,1 0,2-1,1-2,-3-1,0-3,3-1,0-1,3-1,0-1,-47-10,1 5,46 6,-2 1,-2-1,0 0,-41-9,13 1,19 4,7 3,-8-1,-2 4,-3 3,-4 1,6 4,-1 0,1 0,1 0,-4 0,4 0,-1 0,0 0,0 0,-3 0,4 0,2 0,2 0,10 0,4 0,1 0,-1 0,-6 0,-5 0,-1 0,0 0,-1 0,1 3,1 1,9 2,7-1,5-1,2-1,-4 0,-5 1,-4 2,-7 4,-3 1,-6 4,0 0,-4 0,7-1,6-4,1-3,3-4,-6 1,-1 0,2 3,1 2,0-1,3 3,2-1,7-3,7 2,8-1,4-2,4 2,-1-1,0 1,2-2,5-2,2-1,-3 0,-1 0,1-1,-4-2,4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8D9FE-A8F0-9B4A-832E-ED546F6683F7}" type="datetimeFigureOut">
              <a:rPr lang="en-US" smtClean="0"/>
              <a:t>12/19/25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44E3A7-EEE6-604F-9BAA-D8010E60128B}" type="slidenum">
              <a:rPr lang="en-US" smtClean="0"/>
              <a:t>‹#›</a:t>
            </a:fld>
            <a:endParaRPr lang="en-US"/>
          </a:p>
        </p:txBody>
      </p:sp>
    </p:spTree>
    <p:extLst>
      <p:ext uri="{BB962C8B-B14F-4D97-AF65-F5344CB8AC3E}">
        <p14:creationId xmlns:p14="http://schemas.microsoft.com/office/powerpoint/2010/main" val="2275997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44E3A7-EEE6-604F-9BAA-D8010E60128B}" type="slidenum">
              <a:rPr lang="en-US" smtClean="0"/>
              <a:t>29</a:t>
            </a:fld>
            <a:endParaRPr lang="en-US"/>
          </a:p>
        </p:txBody>
      </p:sp>
    </p:spTree>
    <p:extLst>
      <p:ext uri="{BB962C8B-B14F-4D97-AF65-F5344CB8AC3E}">
        <p14:creationId xmlns:p14="http://schemas.microsoft.com/office/powerpoint/2010/main" val="3506247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44111-5D2A-25C9-0A8F-4BB8BFACA9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6A735C-E378-91B2-CA56-D249357C8C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0EB462-AD1D-EF2B-A401-03DD78CE1896}"/>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5" name="Footer Placeholder 4">
            <a:extLst>
              <a:ext uri="{FF2B5EF4-FFF2-40B4-BE49-F238E27FC236}">
                <a16:creationId xmlns:a16="http://schemas.microsoft.com/office/drawing/2014/main" id="{76E1B439-A46E-61A7-A794-B31BED4A5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D9027F-C261-565F-CF1F-473E6AB232EB}"/>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751333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22EA7-B922-E3D2-F08A-B586DCC56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885E29-89DA-C6A1-17EB-2BBD3D9426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579DF-1462-4B85-FE98-8C8BB5459FE7}"/>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5" name="Footer Placeholder 4">
            <a:extLst>
              <a:ext uri="{FF2B5EF4-FFF2-40B4-BE49-F238E27FC236}">
                <a16:creationId xmlns:a16="http://schemas.microsoft.com/office/drawing/2014/main" id="{2041420E-695F-5973-B811-09BBBE20D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822D1A-3956-173E-7905-C61F03C44656}"/>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1438944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6F5CE-E0E4-509B-E0E6-3CC3101780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EBC80-9A33-6018-5331-1B7F971297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14AA7E-34BE-84C4-93EC-34A28167F804}"/>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5" name="Footer Placeholder 4">
            <a:extLst>
              <a:ext uri="{FF2B5EF4-FFF2-40B4-BE49-F238E27FC236}">
                <a16:creationId xmlns:a16="http://schemas.microsoft.com/office/drawing/2014/main" id="{0C272235-ADE8-1208-BB9E-5BD5F9DE4C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765881-61E0-E5B8-8B61-ADA862C62F45}"/>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2662731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EB07-93EC-0CCA-FE18-3DC52EB758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FF5D63-94B2-87BC-1C4E-D813373C7D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E9A666-4DC3-9B60-0D0C-7610FC8F0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8D06CA-F113-E02F-2B92-B1485807AA2F}"/>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6" name="Footer Placeholder 5">
            <a:extLst>
              <a:ext uri="{FF2B5EF4-FFF2-40B4-BE49-F238E27FC236}">
                <a16:creationId xmlns:a16="http://schemas.microsoft.com/office/drawing/2014/main" id="{1BD5B2C4-842D-9933-9E5B-CB110C4C6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4FF7B1-1108-C7D9-730A-950188E2FB20}"/>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3042423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A6D2-2AD5-2353-0AE5-5B0BCDB362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0CAC15-9601-E28F-E3C4-F32B7EC9D7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2C6EA6-D335-CCB1-9675-F62346E089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3A0C77-33B5-F4C0-A651-B027DC3538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D35E3B-CD1E-D658-8707-77441C850A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21BED1-F162-5655-9B54-3A6AC3C20078}"/>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8" name="Footer Placeholder 7">
            <a:extLst>
              <a:ext uri="{FF2B5EF4-FFF2-40B4-BE49-F238E27FC236}">
                <a16:creationId xmlns:a16="http://schemas.microsoft.com/office/drawing/2014/main" id="{4C03FB66-0798-3F05-3DCF-C3C5D0BBC8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63C48F-F8BE-E9AC-A14F-256B3D0F06FE}"/>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3045610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7D997-4892-18B0-5FB3-680A77CC97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076859-5DA7-924F-847B-05EF31BB6922}"/>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4" name="Footer Placeholder 3">
            <a:extLst>
              <a:ext uri="{FF2B5EF4-FFF2-40B4-BE49-F238E27FC236}">
                <a16:creationId xmlns:a16="http://schemas.microsoft.com/office/drawing/2014/main" id="{4BDC5720-A959-F8F6-51C8-3A11570219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7E0DF1-9C00-07D9-1528-52FE26CC0651}"/>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3792000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1F11F7-0452-708C-05B9-6946191F2E6F}"/>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3" name="Footer Placeholder 2">
            <a:extLst>
              <a:ext uri="{FF2B5EF4-FFF2-40B4-BE49-F238E27FC236}">
                <a16:creationId xmlns:a16="http://schemas.microsoft.com/office/drawing/2014/main" id="{1DE88362-ADAE-865B-F25C-4539386C0B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04F783-8B2D-1EE1-667F-5D3300EBE12F}"/>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2589533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DF2A9-97F6-2101-74E1-287D10A5BF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BACB00-722E-3B14-F617-65A1855626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41E6C0-263A-A689-CE8D-1B4E5A3722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33A9D5-D80C-8846-358F-B3BA12F31449}"/>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6" name="Footer Placeholder 5">
            <a:extLst>
              <a:ext uri="{FF2B5EF4-FFF2-40B4-BE49-F238E27FC236}">
                <a16:creationId xmlns:a16="http://schemas.microsoft.com/office/drawing/2014/main" id="{C446BD12-FA8C-AD16-6C60-AC2ADD2883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20EBB5-046F-22C7-E00B-ACE1C938A801}"/>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2843808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7D333-7B85-2B51-A95F-FBB738F2EA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1A47CA-D3F7-2A78-C3D1-C7EBEEFA8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71CB67-B8DC-42B3-7FBC-44875D09E8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FC8CB6-B233-A3A8-60D5-301FE2B79F26}"/>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6" name="Footer Placeholder 5">
            <a:extLst>
              <a:ext uri="{FF2B5EF4-FFF2-40B4-BE49-F238E27FC236}">
                <a16:creationId xmlns:a16="http://schemas.microsoft.com/office/drawing/2014/main" id="{3251D0A6-7376-34DC-209A-D194902269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BFB118-C8B6-6473-89B7-61710D040A70}"/>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2187658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490FC-D18E-6211-9586-F4D260654B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228953-A652-64AC-94C7-7041970696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1D3AB-984F-6F35-C6A5-E5E4D5C22BC1}"/>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5" name="Footer Placeholder 4">
            <a:extLst>
              <a:ext uri="{FF2B5EF4-FFF2-40B4-BE49-F238E27FC236}">
                <a16:creationId xmlns:a16="http://schemas.microsoft.com/office/drawing/2014/main" id="{B3AFE56C-1B3D-614C-414C-A0BE2D68F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60441F-E820-68B3-ACC3-3A1640EA4424}"/>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489455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7642B6-1243-740F-1F5C-E020995A2C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C3797A-B94E-E6E8-D6D5-5C587CAEDD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F17E36-3FD5-353D-B23F-650F19E73FAA}"/>
              </a:ext>
            </a:extLst>
          </p:cNvPr>
          <p:cNvSpPr>
            <a:spLocks noGrp="1"/>
          </p:cNvSpPr>
          <p:nvPr>
            <p:ph type="dt" sz="half" idx="10"/>
          </p:nvPr>
        </p:nvSpPr>
        <p:spPr/>
        <p:txBody>
          <a:bodyPr/>
          <a:lstStyle/>
          <a:p>
            <a:fld id="{E6053D37-C735-3040-B498-762F70256E37}" type="datetimeFigureOut">
              <a:rPr lang="en-US" smtClean="0"/>
              <a:t>12/19/25</a:t>
            </a:fld>
            <a:endParaRPr lang="en-US"/>
          </a:p>
        </p:txBody>
      </p:sp>
      <p:sp>
        <p:nvSpPr>
          <p:cNvPr id="5" name="Footer Placeholder 4">
            <a:extLst>
              <a:ext uri="{FF2B5EF4-FFF2-40B4-BE49-F238E27FC236}">
                <a16:creationId xmlns:a16="http://schemas.microsoft.com/office/drawing/2014/main" id="{1C3C03E8-1A81-CFF4-5580-5DAB3FF4F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1593F2-8501-1B93-E75C-3C6D1DB08591}"/>
              </a:ext>
            </a:extLst>
          </p:cNvPr>
          <p:cNvSpPr>
            <a:spLocks noGrp="1"/>
          </p:cNvSpPr>
          <p:nvPr>
            <p:ph type="sldNum" sz="quarter" idx="12"/>
          </p:nvPr>
        </p:nvSpPr>
        <p:spPr/>
        <p:txBody>
          <a:bodyPr/>
          <a:lstStyle/>
          <a:p>
            <a:fld id="{EAFA7DAF-94A8-0B4C-8939-9EF4405467D9}" type="slidenum">
              <a:rPr lang="en-US" smtClean="0"/>
              <a:t>‹#›</a:t>
            </a:fld>
            <a:endParaRPr lang="en-US"/>
          </a:p>
        </p:txBody>
      </p:sp>
    </p:spTree>
    <p:extLst>
      <p:ext uri="{BB962C8B-B14F-4D97-AF65-F5344CB8AC3E}">
        <p14:creationId xmlns:p14="http://schemas.microsoft.com/office/powerpoint/2010/main" val="358567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5E4A02-F3A9-D2F6-3BB7-64D3E05CE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35E89C-F8B5-3985-8A74-559C8BDD6A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0D517-2634-A7ED-4BDB-0A5AD5F572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053D37-C735-3040-B498-762F70256E37}" type="datetimeFigureOut">
              <a:rPr lang="en-US" smtClean="0"/>
              <a:t>12/19/25</a:t>
            </a:fld>
            <a:endParaRPr lang="en-US"/>
          </a:p>
        </p:txBody>
      </p:sp>
      <p:sp>
        <p:nvSpPr>
          <p:cNvPr id="5" name="Footer Placeholder 4">
            <a:extLst>
              <a:ext uri="{FF2B5EF4-FFF2-40B4-BE49-F238E27FC236}">
                <a16:creationId xmlns:a16="http://schemas.microsoft.com/office/drawing/2014/main" id="{7DC0B884-C9B6-556A-078D-E75BD8F2DA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41E49A-5558-FA78-A7BD-EF7DC84E2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FA7DAF-94A8-0B4C-8939-9EF4405467D9}" type="slidenum">
              <a:rPr lang="en-US" smtClean="0"/>
              <a:t>‹#›</a:t>
            </a:fld>
            <a:endParaRPr lang="en-US"/>
          </a:p>
        </p:txBody>
      </p:sp>
    </p:spTree>
    <p:extLst>
      <p:ext uri="{BB962C8B-B14F-4D97-AF65-F5344CB8AC3E}">
        <p14:creationId xmlns:p14="http://schemas.microsoft.com/office/powerpoint/2010/main" val="2936576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owardsdatascience.com/pre-trained-word-embedding-for-text-classification-end2end-approach-5fbf5cd8aead/"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ystematicreviewsjournal.biomedcentral.com/articles/10.1186/s13643-024-02575-4"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heidloff.net/article/foundation-models-transformers-bert-and-gpt/"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systematicreviewsjournal.biomedcentral.com/articles/10.1186/s13643-024-02609-x#:~:text=match%20at%20L914%20revealed%20that,07%29%2C%20while%20its" TargetMode="External"/><Relationship Id="rId2" Type="http://schemas.openxmlformats.org/officeDocument/2006/relationships/hyperlink" Target="https://academic.oup.com/jamia/article/31/9/1939/7718667"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ink.springer.com/article/10.1186/s12874-025-02583-5"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link.springer.com/article/10.1186/s13643-024-02609-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ink.springer.com/article/10.1186/s13643-024-02609-x"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4.%09https:/link.springer.com/article/10.1186/s13643-024-02575-4"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cademic.oup.com/jamia/article/31/9/1939/7718667"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customXml" Target="../ink/ink4.xml"/></Relationships>
</file>

<file path=ppt/slides/_rels/slide18.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jmir.org/2024/1/e5678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jamanetwork.com/journals/jamanetworkopen/fullarticle/2820861#:~:text=With%20the%20original%20prompt%20and,0.92"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mikeli380/LLMAbstractScreenin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sciencedirect.com/author/35098143000/simone-cazzaniga" TargetMode="External"/><Relationship Id="rId4" Type="http://schemas.openxmlformats.org/officeDocument/2006/relationships/hyperlink" Target="https://www.sciencedirect.com/author/7004954781/luigi-naldi"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3.%09https:/www.sciencedirect.com/science/article/pii/S2772662223000024"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hyperlink" Target="https://link.springer.com/article/10.1186/s13643-024-02609-x"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link.springer.com/article/10.1186/s12874-025-02583-5"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link.springer.com/article/10.1186/s12874-025-02583-5" TargetMode="External"/><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 Id="rId4" Type="http://schemas.openxmlformats.org/officeDocument/2006/relationships/hyperlink" Target="https://link.springer.com/article/10.1186/s13643-024-02609-x"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4.%09https:/link.springer.com/article/10.1186/s13643-024-02575-4" TargetMode="External"/><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 Id="rId4" Type="http://schemas.openxmlformats.org/officeDocument/2006/relationships/hyperlink" Target="https://link.springer.com/article/10.1186/s13643-024-02609-x"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environmentalevidencejournal.biomedcentral.com/articles/10.1186/s13750-025-00360-x#:~:text=only%20exception%20we%20are%20aware,of%20environmental%20and%20sustainability%20research" TargetMode="External"/><Relationship Id="rId2" Type="http://schemas.openxmlformats.org/officeDocument/2006/relationships/hyperlink" Target="https://pubmed.ncbi.nlm.nih.gov/39761403/#:~:text=conceptual%20designs%20significantly%20influenced%20the,ideal%20support%20of%20the%20LLM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academic.oup.com/jamia/article/31/9/1939/7718667" TargetMode="External"/><Relationship Id="rId2" Type="http://schemas.openxmlformats.org/officeDocument/2006/relationships/hyperlink" Target="https://www.medrxiv.org/content/10.1101/2024.06.01.24308323v1.full.pdf" TargetMode="External"/><Relationship Id="rId1" Type="http://schemas.openxmlformats.org/officeDocument/2006/relationships/slideLayout" Target="../slideLayouts/slideLayout2.xml"/><Relationship Id="rId5" Type="http://schemas.openxmlformats.org/officeDocument/2006/relationships/hyperlink" Target="https://systematicreviewsjournal.biomedcentral.com/articles/10.1186/s13643-024-02575-4#:~:text=" TargetMode="External"/><Relationship Id="rId4" Type="http://schemas.openxmlformats.org/officeDocument/2006/relationships/hyperlink" Target="https://link.springer.com/article/10.1186/s12874-025-02583-5"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llustration of people on a blockchain">
            <a:extLst>
              <a:ext uri="{FF2B5EF4-FFF2-40B4-BE49-F238E27FC236}">
                <a16:creationId xmlns:a16="http://schemas.microsoft.com/office/drawing/2014/main" id="{4DAB72C1-CAB4-A8E2-9E22-9F2A32FD3B03}"/>
              </a:ext>
            </a:extLst>
          </p:cNvPr>
          <p:cNvPicPr>
            <a:picLocks noChangeAspect="1"/>
          </p:cNvPicPr>
          <p:nvPr/>
        </p:nvPicPr>
        <p:blipFill>
          <a:blip r:embed="rId2">
            <a:alphaModFix amt="50000"/>
          </a:blip>
          <a:srcRect t="10600" r="-1" b="794"/>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00AE3226-D914-09F8-34AA-3882461E6132}"/>
              </a:ext>
            </a:extLst>
          </p:cNvPr>
          <p:cNvSpPr>
            <a:spLocks noGrp="1"/>
          </p:cNvSpPr>
          <p:nvPr>
            <p:ph type="ctrTitle"/>
          </p:nvPr>
        </p:nvSpPr>
        <p:spPr>
          <a:xfrm>
            <a:off x="1524000" y="1122363"/>
            <a:ext cx="9144000" cy="3063240"/>
          </a:xfrm>
        </p:spPr>
        <p:txBody>
          <a:bodyPr>
            <a:normAutofit/>
          </a:bodyPr>
          <a:lstStyle/>
          <a:p>
            <a:r>
              <a:rPr lang="en-US" sz="6100">
                <a:solidFill>
                  <a:schemeClr val="bg1"/>
                </a:solidFill>
              </a:rPr>
              <a:t>LLM-Assisted Abstract Screening for Youth Homelessness Interventions</a:t>
            </a:r>
          </a:p>
        </p:txBody>
      </p:sp>
      <p:sp>
        <p:nvSpPr>
          <p:cNvPr id="3" name="Subtitle 2">
            <a:extLst>
              <a:ext uri="{FF2B5EF4-FFF2-40B4-BE49-F238E27FC236}">
                <a16:creationId xmlns:a16="http://schemas.microsoft.com/office/drawing/2014/main" id="{031E251E-6184-B2D2-0A57-A6E573B93099}"/>
              </a:ext>
            </a:extLst>
          </p:cNvPr>
          <p:cNvSpPr>
            <a:spLocks noGrp="1"/>
          </p:cNvSpPr>
          <p:nvPr>
            <p:ph type="subTitle" idx="1"/>
          </p:nvPr>
        </p:nvSpPr>
        <p:spPr>
          <a:xfrm>
            <a:off x="1527048" y="4599432"/>
            <a:ext cx="9144000" cy="1536192"/>
          </a:xfrm>
        </p:spPr>
        <p:txBody>
          <a:bodyPr>
            <a:normAutofit/>
          </a:bodyPr>
          <a:lstStyle/>
          <a:p>
            <a:r>
              <a:rPr lang="en-US">
                <a:solidFill>
                  <a:schemeClr val="bg1"/>
                </a:solidFill>
              </a:rPr>
              <a:t>Karikarn (Kay) Chansiri, Ph.D.</a:t>
            </a:r>
          </a:p>
          <a:p>
            <a:r>
              <a:rPr lang="en-US">
                <a:solidFill>
                  <a:schemeClr val="bg1"/>
                </a:solidFill>
              </a:rPr>
              <a:t>Senior Researcher in HCI and AI </a:t>
            </a:r>
          </a:p>
        </p:txBody>
      </p:sp>
      <p:sp>
        <p:nvSpPr>
          <p:cNvPr id="18"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05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2A514D-37C7-E122-A54D-A34CEDE7DF68}"/>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Why Abstract Screening? </a:t>
            </a:r>
          </a:p>
        </p:txBody>
      </p:sp>
      <p:sp>
        <p:nvSpPr>
          <p:cNvPr id="19" name="Rectangle 18">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CA9CAE-7356-0E46-B16B-3F421AD31C1B}"/>
              </a:ext>
            </a:extLst>
          </p:cNvPr>
          <p:cNvSpPr>
            <a:spLocks noGrp="1"/>
          </p:cNvSpPr>
          <p:nvPr>
            <p:ph idx="1"/>
          </p:nvPr>
        </p:nvSpPr>
        <p:spPr>
          <a:xfrm>
            <a:off x="1155548" y="2217343"/>
            <a:ext cx="9880893" cy="3959619"/>
          </a:xfrm>
        </p:spPr>
        <p:txBody>
          <a:bodyPr>
            <a:normAutofit/>
          </a:bodyPr>
          <a:lstStyle/>
          <a:p>
            <a:r>
              <a:rPr lang="en-US" sz="2400"/>
              <a:t>Abstract screening is the first step to ensure high-quality evidence.</a:t>
            </a:r>
          </a:p>
          <a:p>
            <a:r>
              <a:rPr lang="en-US" sz="2400"/>
              <a:t>Process is challenging — requires sifting through large volumes of studies.</a:t>
            </a:r>
          </a:p>
          <a:p>
            <a:r>
              <a:rPr lang="en-US" sz="2400"/>
              <a:t>Human screening is prone to fatigue, attrition, and bias, threatening validity.</a:t>
            </a:r>
          </a:p>
          <a:p>
            <a:r>
              <a:rPr lang="en-US" sz="2400"/>
              <a:t>Systematic reviews (SRs) are resource-intensive (≈1 year, $100K+ to complete).</a:t>
            </a:r>
          </a:p>
          <a:p>
            <a:r>
              <a:rPr lang="en-US" sz="2400"/>
              <a:t>High-quality SRs guide clinical practice, decision-making, and policy.</a:t>
            </a:r>
          </a:p>
        </p:txBody>
      </p:sp>
    </p:spTree>
    <p:extLst>
      <p:ext uri="{BB962C8B-B14F-4D97-AF65-F5344CB8AC3E}">
        <p14:creationId xmlns:p14="http://schemas.microsoft.com/office/powerpoint/2010/main" val="1154487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AEAAD8-2ABA-6259-07E9-4899BCD90468}"/>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Development of AI-Assisted SRs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BC2503-1520-965C-F5FF-EF14416E4944}"/>
              </a:ext>
            </a:extLst>
          </p:cNvPr>
          <p:cNvSpPr>
            <a:spLocks noGrp="1"/>
          </p:cNvSpPr>
          <p:nvPr>
            <p:ph idx="1"/>
          </p:nvPr>
        </p:nvSpPr>
        <p:spPr>
          <a:xfrm>
            <a:off x="1155548" y="2217343"/>
            <a:ext cx="4602315" cy="3959619"/>
          </a:xfrm>
        </p:spPr>
        <p:txBody>
          <a:bodyPr>
            <a:normAutofit fontScale="92500" lnSpcReduction="20000"/>
          </a:bodyPr>
          <a:lstStyle/>
          <a:p>
            <a:pPr marL="0" indent="0">
              <a:buNone/>
            </a:pPr>
            <a:r>
              <a:rPr lang="en-US" sz="2400" dirty="0"/>
              <a:t>1. </a:t>
            </a:r>
            <a:r>
              <a:rPr lang="en-US" sz="2400" b="1" dirty="0"/>
              <a:t>The NLP Era</a:t>
            </a:r>
            <a:br>
              <a:rPr lang="en-US" sz="2400" dirty="0"/>
            </a:br>
            <a:r>
              <a:rPr lang="en-US" sz="2400" dirty="0"/>
              <a:t>• </a:t>
            </a:r>
            <a:r>
              <a:rPr lang="en-US" sz="2400" b="1" dirty="0"/>
              <a:t>NLP-Based Approach:</a:t>
            </a:r>
            <a:r>
              <a:rPr lang="en-US" sz="2400" dirty="0"/>
              <a:t> Abstract text was preprocessed and vectorized using Bag of Words, TF-IDF, Sentence-BERT, Doc2Vec, or LSTM networks.</a:t>
            </a:r>
            <a:br>
              <a:rPr lang="en-US" sz="2400" dirty="0"/>
            </a:br>
            <a:r>
              <a:rPr lang="en-US" sz="2400" dirty="0"/>
              <a:t>• </a:t>
            </a:r>
            <a:r>
              <a:rPr lang="en-US" sz="2400" b="1" dirty="0"/>
              <a:t>Classical ML Models:</a:t>
            </a:r>
            <a:r>
              <a:rPr lang="en-US" sz="2400" dirty="0"/>
              <a:t> Support Vector Machines (SVM), Random Forests (RF), and Bayesian Networks were then trained on vectorized data to classify abstracts.</a:t>
            </a:r>
            <a:br>
              <a:rPr lang="en-US" sz="2400" dirty="0"/>
            </a:br>
            <a:r>
              <a:rPr lang="en-US" sz="2400" dirty="0"/>
              <a:t>• </a:t>
            </a:r>
            <a:r>
              <a:rPr lang="en-US" sz="2400" b="1" dirty="0"/>
              <a:t>Limitation:</a:t>
            </a:r>
            <a:r>
              <a:rPr lang="en-US" sz="2400" dirty="0"/>
              <a:t> Accuracy depended heavily on a large, well-curated labeled training set, making results sensitive to data quality and researcher bias.</a:t>
            </a:r>
          </a:p>
        </p:txBody>
      </p:sp>
      <p:pic>
        <p:nvPicPr>
          <p:cNvPr id="1026" name="Picture 2" descr="Pre-trained Word Embedding for text classification: End2End Approach |  Towards Data Science">
            <a:extLst>
              <a:ext uri="{FF2B5EF4-FFF2-40B4-BE49-F238E27FC236}">
                <a16:creationId xmlns:a16="http://schemas.microsoft.com/office/drawing/2014/main" id="{08898558-302A-54DB-D27D-D3A40CB5B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217343"/>
            <a:ext cx="5224999" cy="22621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51AC15F-35EC-D6FD-05A5-0C8EA8898BA0}"/>
              </a:ext>
            </a:extLst>
          </p:cNvPr>
          <p:cNvSpPr txBox="1"/>
          <p:nvPr/>
        </p:nvSpPr>
        <p:spPr>
          <a:xfrm>
            <a:off x="9722292" y="4630278"/>
            <a:ext cx="1598707" cy="369332"/>
          </a:xfrm>
          <a:prstGeom prst="rect">
            <a:avLst/>
          </a:prstGeom>
          <a:noFill/>
        </p:spPr>
        <p:txBody>
          <a:bodyPr wrap="none" rtlCol="0">
            <a:spAutoFit/>
          </a:bodyPr>
          <a:lstStyle/>
          <a:p>
            <a:r>
              <a:rPr lang="en-US" dirty="0">
                <a:hlinkClick r:id="rId3"/>
              </a:rPr>
              <a:t>Image citation</a:t>
            </a:r>
            <a:endParaRPr lang="en-US" dirty="0"/>
          </a:p>
        </p:txBody>
      </p:sp>
    </p:spTree>
    <p:extLst>
      <p:ext uri="{BB962C8B-B14F-4D97-AF65-F5344CB8AC3E}">
        <p14:creationId xmlns:p14="http://schemas.microsoft.com/office/powerpoint/2010/main" val="3822205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1F29C6-4AC4-32F2-EFFD-397BF3A33A61}"/>
              </a:ext>
            </a:extLst>
          </p:cNvPr>
          <p:cNvSpPr>
            <a:spLocks noGrp="1"/>
          </p:cNvSpPr>
          <p:nvPr>
            <p:ph type="title"/>
          </p:nvPr>
        </p:nvSpPr>
        <p:spPr>
          <a:xfrm>
            <a:off x="1156851" y="637762"/>
            <a:ext cx="9888496" cy="900131"/>
          </a:xfrm>
        </p:spPr>
        <p:txBody>
          <a:bodyPr anchor="t">
            <a:normAutofit/>
          </a:bodyPr>
          <a:lstStyle/>
          <a:p>
            <a:r>
              <a:rPr lang="en-US" sz="4000" dirty="0">
                <a:solidFill>
                  <a:schemeClr val="bg1"/>
                </a:solidFill>
              </a:rPr>
              <a:t>Development of AI-Assisted SRs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7CC805-8BBB-7D6B-E1C9-A31E57E06393}"/>
              </a:ext>
            </a:extLst>
          </p:cNvPr>
          <p:cNvSpPr>
            <a:spLocks noGrp="1"/>
          </p:cNvSpPr>
          <p:nvPr>
            <p:ph idx="1"/>
          </p:nvPr>
        </p:nvSpPr>
        <p:spPr>
          <a:xfrm>
            <a:off x="1155548" y="2217343"/>
            <a:ext cx="5588152" cy="3959619"/>
          </a:xfrm>
        </p:spPr>
        <p:txBody>
          <a:bodyPr>
            <a:normAutofit fontScale="92500" lnSpcReduction="10000"/>
          </a:bodyPr>
          <a:lstStyle/>
          <a:p>
            <a:pPr marL="0" indent="0">
              <a:buNone/>
            </a:pPr>
            <a:r>
              <a:rPr lang="en-US" sz="2400" dirty="0"/>
              <a:t>2. </a:t>
            </a:r>
            <a:r>
              <a:rPr lang="en-US" sz="2400" b="1" dirty="0"/>
              <a:t>Hybrid Era</a:t>
            </a:r>
            <a:br>
              <a:rPr lang="en-US" sz="2400" dirty="0"/>
            </a:br>
            <a:r>
              <a:rPr lang="en-US" sz="2400" dirty="0"/>
              <a:t>• </a:t>
            </a:r>
            <a:r>
              <a:rPr lang="en-US" sz="2400" b="1" dirty="0"/>
              <a:t>LLM + NLP Integration:</a:t>
            </a:r>
            <a:r>
              <a:rPr lang="en-US" sz="2400" dirty="0"/>
              <a:t> Transformer models (e.g., BART encoder–decoder) were used to screen a subset of abstracts, generating training data for traditional ML models.</a:t>
            </a:r>
            <a:br>
              <a:rPr lang="en-US" sz="2400" dirty="0"/>
            </a:br>
            <a:r>
              <a:rPr lang="en-US" sz="2400" dirty="0"/>
              <a:t>• </a:t>
            </a:r>
            <a:r>
              <a:rPr lang="en-US" sz="2400" b="1" dirty="0"/>
              <a:t>Outcome:</a:t>
            </a:r>
            <a:r>
              <a:rPr lang="en-US" sz="2400" dirty="0"/>
              <a:t> Enabled semi-automated screening but remained dependent on training data quality and human judgment.</a:t>
            </a:r>
            <a:br>
              <a:rPr lang="en-US" sz="2400" dirty="0"/>
            </a:br>
            <a:r>
              <a:rPr lang="en-US" sz="2400" dirty="0"/>
              <a:t>• </a:t>
            </a:r>
            <a:r>
              <a:rPr lang="en-US" sz="2400" b="1" dirty="0"/>
              <a:t>Challenges:</a:t>
            </a:r>
            <a:r>
              <a:rPr lang="en-US" sz="2400" dirty="0"/>
              <a:t> Class imbalance and noisy labels reduced model performance.</a:t>
            </a:r>
            <a:br>
              <a:rPr lang="en-US" sz="2400" dirty="0"/>
            </a:br>
            <a:r>
              <a:rPr lang="en-US" sz="2400" dirty="0"/>
              <a:t>• </a:t>
            </a:r>
            <a:r>
              <a:rPr lang="en-US" sz="2400" b="1" dirty="0"/>
              <a:t>Tools:</a:t>
            </a:r>
            <a:r>
              <a:rPr lang="en-US" sz="2400" dirty="0"/>
              <a:t> Platforms such as Covidence and EPPI-Reviewer began integrating ML-assisted screening features.</a:t>
            </a:r>
          </a:p>
        </p:txBody>
      </p:sp>
      <p:pic>
        <p:nvPicPr>
          <p:cNvPr id="2050" name="Picture 2" descr="Title and abstract screening for literature reviews using large language  models: an exploratory study in the biomedical domain | Systematic Reviews  | Full Text">
            <a:extLst>
              <a:ext uri="{FF2B5EF4-FFF2-40B4-BE49-F238E27FC236}">
                <a16:creationId xmlns:a16="http://schemas.microsoft.com/office/drawing/2014/main" id="{32478CFD-517F-4CC5-DF39-28A1D25D5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3700" y="2010758"/>
            <a:ext cx="4586288" cy="42912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CD2DD5-FCC6-83DE-522B-3436661250E6}"/>
              </a:ext>
            </a:extLst>
          </p:cNvPr>
          <p:cNvSpPr txBox="1"/>
          <p:nvPr/>
        </p:nvSpPr>
        <p:spPr>
          <a:xfrm>
            <a:off x="6743700" y="6337828"/>
            <a:ext cx="1598707" cy="369332"/>
          </a:xfrm>
          <a:prstGeom prst="rect">
            <a:avLst/>
          </a:prstGeom>
          <a:noFill/>
        </p:spPr>
        <p:txBody>
          <a:bodyPr wrap="none" rtlCol="0">
            <a:spAutoFit/>
          </a:bodyPr>
          <a:lstStyle/>
          <a:p>
            <a:r>
              <a:rPr lang="en-US" dirty="0">
                <a:hlinkClick r:id="rId3"/>
              </a:rPr>
              <a:t>Image citation</a:t>
            </a:r>
            <a:endParaRPr lang="en-US" dirty="0"/>
          </a:p>
        </p:txBody>
      </p:sp>
    </p:spTree>
    <p:extLst>
      <p:ext uri="{BB962C8B-B14F-4D97-AF65-F5344CB8AC3E}">
        <p14:creationId xmlns:p14="http://schemas.microsoft.com/office/powerpoint/2010/main" val="272038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D53C10-164D-B232-449D-BC56A8CC45B7}"/>
              </a:ext>
            </a:extLst>
          </p:cNvPr>
          <p:cNvSpPr>
            <a:spLocks noGrp="1"/>
          </p:cNvSpPr>
          <p:nvPr>
            <p:ph type="title"/>
          </p:nvPr>
        </p:nvSpPr>
        <p:spPr>
          <a:xfrm>
            <a:off x="1156851" y="637762"/>
            <a:ext cx="9888496" cy="900131"/>
          </a:xfrm>
        </p:spPr>
        <p:txBody>
          <a:bodyPr anchor="t">
            <a:normAutofit/>
          </a:bodyPr>
          <a:lstStyle/>
          <a:p>
            <a:r>
              <a:rPr lang="en-US" sz="2800" dirty="0">
                <a:solidFill>
                  <a:schemeClr val="bg1"/>
                </a:solidFill>
              </a:rPr>
              <a:t>Development of AI-Assisted SRs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EB7DF9-4AFB-D713-93D3-56E3C73842C4}"/>
              </a:ext>
            </a:extLst>
          </p:cNvPr>
          <p:cNvSpPr>
            <a:spLocks noGrp="1"/>
          </p:cNvSpPr>
          <p:nvPr>
            <p:ph idx="1"/>
          </p:nvPr>
        </p:nvSpPr>
        <p:spPr>
          <a:xfrm>
            <a:off x="800910" y="2350273"/>
            <a:ext cx="4571190" cy="4019096"/>
          </a:xfrm>
        </p:spPr>
        <p:txBody>
          <a:bodyPr>
            <a:normAutofit lnSpcReduction="10000"/>
          </a:bodyPr>
          <a:lstStyle/>
          <a:p>
            <a:pPr marL="0" indent="0">
              <a:buNone/>
            </a:pPr>
            <a:r>
              <a:rPr lang="en-US" sz="2400" b="1" dirty="0"/>
              <a:t>3. The LLM Era</a:t>
            </a:r>
            <a:br>
              <a:rPr lang="en-US" sz="2400" dirty="0"/>
            </a:br>
            <a:r>
              <a:rPr lang="en-US" sz="2400" dirty="0"/>
              <a:t>• </a:t>
            </a:r>
            <a:r>
              <a:rPr lang="en-US" sz="2400" b="1" dirty="0"/>
              <a:t>Prompt Engineering:</a:t>
            </a:r>
            <a:r>
              <a:rPr lang="en-US" sz="2400" dirty="0"/>
              <a:t> Use of zero-shot and few-shot prompts to classify abstracts directly.</a:t>
            </a:r>
            <a:br>
              <a:rPr lang="en-US" sz="2400" dirty="0"/>
            </a:br>
            <a:r>
              <a:rPr lang="en-US" sz="2400" dirty="0"/>
              <a:t>• </a:t>
            </a:r>
            <a:r>
              <a:rPr lang="en-US" sz="2400" b="1" dirty="0"/>
              <a:t>Fine-Tuning:</a:t>
            </a:r>
            <a:r>
              <a:rPr lang="en-US" sz="2400" dirty="0"/>
              <a:t> Task-specific fine-tuning and hyperparameter optimization improve recall and precision.</a:t>
            </a:r>
            <a:br>
              <a:rPr lang="en-US" sz="2400" dirty="0"/>
            </a:br>
            <a:r>
              <a:rPr lang="en-US" sz="2400" dirty="0"/>
              <a:t>• </a:t>
            </a:r>
            <a:r>
              <a:rPr lang="en-US" sz="2400" b="1" dirty="0"/>
              <a:t>Advantages:</a:t>
            </a:r>
            <a:r>
              <a:rPr lang="en-US" sz="2400" dirty="0"/>
              <a:t> Reduces reliance on large labeled datasets and increases adaptability across domains.</a:t>
            </a:r>
          </a:p>
        </p:txBody>
      </p:sp>
      <p:pic>
        <p:nvPicPr>
          <p:cNvPr id="3074" name="Picture 2" descr="Foundation Models, Transformers, BERT and GPT | Niklas Heidloff">
            <a:extLst>
              <a:ext uri="{FF2B5EF4-FFF2-40B4-BE49-F238E27FC236}">
                <a16:creationId xmlns:a16="http://schemas.microsoft.com/office/drawing/2014/main" id="{811A335A-CF2A-42D8-E166-6A776F6FDD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5" y="2181360"/>
            <a:ext cx="4890757" cy="2670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63AC62-AFF8-ED01-8FBB-8BB6B4F3CFB3}"/>
              </a:ext>
            </a:extLst>
          </p:cNvPr>
          <p:cNvSpPr txBox="1"/>
          <p:nvPr/>
        </p:nvSpPr>
        <p:spPr>
          <a:xfrm>
            <a:off x="6095995" y="4974922"/>
            <a:ext cx="1598707" cy="369332"/>
          </a:xfrm>
          <a:prstGeom prst="rect">
            <a:avLst/>
          </a:prstGeom>
          <a:noFill/>
        </p:spPr>
        <p:txBody>
          <a:bodyPr wrap="none" rtlCol="0">
            <a:spAutoFit/>
          </a:bodyPr>
          <a:lstStyle/>
          <a:p>
            <a:r>
              <a:rPr lang="en-US" dirty="0">
                <a:hlinkClick r:id="rId3"/>
              </a:rPr>
              <a:t>Image citation</a:t>
            </a:r>
            <a:endParaRPr lang="en-US" dirty="0"/>
          </a:p>
        </p:txBody>
      </p:sp>
    </p:spTree>
    <p:extLst>
      <p:ext uri="{BB962C8B-B14F-4D97-AF65-F5344CB8AC3E}">
        <p14:creationId xmlns:p14="http://schemas.microsoft.com/office/powerpoint/2010/main" val="3901014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4A8D4-42C7-BE89-59E0-3D709F93D8BF}"/>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Why prompt engineering is preferable?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1F6C834-DC2D-4D4C-BFE8-FC6C5A5763E1}"/>
              </a:ext>
            </a:extLst>
          </p:cNvPr>
          <p:cNvSpPr>
            <a:spLocks noGrp="1"/>
          </p:cNvSpPr>
          <p:nvPr>
            <p:ph idx="1"/>
          </p:nvPr>
        </p:nvSpPr>
        <p:spPr>
          <a:xfrm>
            <a:off x="1155548" y="2217343"/>
            <a:ext cx="9880893" cy="3959619"/>
          </a:xfrm>
        </p:spPr>
        <p:txBody>
          <a:bodyPr>
            <a:normAutofit/>
          </a:bodyPr>
          <a:lstStyle/>
          <a:p>
            <a:r>
              <a:rPr lang="en-US" sz="2400" dirty="0"/>
              <a:t> </a:t>
            </a:r>
            <a:r>
              <a:rPr lang="en-US" sz="2400" b="1" dirty="0"/>
              <a:t>Evidence-Based:</a:t>
            </a:r>
            <a:r>
              <a:rPr lang="en-US" sz="2400" dirty="0"/>
              <a:t> </a:t>
            </a:r>
            <a:r>
              <a:rPr lang="en-US" sz="2400" i="1" dirty="0" err="1"/>
              <a:t>MedPrompt</a:t>
            </a:r>
            <a:r>
              <a:rPr lang="en-US" sz="2400" dirty="0"/>
              <a:t> (2023) shows that optimized prompting enables GPT-4 to outperform traditional fine-tuned models on medical benchmarks.</a:t>
            </a:r>
          </a:p>
          <a:p>
            <a:r>
              <a:rPr lang="en-US" sz="2400" b="1" dirty="0"/>
              <a:t>Low Cost:</a:t>
            </a:r>
            <a:r>
              <a:rPr lang="en-US" sz="2400" dirty="0"/>
              <a:t> No expensive fine-tuning or infrastructure required.</a:t>
            </a:r>
          </a:p>
          <a:p>
            <a:r>
              <a:rPr lang="en-US" sz="2400" dirty="0"/>
              <a:t> </a:t>
            </a:r>
            <a:r>
              <a:rPr lang="en-US" sz="2400" b="1" dirty="0"/>
              <a:t>Reusable:</a:t>
            </a:r>
            <a:r>
              <a:rPr lang="en-US" sz="2400" dirty="0"/>
              <a:t> Prompts can be adapted and reused without advanced technical skills.</a:t>
            </a:r>
          </a:p>
          <a:p>
            <a:r>
              <a:rPr lang="en-US" sz="2400" b="1" dirty="0"/>
              <a:t>No Training Data Required:</a:t>
            </a:r>
            <a:r>
              <a:rPr lang="en-US" sz="2400" dirty="0"/>
              <a:t> Eliminates the need for large, labeled datasets.</a:t>
            </a:r>
          </a:p>
          <a:p>
            <a:r>
              <a:rPr lang="en-US" sz="2400" dirty="0"/>
              <a:t> </a:t>
            </a:r>
            <a:r>
              <a:rPr lang="en-US" sz="2400" b="1" dirty="0"/>
              <a:t>Robustness:</a:t>
            </a:r>
            <a:r>
              <a:rPr lang="en-US" sz="2400" dirty="0"/>
              <a:t> Not affected by class imbalance or poor data quality.</a:t>
            </a:r>
          </a:p>
          <a:p>
            <a:endParaRPr lang="en-US" sz="2400" dirty="0"/>
          </a:p>
        </p:txBody>
      </p:sp>
    </p:spTree>
    <p:extLst>
      <p:ext uri="{BB962C8B-B14F-4D97-AF65-F5344CB8AC3E}">
        <p14:creationId xmlns:p14="http://schemas.microsoft.com/office/powerpoint/2010/main" val="162324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5305AC-17F1-B605-4D7B-E6CB3A00A163}"/>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Prompt Structure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228E358-63E9-C22E-90B8-F8EE821DA616}"/>
              </a:ext>
            </a:extLst>
          </p:cNvPr>
          <p:cNvSpPr>
            <a:spLocks noGrp="1"/>
          </p:cNvSpPr>
          <p:nvPr>
            <p:ph idx="1"/>
          </p:nvPr>
        </p:nvSpPr>
        <p:spPr>
          <a:xfrm>
            <a:off x="1155548" y="2217343"/>
            <a:ext cx="9880893" cy="3959619"/>
          </a:xfrm>
        </p:spPr>
        <p:txBody>
          <a:bodyPr>
            <a:normAutofit/>
          </a:bodyPr>
          <a:lstStyle/>
          <a:p>
            <a:pPr marL="0" indent="0">
              <a:buNone/>
            </a:pPr>
            <a:r>
              <a:rPr lang="en-US" sz="2400"/>
              <a:t>Prompts should include three key elements:</a:t>
            </a:r>
            <a:br>
              <a:rPr lang="en-US" sz="2400"/>
            </a:br>
            <a:r>
              <a:rPr lang="en-US" sz="2400"/>
              <a:t>• </a:t>
            </a:r>
            <a:r>
              <a:rPr lang="en-US" sz="2400" b="1"/>
              <a:t>Topic Statement:</a:t>
            </a:r>
            <a:r>
              <a:rPr lang="en-US" sz="2400"/>
              <a:t> A concise description of the research question or focus area.</a:t>
            </a:r>
            <a:br>
              <a:rPr lang="en-US" sz="2400"/>
            </a:br>
            <a:r>
              <a:rPr lang="en-US" sz="2400"/>
              <a:t>• </a:t>
            </a:r>
            <a:r>
              <a:rPr lang="en-US" sz="2400" b="1"/>
              <a:t>Eligibility Criteria:</a:t>
            </a:r>
            <a:r>
              <a:rPr lang="en-US" sz="2400"/>
              <a:t> The exact inclusion/exclusion rules for study selection.</a:t>
            </a:r>
            <a:br>
              <a:rPr lang="en-US" sz="2400"/>
            </a:br>
            <a:r>
              <a:rPr lang="en-US" sz="2400"/>
              <a:t>• </a:t>
            </a:r>
            <a:r>
              <a:rPr lang="en-US" sz="2400" b="1"/>
              <a:t>Abstract Text:</a:t>
            </a:r>
            <a:r>
              <a:rPr lang="en-US" sz="2400"/>
              <a:t> The full text of the abstract to be evaluated.</a:t>
            </a:r>
          </a:p>
        </p:txBody>
      </p:sp>
    </p:spTree>
    <p:extLst>
      <p:ext uri="{BB962C8B-B14F-4D97-AF65-F5344CB8AC3E}">
        <p14:creationId xmlns:p14="http://schemas.microsoft.com/office/powerpoint/2010/main" val="2707958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A6EDB2-2A31-E167-FA9D-F750ECF24439}"/>
              </a:ext>
            </a:extLst>
          </p:cNvPr>
          <p:cNvSpPr>
            <a:spLocks noGrp="1"/>
          </p:cNvSpPr>
          <p:nvPr>
            <p:ph type="title"/>
          </p:nvPr>
        </p:nvSpPr>
        <p:spPr>
          <a:xfrm>
            <a:off x="1156851" y="637762"/>
            <a:ext cx="9888496" cy="900131"/>
          </a:xfrm>
        </p:spPr>
        <p:txBody>
          <a:bodyPr anchor="t">
            <a:normAutofit/>
          </a:bodyPr>
          <a:lstStyle/>
          <a:p>
            <a:r>
              <a:rPr lang="en-US" sz="2800">
                <a:solidFill>
                  <a:schemeClr val="bg1"/>
                </a:solidFill>
              </a:rPr>
              <a:t>1. Zero-shot prompt engineering</a:t>
            </a:r>
            <a:r>
              <a:rPr lang="en-US" sz="2800" baseline="30000">
                <a:solidFill>
                  <a:schemeClr val="bg1"/>
                </a:solidFill>
              </a:rPr>
              <a:t>1,2,3,</a:t>
            </a:r>
            <a:r>
              <a:rPr lang="en-US" sz="2800" baseline="30000">
                <a:solidFill>
                  <a:schemeClr val="bg1"/>
                </a:solidFill>
                <a:hlinkClick r:id="rId2"/>
              </a:rPr>
              <a:t>4</a:t>
            </a:r>
            <a:r>
              <a:rPr lang="en-US" sz="2800">
                <a:solidFill>
                  <a:schemeClr val="bg1"/>
                </a:solidFill>
              </a:rPr>
              <a:t> </a:t>
            </a:r>
            <a:br>
              <a:rPr lang="en-US" sz="2800">
                <a:solidFill>
                  <a:schemeClr val="bg1"/>
                </a:solidFill>
              </a:rPr>
            </a:br>
            <a:endParaRPr lang="en-US" sz="28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7B47B7-4843-4D7E-203C-5734CF71F430}"/>
              </a:ext>
            </a:extLst>
          </p:cNvPr>
          <p:cNvSpPr>
            <a:spLocks noGrp="1"/>
          </p:cNvSpPr>
          <p:nvPr>
            <p:ph idx="1"/>
          </p:nvPr>
        </p:nvSpPr>
        <p:spPr>
          <a:xfrm>
            <a:off x="1155548" y="2217343"/>
            <a:ext cx="9880893" cy="3959619"/>
          </a:xfrm>
        </p:spPr>
        <p:txBody>
          <a:bodyPr>
            <a:normAutofit/>
          </a:bodyPr>
          <a:lstStyle/>
          <a:p>
            <a:pPr marL="0" indent="0">
              <a:buNone/>
            </a:pPr>
            <a:r>
              <a:rPr lang="en-US" sz="2400" dirty="0"/>
              <a:t>• </a:t>
            </a:r>
            <a:r>
              <a:rPr lang="en-US" sz="2400" b="1" dirty="0"/>
              <a:t>Simple &amp; Setup-Free:</a:t>
            </a:r>
            <a:r>
              <a:rPr lang="en-US" sz="2400" dirty="0"/>
              <a:t> No examples or domain-specific training required.</a:t>
            </a:r>
            <a:br>
              <a:rPr lang="en-US" sz="2400" dirty="0"/>
            </a:br>
            <a:r>
              <a:rPr lang="en-US" sz="2400" dirty="0"/>
              <a:t>• </a:t>
            </a:r>
            <a:r>
              <a:rPr lang="en-US" sz="2400" b="1" dirty="0"/>
              <a:t>Direct Classification:</a:t>
            </a:r>
            <a:r>
              <a:rPr lang="en-US" sz="2400" dirty="0"/>
              <a:t> Categorizes abstracts without training a separate ML model.</a:t>
            </a:r>
            <a:br>
              <a:rPr lang="en-US" sz="2400" dirty="0"/>
            </a:br>
            <a:r>
              <a:rPr lang="en-US" sz="2400" dirty="0"/>
              <a:t>• </a:t>
            </a:r>
            <a:r>
              <a:rPr lang="en-US" sz="2400" b="1" dirty="0"/>
              <a:t>Trade-Off:</a:t>
            </a:r>
            <a:r>
              <a:rPr lang="en-US" sz="2400" dirty="0"/>
              <a:t> May slightly reduce sensitivity and risk omitting relevant studies.</a:t>
            </a:r>
            <a:br>
              <a:rPr lang="en-US" sz="2400" dirty="0"/>
            </a:br>
            <a:r>
              <a:rPr lang="en-US" sz="2400" dirty="0"/>
              <a:t>• </a:t>
            </a:r>
            <a:r>
              <a:rPr lang="en-US" sz="2400" b="1" dirty="0"/>
              <a:t>Standardization Potential:</a:t>
            </a:r>
            <a:r>
              <a:rPr lang="en-US" sz="2400" dirty="0"/>
              <a:t> Can assign LLM a “researcher” role for consistency.</a:t>
            </a:r>
            <a:br>
              <a:rPr lang="en-US" sz="2400" dirty="0"/>
            </a:br>
            <a:r>
              <a:rPr lang="en-US" sz="2400" dirty="0"/>
              <a:t>• </a:t>
            </a:r>
            <a:r>
              <a:rPr lang="en-US" sz="2400" b="1" dirty="0"/>
              <a:t>Evidence:</a:t>
            </a:r>
            <a:r>
              <a:rPr lang="en-US" sz="2400" dirty="0"/>
              <a:t> Research comparing GPT-4 to a “zero-shot + SVM” baseline show GPT-4 achieves significantly higher sensitivity (</a:t>
            </a:r>
            <a:r>
              <a:rPr lang="en-US" sz="2400" i="1" dirty="0"/>
              <a:t>p</a:t>
            </a:r>
            <a:r>
              <a:rPr lang="en-US" sz="2400" dirty="0"/>
              <a:t> &lt; 0.001) with similar specificity.</a:t>
            </a:r>
            <a:r>
              <a:rPr lang="en-US" sz="2400" baseline="30000" dirty="0">
                <a:hlinkClick r:id="rId3"/>
              </a:rPr>
              <a:t>11</a:t>
            </a:r>
            <a:endParaRPr lang="en-US" sz="2400" baseline="30000" dirty="0"/>
          </a:p>
        </p:txBody>
      </p:sp>
    </p:spTree>
    <p:extLst>
      <p:ext uri="{BB962C8B-B14F-4D97-AF65-F5344CB8AC3E}">
        <p14:creationId xmlns:p14="http://schemas.microsoft.com/office/powerpoint/2010/main" val="2247142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6C6F07-C7B2-07B8-EED4-3088863DA2B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Example 1</a:t>
            </a:r>
            <a:r>
              <a:rPr lang="en-US" sz="4000" baseline="30000">
                <a:solidFill>
                  <a:srgbClr val="FFFFFF"/>
                </a:solidFill>
                <a:hlinkClick r:id="rId2"/>
              </a:rPr>
              <a:t>1</a:t>
            </a:r>
            <a:br>
              <a:rPr lang="en-US" sz="4000" baseline="30000">
                <a:solidFill>
                  <a:srgbClr val="FFFFFF"/>
                </a:solidFill>
              </a:rPr>
            </a:br>
            <a:endParaRPr lang="en-US" sz="4000">
              <a:solidFill>
                <a:srgbClr val="FFFFFF"/>
              </a:solidFill>
            </a:endParaRPr>
          </a:p>
        </p:txBody>
      </p:sp>
      <p:sp>
        <p:nvSpPr>
          <p:cNvPr id="3" name="Content Placeholder 2">
            <a:extLst>
              <a:ext uri="{FF2B5EF4-FFF2-40B4-BE49-F238E27FC236}">
                <a16:creationId xmlns:a16="http://schemas.microsoft.com/office/drawing/2014/main" id="{79F99B2E-1246-F875-1BD8-B7075FE5B219}"/>
              </a:ext>
            </a:extLst>
          </p:cNvPr>
          <p:cNvSpPr>
            <a:spLocks noGrp="1"/>
          </p:cNvSpPr>
          <p:nvPr>
            <p:ph idx="1"/>
          </p:nvPr>
        </p:nvSpPr>
        <p:spPr>
          <a:xfrm>
            <a:off x="4698858" y="511389"/>
            <a:ext cx="6555347" cy="5923382"/>
          </a:xfrm>
        </p:spPr>
        <p:txBody>
          <a:bodyPr anchor="ctr">
            <a:normAutofit/>
          </a:bodyPr>
          <a:lstStyle/>
          <a:p>
            <a:pPr marL="0" indent="0">
              <a:buNone/>
            </a:pPr>
            <a:r>
              <a:rPr lang="en-US" sz="1900" dirty="0"/>
              <a:t>“</a:t>
            </a:r>
            <a:r>
              <a:rPr lang="en-US" sz="1900" u="sng" dirty="0"/>
              <a:t>You are a researcher </a:t>
            </a:r>
            <a:r>
              <a:rPr lang="en-US" sz="1900" dirty="0"/>
              <a:t>rigorously screening titles and abstracts of scientific papers for inclusion or exclusion in a review paper. Use the criteria below to inform your decision. If any exclusion criteria are met or not all inclusion criteria are met, exclude the article. If all inclusion criteria are met, include the article.</a:t>
            </a:r>
          </a:p>
          <a:p>
            <a:pPr marL="0" indent="0">
              <a:buNone/>
            </a:pPr>
            <a:r>
              <a:rPr lang="en-US" sz="1900" dirty="0"/>
              <a:t>{Inclusion Criteria}</a:t>
            </a:r>
          </a:p>
          <a:p>
            <a:pPr marL="0" indent="0">
              <a:buNone/>
            </a:pPr>
            <a:r>
              <a:rPr lang="en-US" sz="1900" dirty="0"/>
              <a:t>{Exclusion Criteria}</a:t>
            </a:r>
          </a:p>
          <a:p>
            <a:pPr marL="0" indent="0">
              <a:buNone/>
            </a:pPr>
            <a:r>
              <a:rPr lang="en-US" sz="1900" dirty="0"/>
              <a:t>{Abstract in investigation}</a:t>
            </a:r>
          </a:p>
          <a:p>
            <a:pPr marL="0" indent="0">
              <a:buNone/>
            </a:pPr>
            <a:r>
              <a:rPr lang="en-US" sz="1900" dirty="0"/>
              <a:t>{Instructions}</a:t>
            </a:r>
          </a:p>
          <a:p>
            <a:pPr marL="0" indent="0">
              <a:buNone/>
            </a:pPr>
            <a:r>
              <a:rPr lang="en-US" sz="1900" u="sng" dirty="0"/>
              <a:t>Only type “YYY” for included articles or “XXX” for excluded articles</a:t>
            </a:r>
          </a:p>
          <a:p>
            <a:pPr marL="0" indent="0">
              <a:buNone/>
            </a:pPr>
            <a:r>
              <a:rPr lang="en-US" sz="1900" dirty="0"/>
              <a:t>to indicate your decision. Do not type anything else” </a:t>
            </a:r>
          </a:p>
          <a:p>
            <a:pPr marL="0" indent="0">
              <a:buNone/>
            </a:pPr>
            <a:endParaRPr lang="en-US" sz="1900" dirty="0"/>
          </a:p>
        </p:txBody>
      </p:sp>
    </p:spTree>
    <p:extLst>
      <p:ext uri="{BB962C8B-B14F-4D97-AF65-F5344CB8AC3E}">
        <p14:creationId xmlns:p14="http://schemas.microsoft.com/office/powerpoint/2010/main" val="3961939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AC1A8F-E2BC-6A25-2397-94DE700D7E7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Example 2</a:t>
            </a:r>
            <a:r>
              <a:rPr lang="en-US" sz="4000" baseline="30000" dirty="0">
                <a:solidFill>
                  <a:srgbClr val="FFFFFF"/>
                </a:solidFill>
                <a:hlinkClick r:id="rId2"/>
              </a:rPr>
              <a:t>5</a:t>
            </a:r>
            <a:endParaRPr lang="en-US" sz="4000" baseline="30000" dirty="0">
              <a:solidFill>
                <a:srgbClr val="FFFFFF"/>
              </a:solidFill>
            </a:endParaRPr>
          </a:p>
        </p:txBody>
      </p:sp>
      <p:sp>
        <p:nvSpPr>
          <p:cNvPr id="3" name="Content Placeholder 2">
            <a:extLst>
              <a:ext uri="{FF2B5EF4-FFF2-40B4-BE49-F238E27FC236}">
                <a16:creationId xmlns:a16="http://schemas.microsoft.com/office/drawing/2014/main" id="{F4FE720D-91DA-17F2-F49C-61C5D9606DE8}"/>
              </a:ext>
            </a:extLst>
          </p:cNvPr>
          <p:cNvSpPr>
            <a:spLocks noGrp="1"/>
          </p:cNvSpPr>
          <p:nvPr>
            <p:ph idx="1"/>
          </p:nvPr>
        </p:nvSpPr>
        <p:spPr>
          <a:xfrm>
            <a:off x="4504548" y="772592"/>
            <a:ext cx="7109453" cy="5799658"/>
          </a:xfrm>
        </p:spPr>
        <p:txBody>
          <a:bodyPr anchor="ctr">
            <a:noAutofit/>
          </a:bodyPr>
          <a:lstStyle/>
          <a:p>
            <a:pPr marL="0" indent="0">
              <a:buNone/>
            </a:pPr>
            <a:r>
              <a:rPr lang="en-US" sz="1600" dirty="0"/>
              <a:t>“</a:t>
            </a:r>
            <a:r>
              <a:rPr lang="en-US" sz="1600" u="sng" dirty="0"/>
              <a:t>Act as an experienced medical researcher</a:t>
            </a:r>
            <a:r>
              <a:rPr lang="en-US" sz="1600" dirty="0"/>
              <a:t> performing Title and Abstract screening for Umbrella Review, reviewing articles to decide if they should be included or excluded from your study. Each time you will receive the title and abstract for a paper along with a question that you have to answer based on the authors' work. Later on, your answers will help decide whether an article should be included or excluded so be precise while answering.</a:t>
            </a:r>
            <a:r>
              <a:rPr lang="en-US" sz="1600" u="sng" dirty="0"/>
              <a:t> If you are not sure, answer with 'uncertain’. </a:t>
            </a:r>
          </a:p>
          <a:p>
            <a:pPr marL="0" indent="0">
              <a:buNone/>
            </a:pPr>
            <a:r>
              <a:rPr lang="en-US" sz="1600" dirty="0"/>
              <a:t>Inclusion questions: </a:t>
            </a:r>
          </a:p>
          <a:p>
            <a:pPr marL="0" indent="0">
              <a:buNone/>
            </a:pPr>
            <a:r>
              <a:rPr lang="en-US" sz="1600" dirty="0"/>
              <a:t> 1. "Is the study potentially designed as a systematic review and meta-analysis of randomized controlled trials?",</a:t>
            </a:r>
          </a:p>
          <a:p>
            <a:pPr marL="0" indent="0">
              <a:buNone/>
            </a:pPr>
            <a:r>
              <a:rPr lang="en-US" sz="1600" dirty="0"/>
              <a:t>2. "Does the study's population include men and/or women age ≥ 50 years, community dwelling and/or institutionalized?",</a:t>
            </a:r>
          </a:p>
          <a:p>
            <a:pPr marL="0" indent="0">
              <a:buNone/>
            </a:pPr>
            <a:r>
              <a:rPr lang="en-US" sz="1600" dirty="0"/>
              <a:t>3.  "Is there an intervention of vitamin D, with or without Calcium supplementation?",</a:t>
            </a:r>
          </a:p>
          <a:p>
            <a:pPr marL="0" indent="0">
              <a:buNone/>
            </a:pPr>
            <a:r>
              <a:rPr lang="en-US" sz="1600" dirty="0"/>
              <a:t>4. "Is the comparator vitamin D placebo or control? Or is this information uncertain? Explain" </a:t>
            </a:r>
          </a:p>
          <a:p>
            <a:pPr marL="0" indent="0">
              <a:buNone/>
            </a:pPr>
            <a:r>
              <a:rPr lang="en-US" sz="1600" dirty="0"/>
              <a:t>Exclusion questions:</a:t>
            </a:r>
          </a:p>
          <a:p>
            <a:pPr marL="0" indent="0">
              <a:buNone/>
            </a:pPr>
            <a:r>
              <a:rPr lang="en-US" sz="1600" dirty="0"/>
              <a:t>1. "Does the paper's population include pregnant women, individuals with advanced diseases like chronic liver failure, chronic renal failure, cancer, or individuals on steroids?",</a:t>
            </a:r>
          </a:p>
          <a:p>
            <a:pPr marL="0" indent="0">
              <a:buNone/>
            </a:pPr>
            <a:r>
              <a:rPr lang="en-US" sz="1600" dirty="0"/>
              <a:t>2. "Does the paper primarily focus on active Vitamin D like calcitriol, or paricalcitol, or </a:t>
            </a:r>
            <a:r>
              <a:rPr lang="en-US" sz="1600" dirty="0" err="1"/>
              <a:t>doxercalciferol</a:t>
            </a:r>
            <a:r>
              <a:rPr lang="en-US" sz="1600" dirty="0"/>
              <a:t>, or </a:t>
            </a:r>
            <a:r>
              <a:rPr lang="en-US" sz="1600" dirty="0" err="1"/>
              <a:t>alfacalcidol</a:t>
            </a:r>
            <a:r>
              <a:rPr lang="en-US" sz="1600" dirty="0"/>
              <a:t>, or </a:t>
            </a:r>
            <a:r>
              <a:rPr lang="en-US" sz="1600" dirty="0" err="1"/>
              <a:t>falecalcitriol</a:t>
            </a:r>
            <a:r>
              <a:rPr lang="en-US" sz="1600" dirty="0"/>
              <a:t>, or 22-oxacalcitriol, or synthetic vitamin D or vitamin D analogues?"</a:t>
            </a:r>
          </a:p>
          <a:p>
            <a:pPr marL="0" indent="0">
              <a:buNone/>
            </a:pPr>
            <a:endParaRPr lang="en-US" sz="1600" dirty="0"/>
          </a:p>
          <a:p>
            <a:endParaRPr lang="en-US" sz="1600" dirty="0"/>
          </a:p>
        </p:txBody>
      </p:sp>
    </p:spTree>
    <p:extLst>
      <p:ext uri="{BB962C8B-B14F-4D97-AF65-F5344CB8AC3E}">
        <p14:creationId xmlns:p14="http://schemas.microsoft.com/office/powerpoint/2010/main" val="1627745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B357C1-6A48-E45E-AC07-7BA624673E3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Example 3</a:t>
            </a:r>
            <a:r>
              <a:rPr lang="en-US" sz="4000" baseline="30000" dirty="0">
                <a:solidFill>
                  <a:srgbClr val="FFFFFF"/>
                </a:solidFill>
                <a:hlinkClick r:id="rId2"/>
              </a:rPr>
              <a:t>2</a:t>
            </a:r>
            <a:br>
              <a:rPr lang="en-US" sz="4000" baseline="30000" dirty="0">
                <a:solidFill>
                  <a:srgbClr val="FFFFFF"/>
                </a:solidFill>
                <a:effectLst/>
              </a:rPr>
            </a:br>
            <a:endParaRPr lang="en-US" sz="4000" dirty="0">
              <a:solidFill>
                <a:srgbClr val="FFFFFF"/>
              </a:solidFill>
            </a:endParaRPr>
          </a:p>
        </p:txBody>
      </p:sp>
      <p:sp>
        <p:nvSpPr>
          <p:cNvPr id="3" name="Content Placeholder 2">
            <a:extLst>
              <a:ext uri="{FF2B5EF4-FFF2-40B4-BE49-F238E27FC236}">
                <a16:creationId xmlns:a16="http://schemas.microsoft.com/office/drawing/2014/main" id="{EE8ED92A-8568-85CB-508A-8966E87AC851}"/>
              </a:ext>
            </a:extLst>
          </p:cNvPr>
          <p:cNvSpPr>
            <a:spLocks noGrp="1"/>
          </p:cNvSpPr>
          <p:nvPr>
            <p:ph idx="1"/>
          </p:nvPr>
        </p:nvSpPr>
        <p:spPr>
          <a:xfrm>
            <a:off x="4367695" y="511388"/>
            <a:ext cx="6555347" cy="5546047"/>
          </a:xfrm>
        </p:spPr>
        <p:txBody>
          <a:bodyPr anchor="ctr">
            <a:normAutofit/>
          </a:bodyPr>
          <a:lstStyle/>
          <a:p>
            <a:pPr marL="0" indent="0">
              <a:buNone/>
            </a:pPr>
            <a:r>
              <a:rPr lang="en-US" sz="2000" dirty="0"/>
              <a:t>“I would like you to help me with conducting a systematic review on {topic}. I will provide the title and abstract for one journal article and would like you to screen the paper for inclusion.</a:t>
            </a:r>
          </a:p>
          <a:p>
            <a:pPr marL="0" indent="0">
              <a:buNone/>
            </a:pPr>
            <a:endParaRPr lang="en-US" sz="2000" dirty="0"/>
          </a:p>
          <a:p>
            <a:pPr marL="0" indent="0">
              <a:buNone/>
            </a:pPr>
            <a:r>
              <a:rPr lang="en-US" sz="2000" dirty="0"/>
              <a:t>Here are the inclusion criteria: ….</a:t>
            </a:r>
          </a:p>
          <a:p>
            <a:pPr marL="0" indent="0">
              <a:buNone/>
            </a:pPr>
            <a:r>
              <a:rPr lang="en-US" sz="2000" dirty="0"/>
              <a:t>Here is the abstract: ….”</a:t>
            </a:r>
          </a:p>
        </p:txBody>
      </p:sp>
    </p:spTree>
    <p:extLst>
      <p:ext uri="{BB962C8B-B14F-4D97-AF65-F5344CB8AC3E}">
        <p14:creationId xmlns:p14="http://schemas.microsoft.com/office/powerpoint/2010/main" val="300529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585F31-10A7-5C6D-5ACD-F2705DFF13CD}"/>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Example 4</a:t>
            </a:r>
            <a:r>
              <a:rPr lang="en-US" sz="4000" baseline="30000" dirty="0">
                <a:solidFill>
                  <a:srgbClr val="FFFFFF"/>
                </a:solidFill>
                <a:hlinkClick r:id="rId2"/>
              </a:rPr>
              <a:t>2</a:t>
            </a:r>
            <a:br>
              <a:rPr lang="en-US" sz="4000" baseline="30000" dirty="0">
                <a:solidFill>
                  <a:srgbClr val="FFFFFF"/>
                </a:solidFill>
                <a:effectLst/>
              </a:rPr>
            </a:br>
            <a:endParaRPr lang="en-US" sz="4000" dirty="0">
              <a:solidFill>
                <a:srgbClr val="FFFFFF"/>
              </a:solidFill>
            </a:endParaRPr>
          </a:p>
        </p:txBody>
      </p:sp>
      <p:sp>
        <p:nvSpPr>
          <p:cNvPr id="3" name="Content Placeholder 2">
            <a:extLst>
              <a:ext uri="{FF2B5EF4-FFF2-40B4-BE49-F238E27FC236}">
                <a16:creationId xmlns:a16="http://schemas.microsoft.com/office/drawing/2014/main" id="{AF57FE05-FBBE-FE8B-F256-53357A567CA2}"/>
              </a:ext>
            </a:extLst>
          </p:cNvPr>
          <p:cNvSpPr>
            <a:spLocks noGrp="1"/>
          </p:cNvSpPr>
          <p:nvPr>
            <p:ph idx="1"/>
          </p:nvPr>
        </p:nvSpPr>
        <p:spPr>
          <a:xfrm>
            <a:off x="4810259" y="649480"/>
            <a:ext cx="6555347" cy="5546047"/>
          </a:xfrm>
        </p:spPr>
        <p:txBody>
          <a:bodyPr anchor="ctr">
            <a:normAutofit/>
          </a:bodyPr>
          <a:lstStyle/>
          <a:p>
            <a:pPr marL="0" indent="0">
              <a:buNone/>
            </a:pPr>
            <a:r>
              <a:rPr lang="en-US" sz="2000"/>
              <a:t>“I seek assistance with a systematic review focused on animal depression. I’ll provide the abstract of a particular journal article and would appreciate an assessment for its inclusion based on the following criteria:</a:t>
            </a:r>
            <a:r>
              <a:rPr lang="en-US" sz="2000">
                <a:effectLst/>
              </a:rPr>
              <a:t> </a:t>
            </a:r>
          </a:p>
          <a:p>
            <a:pPr marL="0" indent="0">
              <a:buNone/>
            </a:pPr>
            <a:r>
              <a:rPr lang="en-US" sz="2000"/>
              <a:t>1….</a:t>
            </a:r>
          </a:p>
          <a:p>
            <a:pPr marL="0" indent="0">
              <a:buNone/>
            </a:pPr>
            <a:r>
              <a:rPr lang="en-US" sz="2000"/>
              <a:t>2…</a:t>
            </a:r>
          </a:p>
          <a:p>
            <a:pPr marL="0" indent="0">
              <a:buNone/>
            </a:pPr>
            <a:r>
              <a:rPr lang="en-US" sz="2000"/>
              <a:t>3…</a:t>
            </a:r>
          </a:p>
          <a:p>
            <a:pPr marL="0" indent="0">
              <a:buNone/>
            </a:pPr>
            <a:r>
              <a:rPr lang="en-US" sz="2000"/>
              <a:t>and here are the exclusion criteria:</a:t>
            </a:r>
          </a:p>
          <a:p>
            <a:pPr marL="0" indent="0">
              <a:buNone/>
            </a:pPr>
            <a:r>
              <a:rPr lang="en-US" sz="2000"/>
              <a:t>1…</a:t>
            </a:r>
          </a:p>
          <a:p>
            <a:pPr marL="0" indent="0">
              <a:buNone/>
            </a:pPr>
            <a:r>
              <a:rPr lang="en-US" sz="2000"/>
              <a:t>2…</a:t>
            </a:r>
          </a:p>
          <a:p>
            <a:pPr marL="0" indent="0">
              <a:buNone/>
            </a:pPr>
            <a:r>
              <a:rPr lang="en-US" sz="2000"/>
              <a:t>3…</a:t>
            </a:r>
          </a:p>
          <a:p>
            <a:pPr marL="0" indent="0">
              <a:buNone/>
            </a:pPr>
            <a:r>
              <a:rPr lang="en-US" sz="2000"/>
              <a:t>Here is the abstract: …”</a:t>
            </a:r>
          </a:p>
        </p:txBody>
      </p:sp>
    </p:spTree>
    <p:extLst>
      <p:ext uri="{BB962C8B-B14F-4D97-AF65-F5344CB8AC3E}">
        <p14:creationId xmlns:p14="http://schemas.microsoft.com/office/powerpoint/2010/main" val="3965316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1818F7-65B8-2BFA-5E16-50B4747D7B10}"/>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In addition to the standard zero-shot approach, studies have explored several alternative zero-shot strategies</a:t>
            </a:r>
          </a:p>
        </p:txBody>
      </p:sp>
    </p:spTree>
    <p:extLst>
      <p:ext uri="{BB962C8B-B14F-4D97-AF65-F5344CB8AC3E}">
        <p14:creationId xmlns:p14="http://schemas.microsoft.com/office/powerpoint/2010/main" val="3132444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0F50DA-6737-D531-795A-8927744CAA68}"/>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3400" kern="1200">
                <a:solidFill>
                  <a:srgbClr val="FFFFFF"/>
                </a:solidFill>
                <a:latin typeface="+mj-lt"/>
                <a:ea typeface="+mj-ea"/>
                <a:cs typeface="+mj-cs"/>
              </a:rPr>
              <a:t>1.1 Zero-shot ScreenPrompt </a:t>
            </a:r>
          </a:p>
        </p:txBody>
      </p:sp>
      <p:sp>
        <p:nvSpPr>
          <p:cNvPr id="3" name="Content Placeholder 2">
            <a:extLst>
              <a:ext uri="{FF2B5EF4-FFF2-40B4-BE49-F238E27FC236}">
                <a16:creationId xmlns:a16="http://schemas.microsoft.com/office/drawing/2014/main" id="{053E262C-A99F-BEF1-4679-ED00EDF47BCF}"/>
              </a:ext>
            </a:extLst>
          </p:cNvPr>
          <p:cNvSpPr>
            <a:spLocks noGrp="1"/>
          </p:cNvSpPr>
          <p:nvPr>
            <p:ph idx="1"/>
          </p:nvPr>
        </p:nvSpPr>
        <p:spPr>
          <a:xfrm>
            <a:off x="4380855" y="1412489"/>
            <a:ext cx="3427283" cy="4363844"/>
          </a:xfrm>
        </p:spPr>
        <p:txBody>
          <a:bodyPr vert="horz" lIns="91440" tIns="45720" rIns="91440" bIns="45720" rtlCol="0">
            <a:normAutofit/>
          </a:bodyPr>
          <a:lstStyle/>
          <a:p>
            <a:r>
              <a:rPr lang="en-US" sz="2000" dirty="0"/>
              <a:t>A method developed for a specific study</a:t>
            </a:r>
            <a:r>
              <a:rPr lang="en-US" sz="2000" baseline="30000" dirty="0">
                <a:hlinkClick r:id="rId2"/>
              </a:rPr>
              <a:t>1</a:t>
            </a:r>
            <a:r>
              <a:rPr lang="en-US" sz="2000" dirty="0"/>
              <a:t> </a:t>
            </a:r>
          </a:p>
          <a:p>
            <a:r>
              <a:rPr lang="en-US" sz="2000" dirty="0"/>
              <a:t>Adds study objectives directly into the prompt for context</a:t>
            </a:r>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57CD1E21-0F93-1FE8-712A-FF29B5C0FC29}"/>
              </a:ext>
            </a:extLst>
          </p:cNvPr>
          <p:cNvSpPr txBox="1">
            <a:spLocks/>
          </p:cNvSpPr>
          <p:nvPr/>
        </p:nvSpPr>
        <p:spPr>
          <a:xfrm>
            <a:off x="8157156" y="1396226"/>
            <a:ext cx="4034843" cy="43638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Example 5: </a:t>
            </a:r>
            <a:r>
              <a:rPr lang="en-US" sz="1400" dirty="0"/>
              <a:t>“Our systematic </a:t>
            </a:r>
            <a:r>
              <a:rPr lang="en-US" sz="1400" u="sng" dirty="0"/>
              <a:t>review is governed by the following objectives:… (description)…</a:t>
            </a:r>
            <a:r>
              <a:rPr lang="en-US" sz="1400" dirty="0"/>
              <a:t>A study is considered included if it meets all the inclusion criteria. If a study meets any of the exclusion criteria, it should be excluded. Here are the two sets of criteria:</a:t>
            </a:r>
          </a:p>
          <a:p>
            <a:pPr marL="0" indent="0">
              <a:buNone/>
            </a:pPr>
            <a:r>
              <a:rPr lang="en-US" sz="1400" dirty="0"/>
              <a:t>{Inclusion criteria}</a:t>
            </a:r>
          </a:p>
          <a:p>
            <a:pPr marL="0" indent="0">
              <a:buNone/>
            </a:pPr>
            <a:r>
              <a:rPr lang="en-US" sz="1400" dirty="0"/>
              <a:t>{Exclusion Criteria}</a:t>
            </a:r>
          </a:p>
          <a:p>
            <a:pPr marL="0" indent="0">
              <a:buNone/>
            </a:pPr>
            <a:r>
              <a:rPr lang="en-US" sz="1400" dirty="0"/>
              <a:t>{Abstract in investigation}</a:t>
            </a:r>
          </a:p>
          <a:p>
            <a:pPr marL="0" indent="0">
              <a:buNone/>
            </a:pPr>
            <a:r>
              <a:rPr lang="en-US" sz="1400" dirty="0"/>
              <a:t>{Instructions, including task considerations}</a:t>
            </a:r>
          </a:p>
          <a:p>
            <a:pPr marL="0" indent="0">
              <a:buNone/>
            </a:pPr>
            <a:r>
              <a:rPr lang="en-US" sz="1400" dirty="0"/>
              <a:t># Instructions: We now assess whether the paper should be included from the systematic review by evaluating it against each and every predefined inclusion and exclusion criterion.</a:t>
            </a:r>
          </a:p>
          <a:p>
            <a:pPr marL="0" indent="0">
              <a:buNone/>
            </a:pPr>
            <a:r>
              <a:rPr lang="en-US" sz="1400" dirty="0"/>
              <a:t> First, we will reflect on how we will decide whether a paper should be included or excluded. </a:t>
            </a:r>
            <a:r>
              <a:rPr lang="en-US" sz="1400" u="sng" dirty="0"/>
              <a:t>Then, we will think step by step for each criteria, giving reasons for why they are met or not met.</a:t>
            </a:r>
          </a:p>
          <a:p>
            <a:pPr marL="0" indent="0">
              <a:buNone/>
            </a:pPr>
            <a:r>
              <a:rPr lang="en-US" sz="1400" dirty="0"/>
              <a:t>We will conclude by outputting (on the very last line) </a:t>
            </a:r>
            <a:r>
              <a:rPr lang="en-US" sz="1400" u="sng" dirty="0"/>
              <a:t>'XXX' if the paper warrants exclusion, or 'YYY' if inclusion is advised or uncertainty persists. We must output either 'XXX' or 'YYY'.</a:t>
            </a:r>
          </a:p>
          <a:p>
            <a:pPr marL="0"/>
            <a:endParaRPr lang="en-US" sz="1400" dirty="0"/>
          </a:p>
        </p:txBody>
      </p:sp>
    </p:spTree>
    <p:extLst>
      <p:ext uri="{BB962C8B-B14F-4D97-AF65-F5344CB8AC3E}">
        <p14:creationId xmlns:p14="http://schemas.microsoft.com/office/powerpoint/2010/main" val="1963017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459B2-8DAE-33EF-8EB8-EF69B1239A8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1.2 Zero-Shot with Likert-Scale outcome</a:t>
            </a:r>
            <a:r>
              <a:rPr lang="en-US" sz="4000" baseline="30000">
                <a:solidFill>
                  <a:srgbClr val="FFFFFF"/>
                </a:solidFill>
                <a:hlinkClick r:id="rId2"/>
              </a:rPr>
              <a:t>3</a:t>
            </a:r>
            <a:br>
              <a:rPr lang="en-US" sz="4000" baseline="30000">
                <a:solidFill>
                  <a:srgbClr val="FFFFFF"/>
                </a:solidFill>
              </a:rPr>
            </a:br>
            <a:endParaRPr lang="en-US" sz="4000">
              <a:solidFill>
                <a:srgbClr val="FFFFFF"/>
              </a:solidFill>
            </a:endParaRPr>
          </a:p>
        </p:txBody>
      </p:sp>
      <p:sp>
        <p:nvSpPr>
          <p:cNvPr id="3" name="Content Placeholder 2">
            <a:extLst>
              <a:ext uri="{FF2B5EF4-FFF2-40B4-BE49-F238E27FC236}">
                <a16:creationId xmlns:a16="http://schemas.microsoft.com/office/drawing/2014/main" id="{A3020A61-B58B-AA5C-AD43-6EDF0B763D6F}"/>
              </a:ext>
            </a:extLst>
          </p:cNvPr>
          <p:cNvSpPr>
            <a:spLocks noGrp="1"/>
          </p:cNvSpPr>
          <p:nvPr>
            <p:ph idx="1"/>
          </p:nvPr>
        </p:nvSpPr>
        <p:spPr>
          <a:xfrm>
            <a:off x="4810259" y="649480"/>
            <a:ext cx="6555347" cy="5546047"/>
          </a:xfrm>
        </p:spPr>
        <p:txBody>
          <a:bodyPr anchor="ctr">
            <a:normAutofit/>
          </a:bodyPr>
          <a:lstStyle/>
          <a:p>
            <a:pPr marL="0" indent="0">
              <a:buNone/>
            </a:pPr>
            <a:r>
              <a:rPr lang="en-US" sz="2000" b="1" dirty="0"/>
              <a:t>Example 6</a:t>
            </a:r>
            <a:r>
              <a:rPr lang="en-US" sz="2000" dirty="0"/>
              <a:t>: “On a scale from 1 (very low probability) </a:t>
            </a:r>
            <a:r>
              <a:rPr lang="en-US" sz="2000"/>
              <a:t>to 5 </a:t>
            </a:r>
            <a:r>
              <a:rPr lang="en-US" sz="2000" dirty="0"/>
              <a:t>(very high probability), how relevant is the following scientific publication for inclusion in a systematic literature review based on the specified criteria and its title and abstract?”</a:t>
            </a:r>
          </a:p>
        </p:txBody>
      </p:sp>
    </p:spTree>
    <p:extLst>
      <p:ext uri="{BB962C8B-B14F-4D97-AF65-F5344CB8AC3E}">
        <p14:creationId xmlns:p14="http://schemas.microsoft.com/office/powerpoint/2010/main" val="1755063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944D98-06FB-417E-16F7-5BB01B24F6FD}"/>
              </a:ext>
            </a:extLst>
          </p:cNvPr>
          <p:cNvSpPr>
            <a:spLocks noGrp="1"/>
          </p:cNvSpPr>
          <p:nvPr>
            <p:ph type="title"/>
          </p:nvPr>
        </p:nvSpPr>
        <p:spPr>
          <a:xfrm>
            <a:off x="662180" y="2862471"/>
            <a:ext cx="3041803" cy="2907802"/>
          </a:xfrm>
        </p:spPr>
        <p:txBody>
          <a:bodyPr vert="horz" lIns="91440" tIns="45720" rIns="91440" bIns="45720" rtlCol="0" anchor="t">
            <a:normAutofit/>
          </a:bodyPr>
          <a:lstStyle/>
          <a:p>
            <a:r>
              <a:rPr lang="en-US" sz="4000" dirty="0">
                <a:solidFill>
                  <a:srgbClr val="FFFFFF"/>
                </a:solidFill>
              </a:rPr>
              <a:t>1.3 Question-Answering Framework</a:t>
            </a:r>
            <a:r>
              <a:rPr lang="en-US" sz="4000" baseline="30000" dirty="0">
                <a:solidFill>
                  <a:srgbClr val="FFFFFF"/>
                </a:solidFill>
                <a:hlinkClick r:id="rId2"/>
              </a:rPr>
              <a:t>4</a:t>
            </a:r>
            <a:endParaRPr lang="en-US" sz="4000" dirty="0">
              <a:solidFill>
                <a:srgbClr val="FFFFFF"/>
              </a:solidFill>
            </a:endParaRPr>
          </a:p>
        </p:txBody>
      </p:sp>
      <p:sp>
        <p:nvSpPr>
          <p:cNvPr id="7" name="TextBox 6">
            <a:extLst>
              <a:ext uri="{FF2B5EF4-FFF2-40B4-BE49-F238E27FC236}">
                <a16:creationId xmlns:a16="http://schemas.microsoft.com/office/drawing/2014/main" id="{24D4182F-EBEE-72B5-0E95-FFD416141516}"/>
              </a:ext>
            </a:extLst>
          </p:cNvPr>
          <p:cNvSpPr txBox="1"/>
          <p:nvPr/>
        </p:nvSpPr>
        <p:spPr>
          <a:xfrm>
            <a:off x="8488017" y="5310118"/>
            <a:ext cx="3041803" cy="1045873"/>
          </a:xfrm>
          <a:prstGeom prst="rect">
            <a:avLst/>
          </a:prstGeom>
        </p:spPr>
        <p:txBody>
          <a:bodyPr vert="horz" lIns="91440" tIns="45720" rIns="91440" bIns="45720" rtlCol="0" anchor="b">
            <a:noAutofit/>
          </a:bodyPr>
          <a:lstStyle/>
          <a:p>
            <a:pPr>
              <a:lnSpc>
                <a:spcPct val="90000"/>
              </a:lnSpc>
              <a:spcBef>
                <a:spcPts val="1000"/>
              </a:spcBef>
            </a:pPr>
            <a:r>
              <a:rPr lang="en-US" sz="1200" b="1" dirty="0"/>
              <a:t>Answer Scoring:</a:t>
            </a:r>
            <a:r>
              <a:rPr lang="en-US" sz="1200" dirty="0"/>
              <a:t> Each response is converted to a numeric score using BART as a zero-shot sentiment scorer.</a:t>
            </a:r>
            <a:br>
              <a:rPr lang="en-US" sz="1200" dirty="0"/>
            </a:br>
            <a:r>
              <a:rPr lang="en-US" sz="1200" dirty="0"/>
              <a:t>1.  </a:t>
            </a:r>
            <a:r>
              <a:rPr lang="en-US" sz="1200" b="1" dirty="0"/>
              <a:t>Hard Answer Method:</a:t>
            </a:r>
            <a:r>
              <a:rPr lang="en-US" sz="1200" dirty="0"/>
              <a:t> Classifies responses into Positive, Neutral, or Negative and assigns fixed scores (1, 0.5, 0).</a:t>
            </a:r>
            <a:br>
              <a:rPr lang="en-US" sz="1200" dirty="0"/>
            </a:br>
            <a:r>
              <a:rPr lang="en-US" sz="1200" dirty="0"/>
              <a:t>2.  </a:t>
            </a:r>
            <a:r>
              <a:rPr lang="en-US" sz="1200" b="1" dirty="0"/>
              <a:t>Soft Answer Method:</a:t>
            </a:r>
            <a:r>
              <a:rPr lang="en-US" sz="1200" dirty="0"/>
              <a:t> Scores each response by the probability of being Positive.</a:t>
            </a:r>
            <a:br>
              <a:rPr lang="en-US" sz="1200" dirty="0"/>
            </a:br>
            <a:endParaRPr lang="en-US" sz="1200" dirty="0"/>
          </a:p>
          <a:p>
            <a:pPr>
              <a:lnSpc>
                <a:spcPct val="90000"/>
              </a:lnSpc>
              <a:spcBef>
                <a:spcPts val="1000"/>
              </a:spcBef>
            </a:pPr>
            <a:r>
              <a:rPr lang="en-US" sz="1200" b="1" dirty="0"/>
              <a:t>Model Setting:</a:t>
            </a:r>
            <a:r>
              <a:rPr lang="en-US" sz="1200" dirty="0"/>
              <a:t> Temperature set at 0.2 to reduce randomness and increase consistency.</a:t>
            </a:r>
          </a:p>
        </p:txBody>
      </p:sp>
      <p:pic>
        <p:nvPicPr>
          <p:cNvPr id="5" name="Content Placeholder 4" descr="A diagram of a question&#10;&#10;AI-generated content may be incorrect.">
            <a:extLst>
              <a:ext uri="{FF2B5EF4-FFF2-40B4-BE49-F238E27FC236}">
                <a16:creationId xmlns:a16="http://schemas.microsoft.com/office/drawing/2014/main" id="{9FB3B910-9DB2-BA34-4BBE-5EE55DAB0850}"/>
              </a:ext>
            </a:extLst>
          </p:cNvPr>
          <p:cNvPicPr>
            <a:picLocks noGrp="1" noChangeAspect="1"/>
          </p:cNvPicPr>
          <p:nvPr>
            <p:ph idx="1"/>
          </p:nvPr>
        </p:nvPicPr>
        <p:blipFill>
          <a:blip r:embed="rId3"/>
          <a:stretch>
            <a:fillRect/>
          </a:stretch>
        </p:blipFill>
        <p:spPr>
          <a:xfrm>
            <a:off x="4348820" y="1087727"/>
            <a:ext cx="7112423" cy="2720501"/>
          </a:xfrm>
          <a:prstGeom prst="rect">
            <a:avLst/>
          </a:prstGeom>
        </p:spPr>
      </p:pic>
      <p:sp>
        <p:nvSpPr>
          <p:cNvPr id="6" name="TextBox 5">
            <a:extLst>
              <a:ext uri="{FF2B5EF4-FFF2-40B4-BE49-F238E27FC236}">
                <a16:creationId xmlns:a16="http://schemas.microsoft.com/office/drawing/2014/main" id="{72FB0429-ADA3-61B4-ABC9-E0AAB371D071}"/>
              </a:ext>
            </a:extLst>
          </p:cNvPr>
          <p:cNvSpPr txBox="1"/>
          <p:nvPr/>
        </p:nvSpPr>
        <p:spPr>
          <a:xfrm>
            <a:off x="6587720" y="3850082"/>
            <a:ext cx="1526511" cy="1015663"/>
          </a:xfrm>
          <a:prstGeom prst="rect">
            <a:avLst/>
          </a:prstGeom>
          <a:noFill/>
        </p:spPr>
        <p:txBody>
          <a:bodyPr wrap="square" rtlCol="0">
            <a:spAutoFit/>
          </a:bodyPr>
          <a:lstStyle/>
          <a:p>
            <a:pPr>
              <a:spcAft>
                <a:spcPts val="600"/>
              </a:spcAft>
            </a:pPr>
            <a:r>
              <a:rPr lang="en-US" sz="1200" b="1" dirty="0"/>
              <a:t>Question Generation:</a:t>
            </a:r>
            <a:r>
              <a:rPr lang="en-US" sz="1200" dirty="0"/>
              <a:t> LLMs generate screening questions based on inclusion criteria.</a:t>
            </a:r>
          </a:p>
        </p:txBody>
      </p:sp>
    </p:spTree>
    <p:extLst>
      <p:ext uri="{BB962C8B-B14F-4D97-AF65-F5344CB8AC3E}">
        <p14:creationId xmlns:p14="http://schemas.microsoft.com/office/powerpoint/2010/main" val="2608335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68F4E54-53E1-11C8-9864-5E1A5C4F30C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Example 7</a:t>
            </a:r>
          </a:p>
        </p:txBody>
      </p:sp>
      <p:pic>
        <p:nvPicPr>
          <p:cNvPr id="5" name="Content Placeholder 4" descr="A white paper with black text&#10;&#10;AI-generated content may be incorrect.">
            <a:extLst>
              <a:ext uri="{FF2B5EF4-FFF2-40B4-BE49-F238E27FC236}">
                <a16:creationId xmlns:a16="http://schemas.microsoft.com/office/drawing/2014/main" id="{A448B7C4-8010-F442-CBFE-CFA6F0C30FAC}"/>
              </a:ext>
            </a:extLst>
          </p:cNvPr>
          <p:cNvPicPr>
            <a:picLocks noGrp="1" noChangeAspect="1"/>
          </p:cNvPicPr>
          <p:nvPr>
            <p:ph idx="1"/>
          </p:nvPr>
        </p:nvPicPr>
        <p:blipFill>
          <a:blip r:embed="rId2"/>
          <a:stretch>
            <a:fillRect/>
          </a:stretch>
        </p:blipFill>
        <p:spPr>
          <a:xfrm>
            <a:off x="4417435" y="223446"/>
            <a:ext cx="6987963" cy="642892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7D886FF-E65E-8730-E3FF-4A9E007B37DF}"/>
                  </a:ext>
                </a:extLst>
              </p14:cNvPr>
              <p14:cNvContentPartPr/>
              <p14:nvPr/>
            </p14:nvContentPartPr>
            <p14:xfrm>
              <a:off x="4465570" y="1011175"/>
              <a:ext cx="4085280" cy="108720"/>
            </p14:xfrm>
          </p:contentPart>
        </mc:Choice>
        <mc:Fallback xmlns="">
          <p:pic>
            <p:nvPicPr>
              <p:cNvPr id="3" name="Ink 2">
                <a:extLst>
                  <a:ext uri="{FF2B5EF4-FFF2-40B4-BE49-F238E27FC236}">
                    <a16:creationId xmlns:a16="http://schemas.microsoft.com/office/drawing/2014/main" id="{C7D886FF-E65E-8730-E3FF-4A9E007B37DF}"/>
                  </a:ext>
                </a:extLst>
              </p:cNvPr>
              <p:cNvPicPr/>
              <p:nvPr/>
            </p:nvPicPr>
            <p:blipFill>
              <a:blip r:embed="rId4"/>
              <a:stretch>
                <a:fillRect/>
              </a:stretch>
            </p:blipFill>
            <p:spPr>
              <a:xfrm>
                <a:off x="4411930" y="903175"/>
                <a:ext cx="419292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B615296E-D621-BEFB-D347-0F2B63283E16}"/>
                  </a:ext>
                </a:extLst>
              </p14:cNvPr>
              <p14:cNvContentPartPr/>
              <p14:nvPr/>
            </p14:nvContentPartPr>
            <p14:xfrm>
              <a:off x="4558090" y="1389535"/>
              <a:ext cx="1181880" cy="27720"/>
            </p14:xfrm>
          </p:contentPart>
        </mc:Choice>
        <mc:Fallback xmlns="">
          <p:pic>
            <p:nvPicPr>
              <p:cNvPr id="4" name="Ink 3">
                <a:extLst>
                  <a:ext uri="{FF2B5EF4-FFF2-40B4-BE49-F238E27FC236}">
                    <a16:creationId xmlns:a16="http://schemas.microsoft.com/office/drawing/2014/main" id="{B615296E-D621-BEFB-D347-0F2B63283E16}"/>
                  </a:ext>
                </a:extLst>
              </p:cNvPr>
              <p:cNvPicPr/>
              <p:nvPr/>
            </p:nvPicPr>
            <p:blipFill>
              <a:blip r:embed="rId6"/>
              <a:stretch>
                <a:fillRect/>
              </a:stretch>
            </p:blipFill>
            <p:spPr>
              <a:xfrm>
                <a:off x="4504450" y="1281535"/>
                <a:ext cx="128952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6DE1DAC0-E58E-811C-1860-45261D1A583A}"/>
                  </a:ext>
                </a:extLst>
              </p14:cNvPr>
              <p14:cNvContentPartPr/>
              <p14:nvPr/>
            </p14:nvContentPartPr>
            <p14:xfrm>
              <a:off x="4317250" y="1694815"/>
              <a:ext cx="1591920" cy="52920"/>
            </p14:xfrm>
          </p:contentPart>
        </mc:Choice>
        <mc:Fallback xmlns="">
          <p:pic>
            <p:nvPicPr>
              <p:cNvPr id="6" name="Ink 5">
                <a:extLst>
                  <a:ext uri="{FF2B5EF4-FFF2-40B4-BE49-F238E27FC236}">
                    <a16:creationId xmlns:a16="http://schemas.microsoft.com/office/drawing/2014/main" id="{6DE1DAC0-E58E-811C-1860-45261D1A583A}"/>
                  </a:ext>
                </a:extLst>
              </p:cNvPr>
              <p:cNvPicPr/>
              <p:nvPr/>
            </p:nvPicPr>
            <p:blipFill>
              <a:blip r:embed="rId8"/>
              <a:stretch>
                <a:fillRect/>
              </a:stretch>
            </p:blipFill>
            <p:spPr>
              <a:xfrm>
                <a:off x="4263250" y="1586815"/>
                <a:ext cx="1699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6DBF447E-F59F-7C3B-A849-46B9B168F34B}"/>
                  </a:ext>
                </a:extLst>
              </p14:cNvPr>
              <p14:cNvContentPartPr/>
              <p14:nvPr/>
            </p14:nvContentPartPr>
            <p14:xfrm>
              <a:off x="4528210" y="1963375"/>
              <a:ext cx="6330960" cy="405720"/>
            </p14:xfrm>
          </p:contentPart>
        </mc:Choice>
        <mc:Fallback xmlns="">
          <p:pic>
            <p:nvPicPr>
              <p:cNvPr id="7" name="Ink 6">
                <a:extLst>
                  <a:ext uri="{FF2B5EF4-FFF2-40B4-BE49-F238E27FC236}">
                    <a16:creationId xmlns:a16="http://schemas.microsoft.com/office/drawing/2014/main" id="{6DBF447E-F59F-7C3B-A849-46B9B168F34B}"/>
                  </a:ext>
                </a:extLst>
              </p:cNvPr>
              <p:cNvPicPr/>
              <p:nvPr/>
            </p:nvPicPr>
            <p:blipFill>
              <a:blip r:embed="rId10"/>
              <a:stretch>
                <a:fillRect/>
              </a:stretch>
            </p:blipFill>
            <p:spPr>
              <a:xfrm>
                <a:off x="4474210" y="1855375"/>
                <a:ext cx="6438600" cy="621360"/>
              </a:xfrm>
              <a:prstGeom prst="rect">
                <a:avLst/>
              </a:prstGeom>
            </p:spPr>
          </p:pic>
        </mc:Fallback>
      </mc:AlternateContent>
    </p:spTree>
    <p:extLst>
      <p:ext uri="{BB962C8B-B14F-4D97-AF65-F5344CB8AC3E}">
        <p14:creationId xmlns:p14="http://schemas.microsoft.com/office/powerpoint/2010/main" val="3017457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78F768-E222-1F6F-C61A-FE1F8282FBD6}"/>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2. Few-Shot Prompt Engineering </a:t>
            </a:r>
          </a:p>
        </p:txBody>
      </p:sp>
      <p:sp>
        <p:nvSpPr>
          <p:cNvPr id="23" name="Rectangle 2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6F7C89-DC85-C179-69FF-4388DB93B420}"/>
              </a:ext>
            </a:extLst>
          </p:cNvPr>
          <p:cNvSpPr>
            <a:spLocks noGrp="1"/>
          </p:cNvSpPr>
          <p:nvPr>
            <p:ph idx="1"/>
          </p:nvPr>
        </p:nvSpPr>
        <p:spPr>
          <a:xfrm>
            <a:off x="1155548" y="2217343"/>
            <a:ext cx="9880893" cy="3959619"/>
          </a:xfrm>
        </p:spPr>
        <p:txBody>
          <a:bodyPr>
            <a:normAutofit/>
          </a:bodyPr>
          <a:lstStyle/>
          <a:p>
            <a:pPr marL="0" indent="0">
              <a:buNone/>
            </a:pPr>
            <a:r>
              <a:rPr lang="en-US" sz="2400" dirty="0"/>
              <a:t>• Provide </a:t>
            </a:r>
            <a:r>
              <a:rPr lang="en-US" sz="2400" i="1" dirty="0"/>
              <a:t>n</a:t>
            </a:r>
            <a:r>
              <a:rPr lang="en-US" sz="2400" dirty="0"/>
              <a:t> examples of inclusion and exclusion decisions in the prompt.</a:t>
            </a:r>
            <a:br>
              <a:rPr lang="en-US" sz="2400" dirty="0"/>
            </a:br>
            <a:r>
              <a:rPr lang="en-US" sz="2400" dirty="0"/>
              <a:t>• Can sometimes perform worse than zero-shot due to </a:t>
            </a:r>
            <a:r>
              <a:rPr lang="en-US" sz="2400" b="1" dirty="0"/>
              <a:t>semantic contamination</a:t>
            </a:r>
            <a:r>
              <a:rPr lang="en-US" sz="2400" dirty="0"/>
              <a:t>, where the model incorrectly interprets the examples as part of the task itself.</a:t>
            </a:r>
            <a:r>
              <a:rPr lang="en-US" sz="2400" baseline="30000" dirty="0">
                <a:hlinkClick r:id="rId2"/>
              </a:rPr>
              <a:t>1</a:t>
            </a:r>
            <a:endParaRPr lang="en-US" sz="2400" dirty="0"/>
          </a:p>
          <a:p>
            <a:endParaRPr lang="en-US" sz="2400" dirty="0"/>
          </a:p>
        </p:txBody>
      </p:sp>
    </p:spTree>
    <p:extLst>
      <p:ext uri="{BB962C8B-B14F-4D97-AF65-F5344CB8AC3E}">
        <p14:creationId xmlns:p14="http://schemas.microsoft.com/office/powerpoint/2010/main" val="3012886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9680EC-5997-4C24-A7D0-9A03D1D494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Example 1</a:t>
            </a:r>
            <a:r>
              <a:rPr lang="en-US" sz="4000" baseline="30000" dirty="0">
                <a:solidFill>
                  <a:srgbClr val="FFFFFF"/>
                </a:solidFill>
                <a:hlinkClick r:id="rId2"/>
              </a:rPr>
              <a:t>1</a:t>
            </a:r>
            <a:br>
              <a:rPr lang="en-US" sz="4000" baseline="30000" dirty="0">
                <a:solidFill>
                  <a:srgbClr val="FFFFFF"/>
                </a:solidFill>
              </a:rPr>
            </a:br>
            <a:endParaRPr lang="en-US" sz="4000" dirty="0">
              <a:solidFill>
                <a:srgbClr val="FFFFFF"/>
              </a:solidFill>
            </a:endParaRPr>
          </a:p>
        </p:txBody>
      </p:sp>
      <p:sp>
        <p:nvSpPr>
          <p:cNvPr id="3" name="Content Placeholder 2">
            <a:extLst>
              <a:ext uri="{FF2B5EF4-FFF2-40B4-BE49-F238E27FC236}">
                <a16:creationId xmlns:a16="http://schemas.microsoft.com/office/drawing/2014/main" id="{F9A4398A-1DAF-CA40-E4FD-95BA8338B7CB}"/>
              </a:ext>
            </a:extLst>
          </p:cNvPr>
          <p:cNvSpPr>
            <a:spLocks noGrp="1"/>
          </p:cNvSpPr>
          <p:nvPr>
            <p:ph idx="1"/>
          </p:nvPr>
        </p:nvSpPr>
        <p:spPr>
          <a:xfrm>
            <a:off x="4810259" y="649480"/>
            <a:ext cx="6555347" cy="5546047"/>
          </a:xfrm>
        </p:spPr>
        <p:txBody>
          <a:bodyPr anchor="ctr">
            <a:normAutofit/>
          </a:bodyPr>
          <a:lstStyle/>
          <a:p>
            <a:pPr marL="0" indent="0">
              <a:buNone/>
            </a:pPr>
            <a:r>
              <a:rPr lang="en-US" sz="1700" dirty="0"/>
              <a:t>“</a:t>
            </a:r>
            <a:r>
              <a:rPr lang="en-US" sz="1700" u="sng" dirty="0"/>
              <a:t>You are a researcher </a:t>
            </a:r>
            <a:r>
              <a:rPr lang="en-US" sz="1700" dirty="0"/>
              <a:t>rigorously screening titles and abstracts of</a:t>
            </a:r>
          </a:p>
          <a:p>
            <a:pPr marL="0" indent="0">
              <a:buNone/>
            </a:pPr>
            <a:r>
              <a:rPr lang="en-US" sz="1700" dirty="0"/>
              <a:t>scientific papers for inclusion or exclusion in a review paper. Use</a:t>
            </a:r>
          </a:p>
          <a:p>
            <a:pPr marL="0" indent="0">
              <a:buNone/>
            </a:pPr>
            <a:r>
              <a:rPr lang="en-US" sz="1700" dirty="0"/>
              <a:t>the criteria below to inform your decision. If any exclusion criteria</a:t>
            </a:r>
          </a:p>
          <a:p>
            <a:pPr marL="0" indent="0">
              <a:buNone/>
            </a:pPr>
            <a:r>
              <a:rPr lang="en-US" sz="1700" dirty="0"/>
              <a:t>are met or not all inclusion criteria are met, exclude the article. If all</a:t>
            </a:r>
          </a:p>
          <a:p>
            <a:pPr marL="0" indent="0">
              <a:buNone/>
            </a:pPr>
            <a:r>
              <a:rPr lang="en-US" sz="1700" dirty="0"/>
              <a:t>inclusion criteria are met, include the article.</a:t>
            </a:r>
          </a:p>
          <a:p>
            <a:pPr marL="0" indent="0">
              <a:buNone/>
            </a:pPr>
            <a:r>
              <a:rPr lang="en-US" sz="1700" dirty="0"/>
              <a:t>{Inclusion Criteria}</a:t>
            </a:r>
          </a:p>
          <a:p>
            <a:pPr marL="0" indent="0">
              <a:buNone/>
            </a:pPr>
            <a:r>
              <a:rPr lang="en-US" sz="1700" dirty="0"/>
              <a:t>{Exclusion Criteria}</a:t>
            </a:r>
          </a:p>
          <a:p>
            <a:pPr marL="0" indent="0">
              <a:buNone/>
            </a:pPr>
            <a:r>
              <a:rPr lang="en-US" sz="1700" b="1" dirty="0"/>
              <a:t>{Example Include n= 5}</a:t>
            </a:r>
          </a:p>
          <a:p>
            <a:pPr marL="0" indent="0">
              <a:buNone/>
            </a:pPr>
            <a:r>
              <a:rPr lang="en-US" sz="1700" b="1" dirty="0"/>
              <a:t>{Example Exclude n= 5}</a:t>
            </a:r>
          </a:p>
          <a:p>
            <a:pPr marL="0" indent="0">
              <a:buNone/>
            </a:pPr>
            <a:r>
              <a:rPr lang="en-US" sz="1700" dirty="0"/>
              <a:t>{Abstract in investigation}</a:t>
            </a:r>
          </a:p>
          <a:p>
            <a:pPr marL="0" indent="0">
              <a:buNone/>
            </a:pPr>
            <a:r>
              <a:rPr lang="en-US" sz="1700" dirty="0"/>
              <a:t>{Instructions}</a:t>
            </a:r>
          </a:p>
          <a:p>
            <a:pPr marL="0" indent="0">
              <a:buNone/>
            </a:pPr>
            <a:r>
              <a:rPr lang="en-US" sz="1700" u="sng" dirty="0"/>
              <a:t>Only type “YYY” for included articles or “XXX” for excluded articles to indicate your decision. Do not type anything else”</a:t>
            </a:r>
          </a:p>
        </p:txBody>
      </p:sp>
    </p:spTree>
    <p:extLst>
      <p:ext uri="{BB962C8B-B14F-4D97-AF65-F5344CB8AC3E}">
        <p14:creationId xmlns:p14="http://schemas.microsoft.com/office/powerpoint/2010/main" val="941700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01774-CC93-3035-9D48-28F2043D0E2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35E3DFC-EA53-9D3B-097F-85C1825AF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1F92B16-6C35-DE77-9938-F8C674F1D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4B47AC-B225-C269-D86F-DF083BEB9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E00FCB6-9031-3A0B-F78E-07B5E6A4FA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51A45C5-52D2-C6F8-D59F-B53C4D5F4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55AD060-9C37-2A98-0793-6545B8776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C2CF9445-60BC-A801-5C49-70250E6A7A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2BB8A8-FD2B-6569-5906-82C3776F4586}"/>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In addition to the standard </a:t>
            </a:r>
            <a:r>
              <a:rPr lang="en-US" sz="4800" dirty="0">
                <a:solidFill>
                  <a:srgbClr val="FFFFFF"/>
                </a:solidFill>
              </a:rPr>
              <a:t>few</a:t>
            </a:r>
            <a:r>
              <a:rPr lang="en-US" sz="4800" kern="1200" dirty="0">
                <a:solidFill>
                  <a:srgbClr val="FFFFFF"/>
                </a:solidFill>
                <a:latin typeface="+mj-lt"/>
                <a:ea typeface="+mj-ea"/>
                <a:cs typeface="+mj-cs"/>
              </a:rPr>
              <a:t>-shot approach, studies have explored several alternative </a:t>
            </a:r>
            <a:r>
              <a:rPr lang="en-US" sz="4800" dirty="0">
                <a:solidFill>
                  <a:srgbClr val="FFFFFF"/>
                </a:solidFill>
              </a:rPr>
              <a:t>few</a:t>
            </a:r>
            <a:r>
              <a:rPr lang="en-US" sz="4800" kern="1200" dirty="0">
                <a:solidFill>
                  <a:srgbClr val="FFFFFF"/>
                </a:solidFill>
                <a:latin typeface="+mj-lt"/>
                <a:ea typeface="+mj-ea"/>
                <a:cs typeface="+mj-cs"/>
              </a:rPr>
              <a:t>-shot strategies</a:t>
            </a:r>
          </a:p>
        </p:txBody>
      </p:sp>
    </p:spTree>
    <p:extLst>
      <p:ext uri="{BB962C8B-B14F-4D97-AF65-F5344CB8AC3E}">
        <p14:creationId xmlns:p14="http://schemas.microsoft.com/office/powerpoint/2010/main" val="3815694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E2AD80-5E28-251E-250D-DA2BAE90B7EF}"/>
              </a:ext>
            </a:extLst>
          </p:cNvPr>
          <p:cNvSpPr>
            <a:spLocks noGrp="1"/>
          </p:cNvSpPr>
          <p:nvPr>
            <p:ph type="title"/>
          </p:nvPr>
        </p:nvSpPr>
        <p:spPr>
          <a:xfrm>
            <a:off x="466722" y="586855"/>
            <a:ext cx="3201366" cy="3387497"/>
          </a:xfrm>
        </p:spPr>
        <p:txBody>
          <a:bodyPr anchor="b">
            <a:normAutofit/>
          </a:bodyPr>
          <a:lstStyle/>
          <a:p>
            <a:pPr algn="r"/>
            <a:r>
              <a:rPr lang="en-US" sz="3700" dirty="0">
                <a:solidFill>
                  <a:srgbClr val="FFFFFF"/>
                </a:solidFill>
              </a:rPr>
              <a:t>2.1 Few-Shot Chain of Thought (</a:t>
            </a:r>
            <a:r>
              <a:rPr lang="en-US" sz="3700" dirty="0" err="1">
                <a:solidFill>
                  <a:srgbClr val="FFFFFF"/>
                </a:solidFill>
              </a:rPr>
              <a:t>CoT</a:t>
            </a:r>
            <a:r>
              <a:rPr lang="en-US" sz="3700" dirty="0">
                <a:solidFill>
                  <a:srgbClr val="FFFFFF"/>
                </a:solidFill>
              </a:rPr>
              <a:t>)</a:t>
            </a:r>
            <a:br>
              <a:rPr lang="en-US" sz="3700" dirty="0">
                <a:solidFill>
                  <a:srgbClr val="FFFFFF"/>
                </a:solidFill>
              </a:rPr>
            </a:br>
            <a:r>
              <a:rPr lang="en-US" sz="3700" dirty="0">
                <a:solidFill>
                  <a:srgbClr val="FFFFFF"/>
                </a:solidFill>
              </a:rPr>
              <a:t>Abstract ScreenPrompt</a:t>
            </a:r>
            <a:r>
              <a:rPr lang="en-US" sz="3700" baseline="30000" dirty="0">
                <a:solidFill>
                  <a:srgbClr val="FFFFFF"/>
                </a:solidFill>
                <a:hlinkClick r:id="rId2"/>
              </a:rPr>
              <a:t>1</a:t>
            </a:r>
            <a:br>
              <a:rPr lang="en-US" sz="3700" baseline="30000" dirty="0">
                <a:solidFill>
                  <a:srgbClr val="FFFFFF"/>
                </a:solidFill>
              </a:rPr>
            </a:br>
            <a:endParaRPr lang="en-US" sz="3700" dirty="0">
              <a:solidFill>
                <a:srgbClr val="FFFFFF"/>
              </a:solidFill>
            </a:endParaRPr>
          </a:p>
        </p:txBody>
      </p:sp>
      <p:sp>
        <p:nvSpPr>
          <p:cNvPr id="3" name="Content Placeholder 2">
            <a:extLst>
              <a:ext uri="{FF2B5EF4-FFF2-40B4-BE49-F238E27FC236}">
                <a16:creationId xmlns:a16="http://schemas.microsoft.com/office/drawing/2014/main" id="{218FD07E-E8E6-C983-4C3D-0AFCE3421D7C}"/>
              </a:ext>
            </a:extLst>
          </p:cNvPr>
          <p:cNvSpPr>
            <a:spLocks noGrp="1"/>
          </p:cNvSpPr>
          <p:nvPr>
            <p:ph idx="1"/>
          </p:nvPr>
        </p:nvSpPr>
        <p:spPr>
          <a:xfrm>
            <a:off x="4504548" y="645836"/>
            <a:ext cx="6555347" cy="5546047"/>
          </a:xfrm>
        </p:spPr>
        <p:txBody>
          <a:bodyPr anchor="ctr">
            <a:noAutofit/>
          </a:bodyPr>
          <a:lstStyle/>
          <a:p>
            <a:pPr marL="0" indent="0">
              <a:buNone/>
            </a:pPr>
            <a:r>
              <a:rPr lang="en-US" sz="1200" dirty="0"/>
              <a:t>Our systematic review is governed by the following objectives: </a:t>
            </a:r>
            <a:r>
              <a:rPr lang="en-US" sz="1200" b="1" dirty="0"/>
              <a:t>…list objectives</a:t>
            </a:r>
            <a:r>
              <a:rPr lang="en-US" sz="1200" dirty="0"/>
              <a:t>…A study is</a:t>
            </a:r>
          </a:p>
          <a:p>
            <a:pPr marL="0" indent="0">
              <a:buNone/>
            </a:pPr>
            <a:r>
              <a:rPr lang="en-US" sz="1200" dirty="0"/>
              <a:t>considered included if it meets all the inclusion criteria. If a study</a:t>
            </a:r>
          </a:p>
          <a:p>
            <a:pPr marL="0" indent="0">
              <a:buNone/>
            </a:pPr>
            <a:r>
              <a:rPr lang="en-US" sz="1200" dirty="0"/>
              <a:t>meets any of the exclusion criteria, it should be excluded. Here are</a:t>
            </a:r>
          </a:p>
          <a:p>
            <a:pPr marL="0" indent="0">
              <a:buNone/>
            </a:pPr>
            <a:r>
              <a:rPr lang="en-US" sz="1200" dirty="0"/>
              <a:t>the two sets of criteria:</a:t>
            </a:r>
          </a:p>
          <a:p>
            <a:pPr marL="0" indent="0">
              <a:buNone/>
            </a:pPr>
            <a:r>
              <a:rPr lang="en-US" sz="1200" dirty="0"/>
              <a:t>{Inclusion criteria}</a:t>
            </a:r>
          </a:p>
          <a:p>
            <a:pPr marL="0" indent="0">
              <a:buNone/>
            </a:pPr>
            <a:r>
              <a:rPr lang="en-US" sz="1200" dirty="0"/>
              <a:t>{Exclusion Criteria}</a:t>
            </a:r>
          </a:p>
          <a:p>
            <a:pPr marL="0" indent="0">
              <a:buNone/>
            </a:pPr>
            <a:r>
              <a:rPr lang="en-US" sz="1200" b="1" dirty="0"/>
              <a:t>{GPT-</a:t>
            </a:r>
            <a:r>
              <a:rPr lang="en-US" sz="1200" b="1" dirty="0" err="1"/>
              <a:t>CoT</a:t>
            </a:r>
            <a:r>
              <a:rPr lang="en-US" sz="1200" b="1" dirty="0"/>
              <a:t> Include n= 5}</a:t>
            </a:r>
          </a:p>
          <a:p>
            <a:pPr marL="0" indent="0">
              <a:buNone/>
            </a:pPr>
            <a:r>
              <a:rPr lang="en-US" sz="1200" b="1" dirty="0"/>
              <a:t>{GPT-</a:t>
            </a:r>
            <a:r>
              <a:rPr lang="en-US" sz="1200" b="1" dirty="0" err="1"/>
              <a:t>CoT</a:t>
            </a:r>
            <a:r>
              <a:rPr lang="en-US" sz="1200" b="1" dirty="0"/>
              <a:t> Exclude n= 5}</a:t>
            </a:r>
          </a:p>
          <a:p>
            <a:pPr marL="0" indent="0">
              <a:buNone/>
            </a:pPr>
            <a:r>
              <a:rPr lang="en-US" sz="1200" dirty="0"/>
              <a:t>{Abstract in investigation}</a:t>
            </a:r>
          </a:p>
          <a:p>
            <a:pPr marL="0" indent="0">
              <a:buNone/>
            </a:pPr>
            <a:r>
              <a:rPr lang="en-US" sz="1200" dirty="0"/>
              <a:t>{Instructions, including abstract considerations}</a:t>
            </a:r>
          </a:p>
          <a:p>
            <a:pPr marL="0" indent="0">
              <a:buNone/>
            </a:pPr>
            <a:r>
              <a:rPr lang="en-US" sz="1200" dirty="0"/>
              <a:t># Instructions</a:t>
            </a:r>
          </a:p>
          <a:p>
            <a:pPr marL="0" indent="0">
              <a:buNone/>
            </a:pPr>
            <a:r>
              <a:rPr lang="en-US" sz="1200" dirty="0"/>
              <a:t>We now assess whether the paper should be included from the systematic review by evaluating it against each and every predefined inclusion and exclusion criterion. First, we will reflect on how we will decide whether a paper should be included or excluded. Then, we will think step by step for each criteria, giving reasons for why they are met or not met. Studies that may not fully align with the primary focus of our inclusion criteria but provide data or insights potentially relevant to our review deserve thoughtful consideration. Given the nature </a:t>
            </a:r>
            <a:r>
              <a:rPr lang="en-US" sz="1200" dirty="0" err="1"/>
              <a:t>ofabstracts</a:t>
            </a:r>
            <a:r>
              <a:rPr lang="en-US" sz="1200" dirty="0"/>
              <a:t> as concise summaries of comprehensive research, some degree of interpretation is necessary. Our aim should be to inclusively screen abstracts, ensuring broad coverage of pertinent studies while filtering out those that are clearly irrelevant. We will conclude by outputting (on the very last line) 'XXX' if the paper warrants exclusion, or 'YYY' if inclusion is advised or uncertainty persists. We must output either 'XXX’ or 'YYY'.</a:t>
            </a:r>
          </a:p>
        </p:txBody>
      </p:sp>
    </p:spTree>
    <p:extLst>
      <p:ext uri="{BB962C8B-B14F-4D97-AF65-F5344CB8AC3E}">
        <p14:creationId xmlns:p14="http://schemas.microsoft.com/office/powerpoint/2010/main" val="3407674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271461-9BBA-8217-F5E0-38549D4DC02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2.2 Few-Shot with Only Inclusion Criteria</a:t>
            </a:r>
          </a:p>
        </p:txBody>
      </p:sp>
      <p:sp>
        <p:nvSpPr>
          <p:cNvPr id="3" name="Content Placeholder 2">
            <a:extLst>
              <a:ext uri="{FF2B5EF4-FFF2-40B4-BE49-F238E27FC236}">
                <a16:creationId xmlns:a16="http://schemas.microsoft.com/office/drawing/2014/main" id="{8A2D54A7-0A55-DA3F-1D5F-6CB03BFA8CA3}"/>
              </a:ext>
            </a:extLst>
          </p:cNvPr>
          <p:cNvSpPr>
            <a:spLocks noGrp="1"/>
          </p:cNvSpPr>
          <p:nvPr>
            <p:ph idx="1"/>
          </p:nvPr>
        </p:nvSpPr>
        <p:spPr>
          <a:xfrm>
            <a:off x="4810259" y="649480"/>
            <a:ext cx="6555347" cy="5546047"/>
          </a:xfrm>
        </p:spPr>
        <p:txBody>
          <a:bodyPr anchor="ctr">
            <a:normAutofit/>
          </a:bodyPr>
          <a:lstStyle/>
          <a:p>
            <a:pPr marL="0" indent="0">
              <a:buNone/>
            </a:pPr>
            <a:r>
              <a:rPr lang="en-US" sz="2000" dirty="0"/>
              <a:t>• A study reported that providing </a:t>
            </a:r>
            <a:r>
              <a:rPr lang="en-US" sz="2000" b="1" dirty="0"/>
              <a:t>only inclusion criteria</a:t>
            </a:r>
            <a:r>
              <a:rPr lang="en-US" sz="2000" dirty="0"/>
              <a:t> (and avoiding exclusion examples) improved performance.</a:t>
            </a:r>
            <a:br>
              <a:rPr lang="en-US" sz="2000" dirty="0"/>
            </a:br>
            <a:r>
              <a:rPr lang="en-US" sz="2000" dirty="0"/>
              <a:t>• Excluding negative examples reduces the risk of semantic contamination and improves model precision.</a:t>
            </a:r>
            <a:r>
              <a:rPr lang="en-US" sz="2000" baseline="30000" dirty="0">
                <a:hlinkClick r:id="rId2"/>
              </a:rPr>
              <a:t>6</a:t>
            </a:r>
            <a:r>
              <a:rPr lang="en-US" sz="2000" dirty="0"/>
              <a:t> </a:t>
            </a:r>
          </a:p>
        </p:txBody>
      </p:sp>
    </p:spTree>
    <p:extLst>
      <p:ext uri="{BB962C8B-B14F-4D97-AF65-F5344CB8AC3E}">
        <p14:creationId xmlns:p14="http://schemas.microsoft.com/office/powerpoint/2010/main" val="2207732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3BDD5-283E-B226-C7D3-2A2842035BE5}"/>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3. Chain-of-Thought (CoT) Prompt Engineering</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136C14-9C82-D9B5-A3B0-99009E0D9D80}"/>
              </a:ext>
            </a:extLst>
          </p:cNvPr>
          <p:cNvSpPr>
            <a:spLocks noGrp="1"/>
          </p:cNvSpPr>
          <p:nvPr>
            <p:ph idx="1"/>
          </p:nvPr>
        </p:nvSpPr>
        <p:spPr>
          <a:xfrm>
            <a:off x="1155548" y="2217343"/>
            <a:ext cx="9880893" cy="3959619"/>
          </a:xfrm>
        </p:spPr>
        <p:txBody>
          <a:bodyPr>
            <a:normAutofit/>
          </a:bodyPr>
          <a:lstStyle/>
          <a:p>
            <a:r>
              <a:rPr lang="en-US" sz="2400" b="1" dirty="0"/>
              <a:t>Approach:</a:t>
            </a:r>
            <a:r>
              <a:rPr lang="en-US" sz="2400" dirty="0"/>
              <a:t> Ask the model to generate a step-by-step rationale before making an inclusion/exclusion decision.</a:t>
            </a:r>
          </a:p>
          <a:p>
            <a:r>
              <a:rPr lang="en-US" sz="2400" dirty="0"/>
              <a:t> </a:t>
            </a:r>
            <a:r>
              <a:rPr lang="en-US" sz="2400" b="1" dirty="0"/>
              <a:t>Goal:</a:t>
            </a:r>
            <a:r>
              <a:rPr lang="en-US" sz="2400" dirty="0"/>
              <a:t> Helps the model apply complex criteria by “thinking aloud.”</a:t>
            </a:r>
          </a:p>
          <a:p>
            <a:r>
              <a:rPr lang="en-US" sz="2400" b="1" dirty="0"/>
              <a:t>Flexibility:</a:t>
            </a:r>
            <a:r>
              <a:rPr lang="en-US" sz="2400" dirty="0"/>
              <a:t> Can be used in zero-shot or few-shot settings.</a:t>
            </a:r>
          </a:p>
          <a:p>
            <a:r>
              <a:rPr lang="en-US" sz="2400" b="1" dirty="0"/>
              <a:t>Evidence: </a:t>
            </a:r>
            <a:r>
              <a:rPr lang="en-US" sz="2400" dirty="0"/>
              <a:t>A </a:t>
            </a:r>
            <a:r>
              <a:rPr lang="en-US" sz="2400" dirty="0">
                <a:hlinkClick r:id="rId2"/>
              </a:rPr>
              <a:t>study</a:t>
            </a:r>
            <a:r>
              <a:rPr lang="en-US" sz="2400" dirty="0"/>
              <a:t> found that </a:t>
            </a:r>
            <a:r>
              <a:rPr lang="en-US" sz="2400" dirty="0" err="1"/>
              <a:t>CoT</a:t>
            </a:r>
            <a:r>
              <a:rPr lang="en-US" sz="2400" dirty="0"/>
              <a:t> did </a:t>
            </a:r>
            <a:r>
              <a:rPr lang="en-US" sz="2400" b="1" dirty="0"/>
              <a:t>not</a:t>
            </a:r>
            <a:r>
              <a:rPr lang="en-US" sz="2400" dirty="0"/>
              <a:t> improve sensitivity or precision with a strict prompt (sensitivity slightly decreased to 71%). With a more lenient prompt, </a:t>
            </a:r>
            <a:r>
              <a:rPr lang="en-US" sz="2400" dirty="0" err="1"/>
              <a:t>CoT</a:t>
            </a:r>
            <a:r>
              <a:rPr lang="en-US" sz="2400" dirty="0"/>
              <a:t> improved sensitivity from ~75% to 87%.</a:t>
            </a:r>
          </a:p>
          <a:p>
            <a:endParaRPr lang="en-US" sz="2400" dirty="0"/>
          </a:p>
          <a:p>
            <a:endParaRPr lang="en-US" sz="2400" dirty="0"/>
          </a:p>
        </p:txBody>
      </p:sp>
    </p:spTree>
    <p:extLst>
      <p:ext uri="{BB962C8B-B14F-4D97-AF65-F5344CB8AC3E}">
        <p14:creationId xmlns:p14="http://schemas.microsoft.com/office/powerpoint/2010/main" val="3283371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4E480B-B2CC-0CF6-C7EE-0294C6E32E9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7BBC115-AEB5-1229-125B-6F57C3916D46}"/>
              </a:ext>
            </a:extLst>
          </p:cNvPr>
          <p:cNvSpPr>
            <a:spLocks noGrp="1"/>
          </p:cNvSpPr>
          <p:nvPr>
            <p:ph type="title"/>
          </p:nvPr>
        </p:nvSpPr>
        <p:spPr>
          <a:xfrm>
            <a:off x="2026693" y="1030406"/>
            <a:ext cx="8147713" cy="3081242"/>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In addition to the standard </a:t>
            </a:r>
            <a:r>
              <a:rPr lang="en-US" sz="4800" dirty="0" err="1">
                <a:solidFill>
                  <a:srgbClr val="FFFFFF"/>
                </a:solidFill>
              </a:rPr>
              <a:t>CoT</a:t>
            </a:r>
            <a:r>
              <a:rPr lang="en-US" sz="4800" kern="1200" dirty="0">
                <a:solidFill>
                  <a:srgbClr val="FFFFFF"/>
                </a:solidFill>
                <a:latin typeface="+mj-lt"/>
                <a:ea typeface="+mj-ea"/>
                <a:cs typeface="+mj-cs"/>
              </a:rPr>
              <a:t> approach, studies have explored several alternative </a:t>
            </a:r>
            <a:r>
              <a:rPr lang="en-US" sz="4800" kern="1200" dirty="0" err="1">
                <a:solidFill>
                  <a:srgbClr val="FFFFFF"/>
                </a:solidFill>
                <a:latin typeface="+mj-lt"/>
                <a:ea typeface="+mj-ea"/>
                <a:cs typeface="+mj-cs"/>
              </a:rPr>
              <a:t>CoT</a:t>
            </a:r>
            <a:r>
              <a:rPr lang="en-US" sz="4800" kern="1200" dirty="0">
                <a:solidFill>
                  <a:srgbClr val="FFFFFF"/>
                </a:solidFill>
                <a:latin typeface="+mj-lt"/>
                <a:ea typeface="+mj-ea"/>
                <a:cs typeface="+mj-cs"/>
              </a:rPr>
              <a:t> strategies</a:t>
            </a:r>
          </a:p>
        </p:txBody>
      </p:sp>
    </p:spTree>
    <p:extLst>
      <p:ext uri="{BB962C8B-B14F-4D97-AF65-F5344CB8AC3E}">
        <p14:creationId xmlns:p14="http://schemas.microsoft.com/office/powerpoint/2010/main" val="3303353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647EE-102C-339C-6C61-81FD9622688B}"/>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3.1 Zero-Shot </a:t>
            </a:r>
            <a:r>
              <a:rPr lang="en-US" sz="4000">
                <a:solidFill>
                  <a:srgbClr val="FFFFFF"/>
                </a:solidFill>
              </a:rPr>
              <a:t>CoT</a:t>
            </a:r>
            <a:r>
              <a:rPr lang="en-US" sz="4000" dirty="0">
                <a:solidFill>
                  <a:srgbClr val="FFFFFF"/>
                </a:solidFill>
              </a:rPr>
              <a:t> Example</a:t>
            </a:r>
            <a:r>
              <a:rPr lang="en-US" sz="4000" baseline="30000" dirty="0">
                <a:solidFill>
                  <a:srgbClr val="FFFFFF"/>
                </a:solidFill>
                <a:hlinkClick r:id="rId2"/>
              </a:rPr>
              <a:t>1</a:t>
            </a:r>
            <a:br>
              <a:rPr lang="en-US" sz="4000" baseline="30000" dirty="0">
                <a:solidFill>
                  <a:srgbClr val="FFFFFF"/>
                </a:solidFill>
              </a:rPr>
            </a:br>
            <a:r>
              <a:rPr lang="en-US" sz="4000" dirty="0">
                <a:solidFill>
                  <a:srgbClr val="FFFFFF"/>
                </a:solidFill>
              </a:rPr>
              <a:t> </a:t>
            </a:r>
          </a:p>
        </p:txBody>
      </p:sp>
      <p:sp>
        <p:nvSpPr>
          <p:cNvPr id="3" name="Content Placeholder 2">
            <a:extLst>
              <a:ext uri="{FF2B5EF4-FFF2-40B4-BE49-F238E27FC236}">
                <a16:creationId xmlns:a16="http://schemas.microsoft.com/office/drawing/2014/main" id="{A4BE5B8A-5F41-8E5E-8CA3-096FF03B4E67}"/>
              </a:ext>
            </a:extLst>
          </p:cNvPr>
          <p:cNvSpPr>
            <a:spLocks noGrp="1"/>
          </p:cNvSpPr>
          <p:nvPr>
            <p:ph idx="1"/>
          </p:nvPr>
        </p:nvSpPr>
        <p:spPr>
          <a:xfrm>
            <a:off x="4810259" y="649480"/>
            <a:ext cx="6555347" cy="5546047"/>
          </a:xfrm>
        </p:spPr>
        <p:txBody>
          <a:bodyPr anchor="ctr">
            <a:normAutofit/>
          </a:bodyPr>
          <a:lstStyle/>
          <a:p>
            <a:pPr marL="0" indent="0">
              <a:buNone/>
            </a:pPr>
            <a:r>
              <a:rPr lang="en-US" sz="1900"/>
              <a:t>“You are a researcher rigorously screening titles and abstracts of scientific papers for inclusion or exclusion in a review paper. Use the criteria below to inform your decision. If any exclusion criteria are met or not all inclusion criteria are met, exclude the article. If all inclusion criteria are met, include the article.</a:t>
            </a:r>
          </a:p>
          <a:p>
            <a:pPr marL="0" indent="0">
              <a:buNone/>
            </a:pPr>
            <a:r>
              <a:rPr lang="en-US" sz="1900"/>
              <a:t>{Inclusion criteria}</a:t>
            </a:r>
          </a:p>
          <a:p>
            <a:pPr marL="0" indent="0">
              <a:buNone/>
            </a:pPr>
            <a:r>
              <a:rPr lang="en-US" sz="1900"/>
              <a:t>{Exclusion Criteria}</a:t>
            </a:r>
          </a:p>
          <a:p>
            <a:pPr marL="0" indent="0">
              <a:buNone/>
            </a:pPr>
            <a:r>
              <a:rPr lang="en-US" sz="1900"/>
              <a:t>{Abstract in investigation}</a:t>
            </a:r>
          </a:p>
          <a:p>
            <a:pPr marL="0" indent="0">
              <a:buNone/>
            </a:pPr>
            <a:r>
              <a:rPr lang="en-US" sz="1900"/>
              <a:t>{Instructions}</a:t>
            </a:r>
          </a:p>
          <a:p>
            <a:pPr marL="0" indent="0">
              <a:buNone/>
            </a:pPr>
            <a:r>
              <a:rPr lang="en-US" sz="1900" u="sng"/>
              <a:t>Let’s think step by step for why an article should be included</a:t>
            </a:r>
          </a:p>
          <a:p>
            <a:pPr marL="0" indent="0">
              <a:buNone/>
            </a:pPr>
            <a:r>
              <a:rPr lang="en-US" sz="1900" u="sng"/>
              <a:t>or excluded.</a:t>
            </a:r>
          </a:p>
          <a:p>
            <a:pPr marL="0" indent="0">
              <a:buNone/>
            </a:pPr>
            <a:r>
              <a:rPr lang="en-US" sz="1900"/>
              <a:t>We will conclude by outputting (on the very last line)</a:t>
            </a:r>
          </a:p>
          <a:p>
            <a:pPr marL="0" indent="0">
              <a:buNone/>
            </a:pPr>
            <a:r>
              <a:rPr lang="en-US" sz="1900"/>
              <a:t>'XXX' if the paper warrants exclusion, or 'YYY' if inclusion is advised or uncertainty persists. We must output either 'XXX' or 'YYY’.”</a:t>
            </a:r>
          </a:p>
        </p:txBody>
      </p:sp>
    </p:spTree>
    <p:extLst>
      <p:ext uri="{BB962C8B-B14F-4D97-AF65-F5344CB8AC3E}">
        <p14:creationId xmlns:p14="http://schemas.microsoft.com/office/powerpoint/2010/main" val="1370116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EED114-24B5-1364-92CC-0D268B6B2F1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3.2 Framework CoT</a:t>
            </a:r>
            <a:r>
              <a:rPr lang="en-US" sz="4000" baseline="30000">
                <a:solidFill>
                  <a:srgbClr val="FFFFFF"/>
                </a:solidFill>
                <a:hlinkClick r:id="rId2"/>
              </a:rPr>
              <a:t>1</a:t>
            </a:r>
            <a:r>
              <a:rPr lang="en-US" sz="4000">
                <a:solidFill>
                  <a:srgbClr val="FFFFFF"/>
                </a:solidFill>
              </a:rPr>
              <a:t> </a:t>
            </a:r>
          </a:p>
        </p:txBody>
      </p:sp>
      <p:sp>
        <p:nvSpPr>
          <p:cNvPr id="3" name="Content Placeholder 2">
            <a:extLst>
              <a:ext uri="{FF2B5EF4-FFF2-40B4-BE49-F238E27FC236}">
                <a16:creationId xmlns:a16="http://schemas.microsoft.com/office/drawing/2014/main" id="{A2FB0E8F-F0DE-F800-D586-AB0FC27E1E2D}"/>
              </a:ext>
            </a:extLst>
          </p:cNvPr>
          <p:cNvSpPr>
            <a:spLocks noGrp="1"/>
          </p:cNvSpPr>
          <p:nvPr>
            <p:ph idx="1"/>
          </p:nvPr>
        </p:nvSpPr>
        <p:spPr>
          <a:xfrm>
            <a:off x="4810259" y="649480"/>
            <a:ext cx="6555347" cy="5546047"/>
          </a:xfrm>
        </p:spPr>
        <p:txBody>
          <a:bodyPr anchor="ctr">
            <a:normAutofit/>
          </a:bodyPr>
          <a:lstStyle/>
          <a:p>
            <a:pPr marL="0" indent="0">
              <a:buNone/>
            </a:pPr>
            <a:r>
              <a:rPr lang="en-US" sz="2000" dirty="0"/>
              <a:t>• Asks the model to explain its reasoning for including an article.</a:t>
            </a:r>
            <a:br>
              <a:rPr lang="en-US" sz="2000" dirty="0"/>
            </a:br>
            <a:r>
              <a:rPr lang="en-US" sz="2000" dirty="0"/>
              <a:t>• Can be applied in zero-shot or few-shot settings.</a:t>
            </a:r>
            <a:br>
              <a:rPr lang="en-US" sz="2000" dirty="0"/>
            </a:br>
            <a:r>
              <a:rPr lang="en-US" sz="2000" dirty="0"/>
              <a:t>• Encourages transparency and helps identify potential misclassifications.</a:t>
            </a:r>
          </a:p>
        </p:txBody>
      </p:sp>
    </p:spTree>
    <p:extLst>
      <p:ext uri="{BB962C8B-B14F-4D97-AF65-F5344CB8AC3E}">
        <p14:creationId xmlns:p14="http://schemas.microsoft.com/office/powerpoint/2010/main" val="303084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C50CF1-6307-4906-A20C-16203B1066AD}"/>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Example of Zero-Shot Framework</a:t>
            </a:r>
            <a:br>
              <a:rPr lang="en-US" sz="4000">
                <a:solidFill>
                  <a:srgbClr val="FFFFFF"/>
                </a:solidFill>
              </a:rPr>
            </a:br>
            <a:r>
              <a:rPr lang="en-US" sz="4000">
                <a:solidFill>
                  <a:srgbClr val="FFFFFF"/>
                </a:solidFill>
              </a:rPr>
              <a:t>CoT </a:t>
            </a:r>
            <a:r>
              <a:rPr lang="en-US" sz="4000" baseline="30000">
                <a:solidFill>
                  <a:srgbClr val="FFFFFF"/>
                </a:solidFill>
                <a:hlinkClick r:id="rId2"/>
              </a:rPr>
              <a:t>1</a:t>
            </a:r>
            <a:br>
              <a:rPr lang="en-US" sz="4000" baseline="30000">
                <a:solidFill>
                  <a:srgbClr val="FFFFFF"/>
                </a:solidFill>
              </a:rPr>
            </a:br>
            <a:endParaRPr lang="en-US" sz="4000">
              <a:solidFill>
                <a:srgbClr val="FFFFFF"/>
              </a:solidFill>
            </a:endParaRPr>
          </a:p>
        </p:txBody>
      </p:sp>
      <p:sp>
        <p:nvSpPr>
          <p:cNvPr id="3" name="Content Placeholder 2">
            <a:extLst>
              <a:ext uri="{FF2B5EF4-FFF2-40B4-BE49-F238E27FC236}">
                <a16:creationId xmlns:a16="http://schemas.microsoft.com/office/drawing/2014/main" id="{311851DE-608F-6FCA-5102-D4DEBD196589}"/>
              </a:ext>
            </a:extLst>
          </p:cNvPr>
          <p:cNvSpPr>
            <a:spLocks noGrp="1"/>
          </p:cNvSpPr>
          <p:nvPr>
            <p:ph idx="1"/>
          </p:nvPr>
        </p:nvSpPr>
        <p:spPr>
          <a:xfrm>
            <a:off x="4810259" y="649480"/>
            <a:ext cx="6555347" cy="5546047"/>
          </a:xfrm>
        </p:spPr>
        <p:txBody>
          <a:bodyPr anchor="ctr">
            <a:normAutofit/>
          </a:bodyPr>
          <a:lstStyle/>
          <a:p>
            <a:pPr marL="0" indent="0">
              <a:buNone/>
            </a:pPr>
            <a:r>
              <a:rPr lang="en-US" sz="1300" dirty="0"/>
              <a:t>“The following is an excerpt of two sets of criteria. A study is</a:t>
            </a:r>
          </a:p>
          <a:p>
            <a:pPr marL="0" indent="0">
              <a:buNone/>
            </a:pPr>
            <a:r>
              <a:rPr lang="en-US" sz="1300" dirty="0"/>
              <a:t>considered included if it meets all the inclusion criteria. If a study</a:t>
            </a:r>
          </a:p>
          <a:p>
            <a:pPr marL="0" indent="0">
              <a:buNone/>
            </a:pPr>
            <a:r>
              <a:rPr lang="en-US" sz="1300" dirty="0"/>
              <a:t>meets any of the exclusion criteria, it should be excluded. Here are</a:t>
            </a:r>
          </a:p>
          <a:p>
            <a:pPr marL="0" indent="0">
              <a:buNone/>
            </a:pPr>
            <a:r>
              <a:rPr lang="en-US" sz="1300" dirty="0"/>
              <a:t>the two sets of criteria:</a:t>
            </a:r>
          </a:p>
          <a:p>
            <a:pPr marL="0" indent="0">
              <a:buNone/>
            </a:pPr>
            <a:r>
              <a:rPr lang="en-US" sz="1300" dirty="0"/>
              <a:t>{Inclusion criteria}</a:t>
            </a:r>
          </a:p>
          <a:p>
            <a:pPr marL="0" indent="0">
              <a:buNone/>
            </a:pPr>
            <a:r>
              <a:rPr lang="en-US" sz="1300" dirty="0"/>
              <a:t>{Exclusion Criteria}</a:t>
            </a:r>
          </a:p>
          <a:p>
            <a:pPr marL="0" indent="0">
              <a:buNone/>
            </a:pPr>
            <a:r>
              <a:rPr lang="en-US" sz="1300" dirty="0"/>
              <a:t>{Abstract in investigation}</a:t>
            </a:r>
          </a:p>
          <a:p>
            <a:pPr marL="0" indent="0">
              <a:buNone/>
            </a:pPr>
            <a:r>
              <a:rPr lang="en-US" sz="1300" dirty="0"/>
              <a:t>{Instructions}</a:t>
            </a:r>
          </a:p>
          <a:p>
            <a:pPr marL="0" indent="0">
              <a:buNone/>
            </a:pPr>
            <a:r>
              <a:rPr lang="en-US" sz="1300" dirty="0"/>
              <a:t># Instructions</a:t>
            </a:r>
          </a:p>
          <a:p>
            <a:pPr marL="0" indent="0">
              <a:buNone/>
            </a:pPr>
            <a:r>
              <a:rPr lang="en-US" sz="1300" dirty="0"/>
              <a:t>We now assess whether the paper should be included from the systematic review by evaluating it against each and every</a:t>
            </a:r>
          </a:p>
          <a:p>
            <a:pPr marL="0" indent="0">
              <a:buNone/>
            </a:pPr>
            <a:r>
              <a:rPr lang="en-US" sz="1300" dirty="0"/>
              <a:t>predefined inclusion and exclusion criterion. First, we will</a:t>
            </a:r>
          </a:p>
          <a:p>
            <a:pPr marL="0" indent="0">
              <a:buNone/>
            </a:pPr>
            <a:r>
              <a:rPr lang="en-US" sz="1300" dirty="0"/>
              <a:t>reflect on how we will decide whether a paper should be</a:t>
            </a:r>
          </a:p>
          <a:p>
            <a:pPr marL="0" indent="0">
              <a:buNone/>
            </a:pPr>
            <a:r>
              <a:rPr lang="en-US" sz="1300" dirty="0"/>
              <a:t>included or excluded. Then, we will think step by step for each</a:t>
            </a:r>
          </a:p>
          <a:p>
            <a:pPr marL="0" indent="0">
              <a:buNone/>
            </a:pPr>
            <a:r>
              <a:rPr lang="en-US" sz="1300" dirty="0"/>
              <a:t>criteria, giving reasons for why they are met or not met.</a:t>
            </a:r>
          </a:p>
          <a:p>
            <a:pPr marL="0" indent="0">
              <a:buNone/>
            </a:pPr>
            <a:r>
              <a:rPr lang="en-US" sz="1300" dirty="0"/>
              <a:t>We will conclude by outputting (on the very last line) 'XXX' if the</a:t>
            </a:r>
          </a:p>
          <a:p>
            <a:pPr marL="0" indent="0">
              <a:buNone/>
            </a:pPr>
            <a:r>
              <a:rPr lang="en-US" sz="1300" dirty="0"/>
              <a:t>paper warrants exclusion, or 'YYY' if inclusion is advised or</a:t>
            </a:r>
          </a:p>
          <a:p>
            <a:pPr marL="0" indent="0">
              <a:buNone/>
            </a:pPr>
            <a:r>
              <a:rPr lang="en-US" sz="1300" dirty="0"/>
              <a:t>uncertainty persists. We must output either 'XXX' or 'YYY’.”</a:t>
            </a:r>
          </a:p>
        </p:txBody>
      </p:sp>
    </p:spTree>
    <p:extLst>
      <p:ext uri="{BB962C8B-B14F-4D97-AF65-F5344CB8AC3E}">
        <p14:creationId xmlns:p14="http://schemas.microsoft.com/office/powerpoint/2010/main" val="2449924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115192-7B70-9EA9-B7BC-FF0030CEF7B5}"/>
              </a:ext>
            </a:extLst>
          </p:cNvPr>
          <p:cNvSpPr>
            <a:spLocks noGrp="1"/>
          </p:cNvSpPr>
          <p:nvPr>
            <p:ph type="title"/>
          </p:nvPr>
        </p:nvSpPr>
        <p:spPr>
          <a:xfrm>
            <a:off x="1156851" y="637762"/>
            <a:ext cx="9888496" cy="900131"/>
          </a:xfrm>
        </p:spPr>
        <p:txBody>
          <a:bodyPr anchor="t">
            <a:normAutofit/>
          </a:bodyPr>
          <a:lstStyle/>
          <a:p>
            <a:r>
              <a:rPr lang="en-US" sz="2800">
                <a:solidFill>
                  <a:schemeClr val="bg1"/>
                </a:solidFill>
              </a:rPr>
              <a:t>4. </a:t>
            </a:r>
            <a:r>
              <a:rPr lang="en-US" sz="2800" b="1">
                <a:solidFill>
                  <a:schemeClr val="bg1"/>
                </a:solidFill>
              </a:rPr>
              <a:t>Hybrid Approach</a:t>
            </a:r>
            <a:br>
              <a:rPr lang="en-US" sz="2800">
                <a:solidFill>
                  <a:schemeClr val="bg1"/>
                </a:solidFill>
              </a:rPr>
            </a:br>
            <a:endParaRPr lang="en-US" sz="2800">
              <a:solidFill>
                <a:schemeClr val="bg1"/>
              </a:solidFill>
            </a:endParaRPr>
          </a:p>
        </p:txBody>
      </p:sp>
      <p:sp>
        <p:nvSpPr>
          <p:cNvPr id="27" name="Rectangle 26">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719629-A4DC-55CA-0411-EFE00309EFE6}"/>
              </a:ext>
            </a:extLst>
          </p:cNvPr>
          <p:cNvSpPr>
            <a:spLocks noGrp="1"/>
          </p:cNvSpPr>
          <p:nvPr>
            <p:ph idx="1"/>
          </p:nvPr>
        </p:nvSpPr>
        <p:spPr>
          <a:xfrm>
            <a:off x="1155548" y="2217343"/>
            <a:ext cx="9880893" cy="3959619"/>
          </a:xfrm>
        </p:spPr>
        <p:txBody>
          <a:bodyPr>
            <a:normAutofit/>
          </a:bodyPr>
          <a:lstStyle/>
          <a:p>
            <a:r>
              <a:rPr lang="en-US" sz="2400" b="1"/>
              <a:t>Zero-Shot + Traditional ML Models</a:t>
            </a:r>
            <a:br>
              <a:rPr lang="en-US" sz="2400"/>
            </a:br>
            <a:r>
              <a:rPr lang="en-US" sz="2400"/>
              <a:t>• </a:t>
            </a:r>
            <a:r>
              <a:rPr lang="en-US" sz="2400" b="1"/>
              <a:t>Approach:</a:t>
            </a:r>
            <a:r>
              <a:rPr lang="en-US" sz="2400"/>
              <a:t> Combine zero-shot classification with classical ML (e.g., SVM, RF).</a:t>
            </a:r>
            <a:br>
              <a:rPr lang="en-US" sz="2400"/>
            </a:br>
            <a:r>
              <a:rPr lang="en-US" sz="2400"/>
              <a:t>• </a:t>
            </a:r>
            <a:r>
              <a:rPr lang="en-US" sz="2400" b="1"/>
              <a:t>Example Workflow:</a:t>
            </a:r>
            <a:br>
              <a:rPr lang="en-US" sz="2400"/>
            </a:br>
            <a:r>
              <a:rPr lang="en-US" sz="2400"/>
              <a:t> 1. Use zero-shot to identify “positive” abstracts (e.g., top 10%).</a:t>
            </a:r>
            <a:br>
              <a:rPr lang="en-US" sz="2400"/>
            </a:br>
            <a:r>
              <a:rPr lang="en-US" sz="2400"/>
              <a:t> 2. Train a classifier (e.g., SVM) on text embeddings of those abstracts with corrected labels.</a:t>
            </a:r>
            <a:br>
              <a:rPr lang="en-US" sz="2400"/>
            </a:br>
            <a:r>
              <a:rPr lang="en-US" sz="2400"/>
              <a:t> 3. Apply the trained model to predict classes for the remaining abstracts.</a:t>
            </a:r>
            <a:br>
              <a:rPr lang="en-US" sz="2400"/>
            </a:br>
            <a:r>
              <a:rPr lang="en-US" sz="2400"/>
              <a:t>• </a:t>
            </a:r>
            <a:r>
              <a:rPr lang="en-US" sz="2400" b="1"/>
              <a:t>Resource:</a:t>
            </a:r>
            <a:r>
              <a:rPr lang="en-US" sz="2400"/>
              <a:t> </a:t>
            </a:r>
            <a:r>
              <a:rPr lang="en-US" sz="2400">
                <a:hlinkClick r:id="rId2"/>
              </a:rPr>
              <a:t>Code example on GitHub</a:t>
            </a:r>
            <a:endParaRPr lang="en-US" sz="2400"/>
          </a:p>
        </p:txBody>
      </p:sp>
    </p:spTree>
    <p:extLst>
      <p:ext uri="{BB962C8B-B14F-4D97-AF65-F5344CB8AC3E}">
        <p14:creationId xmlns:p14="http://schemas.microsoft.com/office/powerpoint/2010/main" val="3085289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D20E2C-5A46-0A97-F773-FF4ABDA3EC83}"/>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5. Majority Voting</a:t>
            </a:r>
          </a:p>
        </p:txBody>
      </p:sp>
      <p:sp>
        <p:nvSpPr>
          <p:cNvPr id="27" name="Rectangle 26">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9CABC8-9E11-B169-00DA-E60748734702}"/>
              </a:ext>
            </a:extLst>
          </p:cNvPr>
          <p:cNvSpPr>
            <a:spLocks noGrp="1"/>
          </p:cNvSpPr>
          <p:nvPr>
            <p:ph idx="1"/>
          </p:nvPr>
        </p:nvSpPr>
        <p:spPr>
          <a:xfrm>
            <a:off x="1155549" y="2217343"/>
            <a:ext cx="4940452" cy="3959619"/>
          </a:xfrm>
        </p:spPr>
        <p:txBody>
          <a:bodyPr>
            <a:normAutofit fontScale="85000" lnSpcReduction="10000"/>
          </a:bodyPr>
          <a:lstStyle/>
          <a:p>
            <a:pPr marL="234950" indent="-223838">
              <a:buNone/>
            </a:pPr>
            <a:r>
              <a:rPr lang="en-US" sz="2400" dirty="0"/>
              <a:t>• </a:t>
            </a:r>
            <a:r>
              <a:rPr lang="en-US" sz="2400" b="1" dirty="0"/>
              <a:t>Majority Voting:</a:t>
            </a:r>
            <a:r>
              <a:rPr lang="en-US" sz="2400" dirty="0"/>
              <a:t> Run the same LLM multiple times with    identical prompts or use multiple prompts within the same model, then combine results.</a:t>
            </a:r>
          </a:p>
          <a:p>
            <a:r>
              <a:rPr lang="en-US" sz="2400" dirty="0"/>
              <a:t>Research shows performance improves mainly when combining outputs from </a:t>
            </a:r>
            <a:r>
              <a:rPr lang="en-US" sz="2400" b="1" dirty="0"/>
              <a:t>different models</a:t>
            </a:r>
            <a:r>
              <a:rPr lang="en-US" sz="2400" dirty="0"/>
              <a:t>, not just varied prompts within one model.</a:t>
            </a:r>
          </a:p>
          <a:p>
            <a:pPr marL="234950" indent="-223838">
              <a:buNone/>
            </a:pPr>
            <a:r>
              <a:rPr lang="en-US" sz="2400" dirty="0"/>
              <a:t>• </a:t>
            </a:r>
            <a:r>
              <a:rPr lang="en-US" sz="2400" b="1" dirty="0"/>
              <a:t>Latent Class Analysis (LCA): </a:t>
            </a:r>
            <a:r>
              <a:rPr lang="en-US" sz="2400" dirty="0"/>
              <a:t>A statistical approach to   identify hidden (latent) subgroups.</a:t>
            </a:r>
          </a:p>
          <a:p>
            <a:r>
              <a:rPr lang="en-US" sz="2400" dirty="0"/>
              <a:t>In abstract screening, LCA can integrate decisions from multiple LLMs without relying on a single “gold standard.”</a:t>
            </a:r>
          </a:p>
        </p:txBody>
      </p:sp>
      <p:pic>
        <p:nvPicPr>
          <p:cNvPr id="7" name="Picture 2" descr="Research Techniques Made Simple: Latent Class Analysis - ScienceDirect">
            <a:extLst>
              <a:ext uri="{FF2B5EF4-FFF2-40B4-BE49-F238E27FC236}">
                <a16:creationId xmlns:a16="http://schemas.microsoft.com/office/drawing/2014/main" id="{C48EA6A1-01E5-BFCE-33A6-B64AC7A827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8417" y="2181360"/>
            <a:ext cx="5294310" cy="343566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FA9EDA5-D759-A487-5E57-30A3EFD42619}"/>
              </a:ext>
            </a:extLst>
          </p:cNvPr>
          <p:cNvSpPr txBox="1"/>
          <p:nvPr/>
        </p:nvSpPr>
        <p:spPr>
          <a:xfrm>
            <a:off x="6428417" y="5868044"/>
            <a:ext cx="3796606" cy="246221"/>
          </a:xfrm>
          <a:prstGeom prst="rect">
            <a:avLst/>
          </a:prstGeom>
          <a:noFill/>
        </p:spPr>
        <p:txBody>
          <a:bodyPr wrap="square" rtlCol="0">
            <a:spAutoFit/>
          </a:bodyPr>
          <a:lstStyle/>
          <a:p>
            <a:r>
              <a:rPr lang="en-US" sz="1000" dirty="0"/>
              <a:t>Citation: </a:t>
            </a:r>
            <a:r>
              <a:rPr lang="en-US" sz="1000" dirty="0">
                <a:hlinkClick r:id="rId4"/>
              </a:rPr>
              <a:t>Naldi</a:t>
            </a:r>
            <a:r>
              <a:rPr lang="en-US" sz="1000" dirty="0"/>
              <a:t>&amp; </a:t>
            </a:r>
            <a:r>
              <a:rPr lang="en-US" sz="1000" dirty="0">
                <a:hlinkClick r:id="rId5"/>
              </a:rPr>
              <a:t>Cazzaniga</a:t>
            </a:r>
            <a:r>
              <a:rPr lang="en-US" sz="1000" dirty="0"/>
              <a:t>, 2020</a:t>
            </a:r>
          </a:p>
        </p:txBody>
      </p:sp>
    </p:spTree>
    <p:extLst>
      <p:ext uri="{BB962C8B-B14F-4D97-AF65-F5344CB8AC3E}">
        <p14:creationId xmlns:p14="http://schemas.microsoft.com/office/powerpoint/2010/main" val="280623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FE98CD-12DA-C5E5-9E3C-B7AA61B6FAC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Example: LCA with Bannach-Brown 2016 Database (BB2016)</a:t>
            </a:r>
          </a:p>
        </p:txBody>
      </p:sp>
      <p:sp>
        <p:nvSpPr>
          <p:cNvPr id="3" name="Content Placeholder 2">
            <a:extLst>
              <a:ext uri="{FF2B5EF4-FFF2-40B4-BE49-F238E27FC236}">
                <a16:creationId xmlns:a16="http://schemas.microsoft.com/office/drawing/2014/main" id="{6EB0510D-6B67-78E2-0CB3-4A44BA1DD996}"/>
              </a:ext>
            </a:extLst>
          </p:cNvPr>
          <p:cNvSpPr>
            <a:spLocks noGrp="1"/>
          </p:cNvSpPr>
          <p:nvPr>
            <p:ph idx="1"/>
          </p:nvPr>
        </p:nvSpPr>
        <p:spPr>
          <a:xfrm>
            <a:off x="4698858" y="60958"/>
            <a:ext cx="6555347" cy="5546047"/>
          </a:xfrm>
        </p:spPr>
        <p:txBody>
          <a:bodyPr anchor="ctr">
            <a:normAutofit/>
          </a:bodyPr>
          <a:lstStyle/>
          <a:p>
            <a:pPr marL="0" indent="0">
              <a:buNone/>
            </a:pPr>
            <a:r>
              <a:rPr lang="en-US" sz="2000" dirty="0"/>
              <a:t>• </a:t>
            </a:r>
            <a:r>
              <a:rPr lang="en-US" sz="2000" b="1" dirty="0"/>
              <a:t>Setup:</a:t>
            </a:r>
            <a:r>
              <a:rPr lang="en-US" sz="2000" dirty="0"/>
              <a:t> Eight criteria total — four inclusion, four exclusion, plus one overall inclusion decision → nine binary items per LLM tool.</a:t>
            </a:r>
            <a:br>
              <a:rPr lang="en-US" sz="2000" dirty="0"/>
            </a:br>
            <a:r>
              <a:rPr lang="en-US" sz="2000" dirty="0"/>
              <a:t>• </a:t>
            </a:r>
            <a:r>
              <a:rPr lang="en-US" sz="2000" b="1" dirty="0"/>
              <a:t>Model Fitting:</a:t>
            </a:r>
            <a:r>
              <a:rPr lang="en-US" sz="2000" dirty="0"/>
              <a:t> LCA calculates posterior probabilities of each abstract belonging to latent classes.</a:t>
            </a:r>
            <a:br>
              <a:rPr lang="en-US" sz="2000" dirty="0"/>
            </a:br>
            <a:r>
              <a:rPr lang="en-US" sz="2000" dirty="0"/>
              <a:t>• </a:t>
            </a:r>
            <a:r>
              <a:rPr lang="en-US" sz="2000" b="1" dirty="0"/>
              <a:t>Classification:</a:t>
            </a:r>
            <a:r>
              <a:rPr lang="en-US" sz="2000" dirty="0"/>
              <a:t> Each abstract is assigned to the class with the highest posterior probability.</a:t>
            </a:r>
            <a:br>
              <a:rPr lang="en-US" sz="2000" dirty="0"/>
            </a:br>
            <a:r>
              <a:rPr lang="en-US" sz="2000" dirty="0"/>
              <a:t>• </a:t>
            </a:r>
            <a:r>
              <a:rPr lang="en-US" sz="2000" b="1" dirty="0"/>
              <a:t>Key Step:</a:t>
            </a:r>
            <a:r>
              <a:rPr lang="en-US" sz="2000" dirty="0"/>
              <a:t> The number of latent classes must be specified </a:t>
            </a:r>
            <a:r>
              <a:rPr lang="en-US" sz="2000" i="1" dirty="0"/>
              <a:t>a priori</a:t>
            </a:r>
            <a:r>
              <a:rPr lang="en-US" sz="2000" dirty="0"/>
              <a:t> before fitting the model</a:t>
            </a:r>
          </a:p>
        </p:txBody>
      </p:sp>
    </p:spTree>
    <p:extLst>
      <p:ext uri="{BB962C8B-B14F-4D97-AF65-F5344CB8AC3E}">
        <p14:creationId xmlns:p14="http://schemas.microsoft.com/office/powerpoint/2010/main" val="1628904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30DBE-A330-85A2-C7D1-A9125138922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Model and Data Utilization</a:t>
            </a:r>
          </a:p>
        </p:txBody>
      </p:sp>
      <p:sp>
        <p:nvSpPr>
          <p:cNvPr id="19" name="Rectangle 18">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17B68C3-8820-8DED-7D53-66FFBF7B0C01}"/>
              </a:ext>
            </a:extLst>
          </p:cNvPr>
          <p:cNvSpPr>
            <a:spLocks noGrp="1"/>
          </p:cNvSpPr>
          <p:nvPr>
            <p:ph idx="1"/>
          </p:nvPr>
        </p:nvSpPr>
        <p:spPr>
          <a:xfrm>
            <a:off x="1155548" y="2217343"/>
            <a:ext cx="9880893" cy="3959619"/>
          </a:xfrm>
        </p:spPr>
        <p:txBody>
          <a:bodyPr>
            <a:normAutofit/>
          </a:bodyPr>
          <a:lstStyle/>
          <a:p>
            <a:pPr marL="0" indent="0">
              <a:buNone/>
            </a:pPr>
            <a:r>
              <a:rPr lang="en-US" sz="2400" dirty="0"/>
              <a:t>Data sizes in studies range from ~500 to 100,000+ articles. There are several patterns of model utilization:</a:t>
            </a:r>
          </a:p>
          <a:p>
            <a:pPr marL="514350" indent="-514350">
              <a:buAutoNum type="arabicPeriod"/>
            </a:pPr>
            <a:r>
              <a:rPr lang="en-US" sz="2400" dirty="0"/>
              <a:t>Use a single model across different prompt designs for comparison.</a:t>
            </a:r>
          </a:p>
          <a:p>
            <a:pPr marL="514350" indent="-514350">
              <a:buAutoNum type="arabicPeriod"/>
            </a:pPr>
            <a:r>
              <a:rPr lang="en-US" sz="2400" dirty="0"/>
              <a:t>Use different models across one prompt design</a:t>
            </a:r>
          </a:p>
          <a:p>
            <a:pPr marL="514350" indent="-514350">
              <a:buAutoNum type="arabicPeriod"/>
            </a:pPr>
            <a:r>
              <a:rPr lang="en-US" sz="2400" dirty="0"/>
              <a:t>Use different models across different prompt designs (rare; time consuming)</a:t>
            </a:r>
          </a:p>
          <a:p>
            <a:pPr marL="514350" indent="-514350">
              <a:buAutoNum type="arabicPeriod"/>
            </a:pPr>
            <a:r>
              <a:rPr lang="en-US" sz="2400" dirty="0"/>
              <a:t>Leverage ChatGPT’s conversational memory to refine prompts and improve performance over multiple iterations</a:t>
            </a:r>
            <a:r>
              <a:rPr lang="en-US" sz="2400" baseline="30000" dirty="0">
                <a:hlinkClick r:id="rId2"/>
              </a:rPr>
              <a:t>7</a:t>
            </a:r>
            <a:r>
              <a:rPr lang="en-US" sz="2400" dirty="0"/>
              <a:t>. (time consuming; biased or improved learning by conversation histories)</a:t>
            </a:r>
          </a:p>
          <a:p>
            <a:pPr marL="0" indent="0">
              <a:buNone/>
            </a:pPr>
            <a:endParaRPr lang="en-US" sz="2400" dirty="0"/>
          </a:p>
        </p:txBody>
      </p:sp>
    </p:spTree>
    <p:extLst>
      <p:ext uri="{BB962C8B-B14F-4D97-AF65-F5344CB8AC3E}">
        <p14:creationId xmlns:p14="http://schemas.microsoft.com/office/powerpoint/2010/main" val="485283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72A32E-D85E-2ABB-8F20-FC418108E385}"/>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Outcome</a:t>
            </a:r>
          </a:p>
        </p:txBody>
      </p:sp>
      <p:graphicFrame>
        <p:nvGraphicFramePr>
          <p:cNvPr id="5" name="Content Placeholder 2">
            <a:extLst>
              <a:ext uri="{FF2B5EF4-FFF2-40B4-BE49-F238E27FC236}">
                <a16:creationId xmlns:a16="http://schemas.microsoft.com/office/drawing/2014/main" id="{72265B53-7637-E5FC-D835-2F720696BC10}"/>
              </a:ext>
            </a:extLst>
          </p:cNvPr>
          <p:cNvGraphicFramePr>
            <a:graphicFrameLocks noGrp="1"/>
          </p:cNvGraphicFramePr>
          <p:nvPr>
            <p:ph idx="1"/>
            <p:extLst>
              <p:ext uri="{D42A27DB-BD31-4B8C-83A1-F6EECF244321}">
                <p14:modId xmlns:p14="http://schemas.microsoft.com/office/powerpoint/2010/main" val="195462036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0705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602F5B-A486-CB17-28ED-7A7390165786}"/>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Model Parameters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ADEC7D-897D-B558-72D5-C7430B7E3181}"/>
              </a:ext>
            </a:extLst>
          </p:cNvPr>
          <p:cNvSpPr>
            <a:spLocks noGrp="1"/>
          </p:cNvSpPr>
          <p:nvPr>
            <p:ph idx="1"/>
          </p:nvPr>
        </p:nvSpPr>
        <p:spPr>
          <a:xfrm>
            <a:off x="1155548" y="2217343"/>
            <a:ext cx="9880893" cy="3959619"/>
          </a:xfrm>
        </p:spPr>
        <p:txBody>
          <a:bodyPr>
            <a:noAutofit/>
          </a:bodyPr>
          <a:lstStyle/>
          <a:p>
            <a:pPr marL="0" indent="0">
              <a:buNone/>
            </a:pPr>
            <a:r>
              <a:rPr lang="en-US" sz="1800" dirty="0"/>
              <a:t>• </a:t>
            </a:r>
            <a:r>
              <a:rPr lang="en-US" sz="1800" b="1" dirty="0"/>
              <a:t>Temperature:</a:t>
            </a:r>
            <a:br>
              <a:rPr lang="en-US" sz="1800" dirty="0"/>
            </a:br>
            <a:r>
              <a:rPr lang="en-US" sz="1800" dirty="0"/>
              <a:t> – 0 = deterministic (recommended for reproducible title/abstract screening)</a:t>
            </a:r>
            <a:br>
              <a:rPr lang="en-US" sz="1800" dirty="0"/>
            </a:br>
            <a:r>
              <a:rPr lang="en-US" sz="1800" dirty="0"/>
              <a:t> – 1 = fully random (less consistent results)</a:t>
            </a:r>
          </a:p>
          <a:p>
            <a:pPr marL="0" indent="0">
              <a:buNone/>
            </a:pPr>
            <a:r>
              <a:rPr lang="en-US" sz="1800" dirty="0"/>
              <a:t>• </a:t>
            </a:r>
            <a:r>
              <a:rPr lang="en-US" sz="1800" b="1" dirty="0"/>
              <a:t>Top-p (Nucleus Sampling):</a:t>
            </a:r>
            <a:br>
              <a:rPr lang="en-US" sz="1800" dirty="0"/>
            </a:br>
            <a:r>
              <a:rPr lang="en-US" sz="1800" dirty="0"/>
              <a:t> – Sets a cumulative probability cutoff for token selection</a:t>
            </a:r>
            <a:br>
              <a:rPr lang="en-US" sz="1800" dirty="0"/>
            </a:br>
            <a:r>
              <a:rPr lang="en-US" sz="1800" dirty="0"/>
              <a:t> – Lower values → model samples from a smaller set of tokens (more focused output)</a:t>
            </a:r>
          </a:p>
          <a:p>
            <a:pPr marL="0" indent="0">
              <a:buNone/>
            </a:pPr>
            <a:r>
              <a:rPr lang="en-US" sz="1800" dirty="0"/>
              <a:t>• </a:t>
            </a:r>
            <a:r>
              <a:rPr lang="en-US" sz="1800" b="1" dirty="0"/>
              <a:t>Top-k:</a:t>
            </a:r>
            <a:br>
              <a:rPr lang="en-US" sz="1800" dirty="0"/>
            </a:br>
            <a:r>
              <a:rPr lang="en-US" sz="1800" dirty="0"/>
              <a:t> – Limits generation to the </a:t>
            </a:r>
            <a:r>
              <a:rPr lang="en-US" sz="1800" i="1" dirty="0"/>
              <a:t>k</a:t>
            </a:r>
            <a:r>
              <a:rPr lang="en-US" sz="1800" dirty="0"/>
              <a:t> most likely tokens</a:t>
            </a:r>
            <a:br>
              <a:rPr lang="en-US" sz="1800" dirty="0"/>
            </a:br>
            <a:r>
              <a:rPr lang="en-US" sz="1800" dirty="0"/>
              <a:t> – Lower </a:t>
            </a:r>
            <a:r>
              <a:rPr lang="en-US" sz="1800" i="1" dirty="0"/>
              <a:t>k</a:t>
            </a:r>
            <a:r>
              <a:rPr lang="en-US" sz="1800" dirty="0"/>
              <a:t> → more deterministic output</a:t>
            </a:r>
          </a:p>
          <a:p>
            <a:pPr marL="0" indent="0">
              <a:buNone/>
            </a:pPr>
            <a:r>
              <a:rPr lang="en-US" sz="1800" dirty="0"/>
              <a:t>• </a:t>
            </a:r>
            <a:r>
              <a:rPr lang="en-US" sz="1800" b="1" dirty="0"/>
              <a:t>Frequency Penalty:</a:t>
            </a:r>
            <a:br>
              <a:rPr lang="en-US" sz="1800" dirty="0"/>
            </a:br>
            <a:r>
              <a:rPr lang="en-US" sz="1800" dirty="0"/>
              <a:t> – Reduces the likelihood of repeating tokens that already appeared</a:t>
            </a:r>
            <a:br>
              <a:rPr lang="en-US" sz="1800" dirty="0"/>
            </a:br>
            <a:r>
              <a:rPr lang="en-US" sz="1800" dirty="0"/>
              <a:t> – 0 = no penalty (tokens generated purely by probability)</a:t>
            </a:r>
          </a:p>
          <a:p>
            <a:pPr marL="0" indent="0">
              <a:buNone/>
            </a:pPr>
            <a:r>
              <a:rPr lang="en-US" sz="1800" dirty="0"/>
              <a:t>• </a:t>
            </a:r>
            <a:r>
              <a:rPr lang="en-US" sz="1800" b="1" dirty="0"/>
              <a:t>Presence Penalty:</a:t>
            </a:r>
            <a:br>
              <a:rPr lang="en-US" sz="1800" dirty="0"/>
            </a:br>
            <a:r>
              <a:rPr lang="en-US" sz="1800" dirty="0"/>
              <a:t> – Reduces likelihood of repeating recently used tokens</a:t>
            </a:r>
            <a:br>
              <a:rPr lang="en-US" sz="1800" dirty="0"/>
            </a:br>
            <a:r>
              <a:rPr lang="en-US" sz="1800" dirty="0"/>
              <a:t> – 0 = no penalty for recency</a:t>
            </a:r>
          </a:p>
          <a:p>
            <a:endParaRPr lang="en-US" sz="1800" dirty="0"/>
          </a:p>
        </p:txBody>
      </p:sp>
    </p:spTree>
    <p:extLst>
      <p:ext uri="{BB962C8B-B14F-4D97-AF65-F5344CB8AC3E}">
        <p14:creationId xmlns:p14="http://schemas.microsoft.com/office/powerpoint/2010/main" val="3459939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FAC739-852F-696D-2066-9D3B5918C100}"/>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Model Parameters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FFF87C-2F19-A3AA-E349-080F54EB89AA}"/>
              </a:ext>
            </a:extLst>
          </p:cNvPr>
          <p:cNvSpPr>
            <a:spLocks noGrp="1"/>
          </p:cNvSpPr>
          <p:nvPr>
            <p:ph idx="1"/>
          </p:nvPr>
        </p:nvSpPr>
        <p:spPr>
          <a:xfrm>
            <a:off x="1155548" y="2217343"/>
            <a:ext cx="9880893" cy="3959619"/>
          </a:xfrm>
        </p:spPr>
        <p:txBody>
          <a:bodyPr>
            <a:normAutofit/>
          </a:bodyPr>
          <a:lstStyle/>
          <a:p>
            <a:r>
              <a:rPr lang="en-US" sz="2400"/>
              <a:t>These parameters can be fine-tuned, but the recommended values are shown below</a:t>
            </a:r>
            <a:r>
              <a:rPr lang="en-US" sz="2400" baseline="30000">
                <a:hlinkClick r:id="rId2"/>
              </a:rPr>
              <a:t>2</a:t>
            </a:r>
            <a:r>
              <a:rPr lang="en-US" sz="2400"/>
              <a:t>: </a:t>
            </a:r>
          </a:p>
          <a:p>
            <a:pPr marL="0" indent="0">
              <a:buNone/>
            </a:pPr>
            <a:endParaRPr lang="en-US" sz="2400"/>
          </a:p>
        </p:txBody>
      </p:sp>
      <p:pic>
        <p:nvPicPr>
          <p:cNvPr id="6" name="Picture 5">
            <a:extLst>
              <a:ext uri="{FF2B5EF4-FFF2-40B4-BE49-F238E27FC236}">
                <a16:creationId xmlns:a16="http://schemas.microsoft.com/office/drawing/2014/main" id="{478E879F-D5DF-F882-16B0-783D0A7C09A7}"/>
              </a:ext>
            </a:extLst>
          </p:cNvPr>
          <p:cNvPicPr>
            <a:picLocks noChangeAspect="1"/>
          </p:cNvPicPr>
          <p:nvPr/>
        </p:nvPicPr>
        <p:blipFill>
          <a:blip r:embed="rId3"/>
          <a:stretch>
            <a:fillRect/>
          </a:stretch>
        </p:blipFill>
        <p:spPr>
          <a:xfrm>
            <a:off x="1155548" y="3013438"/>
            <a:ext cx="10172633" cy="3324390"/>
          </a:xfrm>
          <a:prstGeom prst="rect">
            <a:avLst/>
          </a:prstGeom>
        </p:spPr>
      </p:pic>
    </p:spTree>
    <p:extLst>
      <p:ext uri="{BB962C8B-B14F-4D97-AF65-F5344CB8AC3E}">
        <p14:creationId xmlns:p14="http://schemas.microsoft.com/office/powerpoint/2010/main" val="1167892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50F27E-531E-889D-7B99-CCD6843EF79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Primary Evaluation Metrics</a:t>
            </a:r>
          </a:p>
        </p:txBody>
      </p:sp>
      <p:sp>
        <p:nvSpPr>
          <p:cNvPr id="19" name="Rectangle 18">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3A8C1F-03C0-2BD2-B61A-A38911467BE5}"/>
              </a:ext>
            </a:extLst>
          </p:cNvPr>
          <p:cNvSpPr>
            <a:spLocks noGrp="1"/>
          </p:cNvSpPr>
          <p:nvPr>
            <p:ph idx="1"/>
          </p:nvPr>
        </p:nvSpPr>
        <p:spPr>
          <a:xfrm>
            <a:off x="1155548" y="2217343"/>
            <a:ext cx="9880893" cy="3959619"/>
          </a:xfrm>
        </p:spPr>
        <p:txBody>
          <a:bodyPr>
            <a:normAutofit/>
          </a:bodyPr>
          <a:lstStyle/>
          <a:p>
            <a:pPr marL="0" indent="0">
              <a:buNone/>
            </a:pPr>
            <a:r>
              <a:rPr lang="en-US" sz="2600" dirty="0"/>
              <a:t>• </a:t>
            </a:r>
            <a:r>
              <a:rPr lang="en-US" sz="2600" b="1" dirty="0"/>
              <a:t>Accuracy:</a:t>
            </a:r>
            <a:r>
              <a:rPr lang="en-US" sz="2600" dirty="0"/>
              <a:t> Overall proportion of correct classifications.</a:t>
            </a:r>
            <a:br>
              <a:rPr lang="en-US" sz="2600" dirty="0"/>
            </a:br>
            <a:r>
              <a:rPr lang="en-US" sz="2600" dirty="0"/>
              <a:t>• </a:t>
            </a:r>
            <a:r>
              <a:rPr lang="en-US" sz="2600" b="1" dirty="0"/>
              <a:t>Sensitivity (Recall):</a:t>
            </a:r>
            <a:r>
              <a:rPr lang="en-US" sz="2600" dirty="0"/>
              <a:t> Ability to capture all relevant articles — key to minimizing missed studies.</a:t>
            </a:r>
            <a:br>
              <a:rPr lang="en-US" sz="2600" dirty="0"/>
            </a:br>
            <a:r>
              <a:rPr lang="en-US" sz="2600" dirty="0"/>
              <a:t>• </a:t>
            </a:r>
            <a:r>
              <a:rPr lang="en-US" sz="2600" b="1" dirty="0"/>
              <a:t>Precision:</a:t>
            </a:r>
            <a:r>
              <a:rPr lang="en-US" sz="2600" dirty="0"/>
              <a:t> Proportion of included articles that truly meet criteria.</a:t>
            </a:r>
            <a:br>
              <a:rPr lang="en-US" sz="2600" dirty="0"/>
            </a:br>
            <a:r>
              <a:rPr lang="en-US" sz="2600" dirty="0"/>
              <a:t>• </a:t>
            </a:r>
            <a:r>
              <a:rPr lang="en-US" sz="2600" b="1" dirty="0"/>
              <a:t>Specificity:</a:t>
            </a:r>
            <a:r>
              <a:rPr lang="en-US" sz="2600" dirty="0"/>
              <a:t> Ability to exclude articles that should be excluded.</a:t>
            </a:r>
            <a:br>
              <a:rPr lang="en-US" sz="2600" dirty="0"/>
            </a:br>
            <a:endParaRPr lang="en-US" sz="2600" dirty="0"/>
          </a:p>
        </p:txBody>
      </p:sp>
      <p:sp>
        <p:nvSpPr>
          <p:cNvPr id="4" name="TextBox 3">
            <a:extLst>
              <a:ext uri="{FF2B5EF4-FFF2-40B4-BE49-F238E27FC236}">
                <a16:creationId xmlns:a16="http://schemas.microsoft.com/office/drawing/2014/main" id="{98E9B79E-8E51-A4A7-F87F-53EA51100A42}"/>
              </a:ext>
            </a:extLst>
          </p:cNvPr>
          <p:cNvSpPr txBox="1"/>
          <p:nvPr/>
        </p:nvSpPr>
        <p:spPr>
          <a:xfrm>
            <a:off x="309731" y="4854597"/>
            <a:ext cx="11572526" cy="646331"/>
          </a:xfrm>
          <a:prstGeom prst="rect">
            <a:avLst/>
          </a:prstGeom>
          <a:noFill/>
        </p:spPr>
        <p:txBody>
          <a:bodyPr wrap="square" rtlCol="0">
            <a:spAutoFit/>
          </a:bodyPr>
          <a:lstStyle/>
          <a:p>
            <a:r>
              <a:rPr lang="en-US" b="1" dirty="0"/>
              <a:t>A successful classifier for screening should miss as few relevant articles as possible (maximize recall). It should also save time for reviewers by removing as many irrelevant articles as possible (maximize specificity).</a:t>
            </a:r>
          </a:p>
        </p:txBody>
      </p:sp>
    </p:spTree>
    <p:extLst>
      <p:ext uri="{BB962C8B-B14F-4D97-AF65-F5344CB8AC3E}">
        <p14:creationId xmlns:p14="http://schemas.microsoft.com/office/powerpoint/2010/main" val="3574489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EA3398-A8D5-8B3C-ADAE-18DC5EBA6B29}"/>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Secondary Evaluation Metrics</a:t>
            </a:r>
          </a:p>
        </p:txBody>
      </p:sp>
      <p:sp>
        <p:nvSpPr>
          <p:cNvPr id="15" name="Rectangle 14">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1F1E395-ADED-F464-E21D-2CD96B06BC6C}"/>
              </a:ext>
            </a:extLst>
          </p:cNvPr>
          <p:cNvSpPr>
            <a:spLocks noGrp="1"/>
          </p:cNvSpPr>
          <p:nvPr>
            <p:ph idx="1"/>
          </p:nvPr>
        </p:nvSpPr>
        <p:spPr>
          <a:xfrm>
            <a:off x="1155548" y="2217343"/>
            <a:ext cx="9880893" cy="3959619"/>
          </a:xfrm>
        </p:spPr>
        <p:txBody>
          <a:bodyPr>
            <a:normAutofit/>
          </a:bodyPr>
          <a:lstStyle/>
          <a:p>
            <a:pPr marL="0" indent="0">
              <a:buNone/>
            </a:pPr>
            <a:r>
              <a:rPr lang="en-US" sz="2600" dirty="0"/>
              <a:t>• </a:t>
            </a:r>
            <a:r>
              <a:rPr lang="en-US" sz="2600" b="1" dirty="0"/>
              <a:t>Article Exclusion Rate:</a:t>
            </a:r>
            <a:r>
              <a:rPr lang="en-US" sz="2600" dirty="0"/>
              <a:t> Reported up to 99.5% in prior studies</a:t>
            </a:r>
            <a:r>
              <a:rPr lang="en-US" sz="2600" baseline="30000" dirty="0">
                <a:hlinkClick r:id="rId2"/>
              </a:rPr>
              <a:t>5</a:t>
            </a:r>
            <a:endParaRPr lang="en-US" sz="2600" baseline="30000" dirty="0"/>
          </a:p>
          <a:p>
            <a:r>
              <a:rPr lang="en-US" sz="2600" b="1" dirty="0"/>
              <a:t>False Negative Rate:</a:t>
            </a:r>
            <a:r>
              <a:rPr lang="en-US" sz="2600" dirty="0"/>
              <a:t> Proportion of relevant articles incorrectly excluded.</a:t>
            </a:r>
          </a:p>
          <a:p>
            <a:r>
              <a:rPr lang="en-US" sz="2600" b="1" dirty="0"/>
              <a:t>Positive Predictive Value (PPV):</a:t>
            </a:r>
            <a:r>
              <a:rPr lang="en-US" sz="2600" dirty="0"/>
              <a:t> 25.6% in prior studies — fraction of predicted inclusions that were correct.</a:t>
            </a:r>
            <a:r>
              <a:rPr lang="en-US" sz="2600" baseline="30000" dirty="0">
                <a:hlinkClick r:id="rId2"/>
              </a:rPr>
              <a:t>5</a:t>
            </a:r>
            <a:endParaRPr lang="en-US" sz="2600" dirty="0"/>
          </a:p>
          <a:p>
            <a:r>
              <a:rPr lang="en-US" sz="2600" b="1" dirty="0"/>
              <a:t>Negative Predictive Value (NPV):</a:t>
            </a:r>
            <a:r>
              <a:rPr lang="en-US" sz="2600" dirty="0"/>
              <a:t> Ability to exclude only non-relevant articles — 100% reported in one study.</a:t>
            </a:r>
            <a:r>
              <a:rPr lang="en-US" sz="2600" baseline="30000" dirty="0">
                <a:hlinkClick r:id="rId2"/>
              </a:rPr>
              <a:t>5</a:t>
            </a:r>
            <a:endParaRPr lang="en-US" sz="2600" dirty="0"/>
          </a:p>
          <a:p>
            <a:endParaRPr lang="en-US" sz="2600" dirty="0"/>
          </a:p>
        </p:txBody>
      </p:sp>
    </p:spTree>
    <p:extLst>
      <p:ext uri="{BB962C8B-B14F-4D97-AF65-F5344CB8AC3E}">
        <p14:creationId xmlns:p14="http://schemas.microsoft.com/office/powerpoint/2010/main" val="180867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12191990" cy="235867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71A0EA-B2B5-70E1-6C46-ACB899E0F104}"/>
              </a:ext>
            </a:extLst>
          </p:cNvPr>
          <p:cNvSpPr>
            <a:spLocks noGrp="1"/>
          </p:cNvSpPr>
          <p:nvPr>
            <p:ph type="title"/>
          </p:nvPr>
        </p:nvSpPr>
        <p:spPr>
          <a:xfrm>
            <a:off x="1156851" y="637762"/>
            <a:ext cx="9888496" cy="1520377"/>
          </a:xfrm>
        </p:spPr>
        <p:txBody>
          <a:bodyPr anchor="ctr">
            <a:normAutofit/>
          </a:bodyPr>
          <a:lstStyle/>
          <a:p>
            <a:r>
              <a:rPr lang="en-US" b="1">
                <a:solidFill>
                  <a:schemeClr val="bg1"/>
                </a:solidFill>
              </a:rPr>
              <a:t>What Makes a Successful Classifier</a:t>
            </a:r>
            <a:endParaRPr lang="en-US">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58676"/>
            <a:ext cx="12191990" cy="4545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8936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CDAF11A-FBA2-F853-99FC-35133802AEEB}"/>
              </a:ext>
            </a:extLst>
          </p:cNvPr>
          <p:cNvSpPr>
            <a:spLocks noGrp="1"/>
          </p:cNvSpPr>
          <p:nvPr>
            <p:ph idx="1"/>
          </p:nvPr>
        </p:nvSpPr>
        <p:spPr>
          <a:xfrm>
            <a:off x="1155559" y="3100283"/>
            <a:ext cx="9889788" cy="3076679"/>
          </a:xfrm>
        </p:spPr>
        <p:txBody>
          <a:bodyPr>
            <a:normAutofit/>
          </a:bodyPr>
          <a:lstStyle/>
          <a:p>
            <a:pPr marL="0" indent="0">
              <a:buNone/>
            </a:pPr>
            <a:r>
              <a:rPr lang="en-US" sz="2400" dirty="0"/>
              <a:t>• </a:t>
            </a:r>
            <a:r>
              <a:rPr lang="en-US" sz="2400" b="1" dirty="0"/>
              <a:t>Maximize Recall:</a:t>
            </a:r>
            <a:r>
              <a:rPr lang="en-US" sz="2400" dirty="0"/>
              <a:t> Minimize missed relevant articles.</a:t>
            </a:r>
            <a:br>
              <a:rPr lang="en-US" sz="2400" dirty="0"/>
            </a:br>
            <a:r>
              <a:rPr lang="en-US" sz="2400" dirty="0"/>
              <a:t>• </a:t>
            </a:r>
            <a:r>
              <a:rPr lang="en-US" sz="2400" b="1" dirty="0"/>
              <a:t>Maximize Specificity:</a:t>
            </a:r>
            <a:r>
              <a:rPr lang="en-US" sz="2400" dirty="0"/>
              <a:t> Exclude as many irrelevant articles as possible to save reviewer time.</a:t>
            </a:r>
          </a:p>
        </p:txBody>
      </p:sp>
    </p:spTree>
    <p:extLst>
      <p:ext uri="{BB962C8B-B14F-4D97-AF65-F5344CB8AC3E}">
        <p14:creationId xmlns:p14="http://schemas.microsoft.com/office/powerpoint/2010/main" val="225043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6FAC2F-F5E9-E356-9DA3-DD9C259776B8}"/>
              </a:ext>
            </a:extLst>
          </p:cNvPr>
          <p:cNvSpPr>
            <a:spLocks noGrp="1"/>
          </p:cNvSpPr>
          <p:nvPr>
            <p:ph type="title"/>
          </p:nvPr>
        </p:nvSpPr>
        <p:spPr>
          <a:xfrm>
            <a:off x="1156851" y="637762"/>
            <a:ext cx="9888496" cy="900131"/>
          </a:xfrm>
        </p:spPr>
        <p:txBody>
          <a:bodyPr anchor="t">
            <a:normAutofit/>
          </a:bodyPr>
          <a:lstStyle/>
          <a:p>
            <a:r>
              <a:rPr lang="en-US" sz="4000" dirty="0">
                <a:solidFill>
                  <a:schemeClr val="bg1"/>
                </a:solidFill>
              </a:rPr>
              <a:t>Evaluation Metrics for Class Imbalance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2A63DA6-61C0-B5AC-7A91-BE9D5E71E14B}"/>
              </a:ext>
            </a:extLst>
          </p:cNvPr>
          <p:cNvSpPr>
            <a:spLocks noGrp="1"/>
          </p:cNvSpPr>
          <p:nvPr>
            <p:ph idx="1"/>
          </p:nvPr>
        </p:nvSpPr>
        <p:spPr>
          <a:xfrm>
            <a:off x="577774" y="2207225"/>
            <a:ext cx="5187195" cy="3959619"/>
          </a:xfrm>
        </p:spPr>
        <p:txBody>
          <a:bodyPr>
            <a:normAutofit lnSpcReduction="10000"/>
          </a:bodyPr>
          <a:lstStyle/>
          <a:p>
            <a:r>
              <a:rPr lang="en-US" sz="2400" b="1" dirty="0"/>
              <a:t>Balanced Accuracy (</a:t>
            </a:r>
            <a:r>
              <a:rPr lang="en-US" sz="2400" b="1" dirty="0" err="1"/>
              <a:t>bAcc</a:t>
            </a:r>
            <a:r>
              <a:rPr lang="en-US" sz="2400" b="1" dirty="0"/>
              <a:t>):</a:t>
            </a:r>
            <a:br>
              <a:rPr lang="en-US" sz="2400" dirty="0"/>
            </a:br>
            <a:r>
              <a:rPr lang="en-US" sz="2400" dirty="0"/>
              <a:t> – Accounts for both inclusion and exclusion decisions equally.</a:t>
            </a:r>
            <a:br>
              <a:rPr lang="en-US" sz="2400" dirty="0"/>
            </a:br>
            <a:r>
              <a:rPr lang="en-US" sz="2400" dirty="0"/>
              <a:t> – Better suited than overall accuracy for imbalanced datasets.</a:t>
            </a:r>
          </a:p>
          <a:p>
            <a:r>
              <a:rPr lang="en-US" sz="2400" b="1" dirty="0"/>
              <a:t>Matthews Correlation Coefficient (MCC):</a:t>
            </a:r>
            <a:br>
              <a:rPr lang="en-US" sz="2400" dirty="0"/>
            </a:br>
            <a:r>
              <a:rPr lang="en-US" sz="2400" dirty="0"/>
              <a:t> – Considers true/false positives and negatives in a single metric.</a:t>
            </a:r>
            <a:br>
              <a:rPr lang="en-US" sz="2400" dirty="0"/>
            </a:br>
            <a:r>
              <a:rPr lang="en-US" sz="2400" dirty="0"/>
              <a:t> – Provides a balanced measure of model performance even with severe class imbalance.</a:t>
            </a:r>
          </a:p>
        </p:txBody>
      </p:sp>
      <p:pic>
        <p:nvPicPr>
          <p:cNvPr id="4" name="Content Placeholder 4" descr="A white background with black lines&#10;&#10;AI-generated content may be incorrect.">
            <a:extLst>
              <a:ext uri="{FF2B5EF4-FFF2-40B4-BE49-F238E27FC236}">
                <a16:creationId xmlns:a16="http://schemas.microsoft.com/office/drawing/2014/main" id="{FC8E7D9D-D01D-3F8C-C17D-BDDC2015292D}"/>
              </a:ext>
            </a:extLst>
          </p:cNvPr>
          <p:cNvPicPr>
            <a:picLocks noChangeAspect="1"/>
          </p:cNvPicPr>
          <p:nvPr/>
        </p:nvPicPr>
        <p:blipFill>
          <a:blip r:embed="rId2"/>
          <a:stretch>
            <a:fillRect/>
          </a:stretch>
        </p:blipFill>
        <p:spPr>
          <a:xfrm>
            <a:off x="5800727" y="2422822"/>
            <a:ext cx="5966273" cy="2628149"/>
          </a:xfrm>
          <a:prstGeom prst="rect">
            <a:avLst/>
          </a:prstGeom>
        </p:spPr>
      </p:pic>
    </p:spTree>
    <p:extLst>
      <p:ext uri="{BB962C8B-B14F-4D97-AF65-F5344CB8AC3E}">
        <p14:creationId xmlns:p14="http://schemas.microsoft.com/office/powerpoint/2010/main" val="1080918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76B903-511F-7CA8-B460-CDAA35D8EA97}"/>
              </a:ext>
            </a:extLst>
          </p:cNvPr>
          <p:cNvSpPr>
            <a:spLocks noGrp="1"/>
          </p:cNvSpPr>
          <p:nvPr>
            <p:ph type="title"/>
          </p:nvPr>
        </p:nvSpPr>
        <p:spPr>
          <a:xfrm>
            <a:off x="699713" y="248038"/>
            <a:ext cx="8823110"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Model Performance Comparison (GPT series)</a:t>
            </a:r>
          </a:p>
        </p:txBody>
      </p:sp>
      <p:graphicFrame>
        <p:nvGraphicFramePr>
          <p:cNvPr id="4" name="Table 3">
            <a:extLst>
              <a:ext uri="{FF2B5EF4-FFF2-40B4-BE49-F238E27FC236}">
                <a16:creationId xmlns:a16="http://schemas.microsoft.com/office/drawing/2014/main" id="{02B913B3-14CA-B55A-D817-6CF6E86A673C}"/>
              </a:ext>
            </a:extLst>
          </p:cNvPr>
          <p:cNvGraphicFramePr>
            <a:graphicFrameLocks noGrp="1"/>
          </p:cNvGraphicFramePr>
          <p:nvPr>
            <p:extLst>
              <p:ext uri="{D42A27DB-BD31-4B8C-83A1-F6EECF244321}">
                <p14:modId xmlns:p14="http://schemas.microsoft.com/office/powerpoint/2010/main" val="1776128309"/>
              </p:ext>
            </p:extLst>
          </p:nvPr>
        </p:nvGraphicFramePr>
        <p:xfrm>
          <a:off x="443209" y="1966293"/>
          <a:ext cx="11305583" cy="4452167"/>
        </p:xfrm>
        <a:graphic>
          <a:graphicData uri="http://schemas.openxmlformats.org/drawingml/2006/table">
            <a:tbl>
              <a:tblPr firstRow="1" bandRow="1">
                <a:tableStyleId>{7DF18680-E054-41AD-8BC1-D1AEF772440D}</a:tableStyleId>
              </a:tblPr>
              <a:tblGrid>
                <a:gridCol w="2259442">
                  <a:extLst>
                    <a:ext uri="{9D8B030D-6E8A-4147-A177-3AD203B41FA5}">
                      <a16:colId xmlns:a16="http://schemas.microsoft.com/office/drawing/2014/main" val="380922249"/>
                    </a:ext>
                  </a:extLst>
                </a:gridCol>
                <a:gridCol w="2218593">
                  <a:extLst>
                    <a:ext uri="{9D8B030D-6E8A-4147-A177-3AD203B41FA5}">
                      <a16:colId xmlns:a16="http://schemas.microsoft.com/office/drawing/2014/main" val="1118707444"/>
                    </a:ext>
                  </a:extLst>
                </a:gridCol>
                <a:gridCol w="2259442">
                  <a:extLst>
                    <a:ext uri="{9D8B030D-6E8A-4147-A177-3AD203B41FA5}">
                      <a16:colId xmlns:a16="http://schemas.microsoft.com/office/drawing/2014/main" val="1981756798"/>
                    </a:ext>
                  </a:extLst>
                </a:gridCol>
                <a:gridCol w="2259442">
                  <a:extLst>
                    <a:ext uri="{9D8B030D-6E8A-4147-A177-3AD203B41FA5}">
                      <a16:colId xmlns:a16="http://schemas.microsoft.com/office/drawing/2014/main" val="1656389476"/>
                    </a:ext>
                  </a:extLst>
                </a:gridCol>
                <a:gridCol w="2308664">
                  <a:extLst>
                    <a:ext uri="{9D8B030D-6E8A-4147-A177-3AD203B41FA5}">
                      <a16:colId xmlns:a16="http://schemas.microsoft.com/office/drawing/2014/main" val="134175402"/>
                    </a:ext>
                  </a:extLst>
                </a:gridCol>
              </a:tblGrid>
              <a:tr h="345560">
                <a:tc>
                  <a:txBody>
                    <a:bodyPr/>
                    <a:lstStyle/>
                    <a:p>
                      <a:pPr>
                        <a:buNone/>
                      </a:pPr>
                      <a:r>
                        <a:rPr lang="en-US" sz="1500" b="1"/>
                        <a:t>Model / Version</a:t>
                      </a:r>
                    </a:p>
                  </a:txBody>
                  <a:tcPr marL="77135" marR="77135" marT="38567" marB="38567" anchor="ctr"/>
                </a:tc>
                <a:tc>
                  <a:txBody>
                    <a:bodyPr/>
                    <a:lstStyle/>
                    <a:p>
                      <a:pPr>
                        <a:buNone/>
                      </a:pPr>
                      <a:r>
                        <a:rPr lang="en-US" sz="1500" b="1"/>
                        <a:t>Accuracy (%)</a:t>
                      </a:r>
                    </a:p>
                  </a:txBody>
                  <a:tcPr marL="77135" marR="77135" marT="38567" marB="38567" anchor="ctr"/>
                </a:tc>
                <a:tc>
                  <a:txBody>
                    <a:bodyPr/>
                    <a:lstStyle/>
                    <a:p>
                      <a:pPr>
                        <a:buNone/>
                      </a:pPr>
                      <a:r>
                        <a:rPr lang="en-US" sz="1500" b="1"/>
                        <a:t>Sensitivity (Recall) (%)</a:t>
                      </a:r>
                    </a:p>
                  </a:txBody>
                  <a:tcPr marL="77135" marR="77135" marT="38567" marB="38567" anchor="ctr"/>
                </a:tc>
                <a:tc>
                  <a:txBody>
                    <a:bodyPr/>
                    <a:lstStyle/>
                    <a:p>
                      <a:pPr>
                        <a:buNone/>
                      </a:pPr>
                      <a:r>
                        <a:rPr lang="en-US" sz="1500" b="1"/>
                        <a:t>Specificity (%)</a:t>
                      </a:r>
                    </a:p>
                  </a:txBody>
                  <a:tcPr marL="77135" marR="77135" marT="38567" marB="38567" anchor="ctr"/>
                </a:tc>
                <a:tc>
                  <a:txBody>
                    <a:bodyPr/>
                    <a:lstStyle/>
                    <a:p>
                      <a:pPr>
                        <a:buNone/>
                      </a:pPr>
                      <a:r>
                        <a:rPr lang="en-US" sz="1500" b="1"/>
                        <a:t>Notes</a:t>
                      </a:r>
                    </a:p>
                  </a:txBody>
                  <a:tcPr marL="77135" marR="77135" marT="38567" marB="38567" anchor="ctr"/>
                </a:tc>
                <a:extLst>
                  <a:ext uri="{0D108BD9-81ED-4DB2-BD59-A6C34878D82A}">
                    <a16:rowId xmlns:a16="http://schemas.microsoft.com/office/drawing/2014/main" val="4242719284"/>
                  </a:ext>
                </a:extLst>
              </a:tr>
              <a:tr h="7929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a:t>GPT-4-0125-preview</a:t>
                      </a:r>
                      <a:r>
                        <a:rPr lang="en-US" sz="1500" baseline="30000">
                          <a:latin typeface="Arial" panose="020B0604020202020204" pitchFamily="34" charset="0"/>
                          <a:cs typeface="Arial" panose="020B0604020202020204" pitchFamily="34" charset="0"/>
                          <a:hlinkClick r:id="rId2"/>
                        </a:rPr>
                        <a:t>1</a:t>
                      </a:r>
                      <a:r>
                        <a:rPr lang="en-US" sz="1500" baseline="30000">
                          <a:latin typeface="Arial" panose="020B0604020202020204" pitchFamily="34" charset="0"/>
                          <a:cs typeface="Arial" panose="020B0604020202020204" pitchFamily="34" charset="0"/>
                        </a:rPr>
                        <a:t>. </a:t>
                      </a:r>
                      <a:r>
                        <a:rPr lang="en-US" sz="1500" baseline="30000">
                          <a:latin typeface="Arial" panose="020B0604020202020204" pitchFamily="34" charset="0"/>
                          <a:cs typeface="Arial" panose="020B0604020202020204" pitchFamily="34" charset="0"/>
                          <a:hlinkClick r:id="rId3"/>
                        </a:rPr>
                        <a:t>4</a:t>
                      </a:r>
                      <a:r>
                        <a:rPr lang="en-US" sz="1500" baseline="30000">
                          <a:effectLst/>
                          <a:latin typeface="Arial" panose="020B0604020202020204" pitchFamily="34" charset="0"/>
                          <a:cs typeface="Arial" panose="020B0604020202020204" pitchFamily="34" charset="0"/>
                          <a:hlinkClick r:id="rId3"/>
                        </a:rPr>
                        <a:t> </a:t>
                      </a:r>
                      <a:endParaRPr lang="en-US" sz="1500" baseline="30000">
                        <a:effectLst/>
                        <a:latin typeface="Arial" panose="020B0604020202020204" pitchFamily="34" charset="0"/>
                        <a:cs typeface="Arial" panose="020B0604020202020204" pitchFamily="34" charset="0"/>
                      </a:endParaRPr>
                    </a:p>
                  </a:txBody>
                  <a:tcPr marL="77135" marR="77135" marT="38567" marB="38567" anchor="ctr"/>
                </a:tc>
                <a:tc>
                  <a:txBody>
                    <a:bodyPr/>
                    <a:lstStyle/>
                    <a:p>
                      <a:pPr>
                        <a:buNone/>
                      </a:pPr>
                      <a:r>
                        <a:rPr lang="en-US" sz="1500"/>
                        <a:t>94.3</a:t>
                      </a:r>
                    </a:p>
                  </a:txBody>
                  <a:tcPr marL="77135" marR="77135" marT="38567" marB="38567" anchor="ctr"/>
                </a:tc>
                <a:tc>
                  <a:txBody>
                    <a:bodyPr/>
                    <a:lstStyle/>
                    <a:p>
                      <a:pPr>
                        <a:buNone/>
                      </a:pPr>
                      <a:r>
                        <a:rPr lang="en-US" sz="1500"/>
                        <a:t>94.5 – 100 (liberal inclusion)</a:t>
                      </a:r>
                    </a:p>
                  </a:txBody>
                  <a:tcPr marL="77135" marR="77135" marT="38567" marB="38567" anchor="ctr"/>
                </a:tc>
                <a:tc>
                  <a:txBody>
                    <a:bodyPr/>
                    <a:lstStyle/>
                    <a:p>
                      <a:pPr>
                        <a:buNone/>
                      </a:pPr>
                      <a:r>
                        <a:rPr lang="en-US" sz="1500"/>
                        <a:t>94 – 97</a:t>
                      </a:r>
                    </a:p>
                  </a:txBody>
                  <a:tcPr marL="77135" marR="77135" marT="38567" marB="38567" anchor="ctr"/>
                </a:tc>
                <a:tc>
                  <a:txBody>
                    <a:bodyPr/>
                    <a:lstStyle/>
                    <a:p>
                      <a:pPr>
                        <a:buNone/>
                      </a:pPr>
                      <a:r>
                        <a:rPr lang="en-US" sz="1500"/>
                        <a:t>Strong performance, high recall when configured to be liberal in inclusion</a:t>
                      </a:r>
                    </a:p>
                  </a:txBody>
                  <a:tcPr marL="77135" marR="77135" marT="38567" marB="38567" anchor="ctr"/>
                </a:tc>
                <a:extLst>
                  <a:ext uri="{0D108BD9-81ED-4DB2-BD59-A6C34878D82A}">
                    <a16:rowId xmlns:a16="http://schemas.microsoft.com/office/drawing/2014/main" val="3841692975"/>
                  </a:ext>
                </a:extLst>
              </a:tr>
              <a:tr h="569248">
                <a:tc>
                  <a:txBody>
                    <a:bodyPr/>
                    <a:lstStyle/>
                    <a:p>
                      <a:pPr>
                        <a:buNone/>
                      </a:pPr>
                      <a:r>
                        <a:rPr lang="en-US" sz="1500" b="1"/>
                        <a:t>GPT-4-Turbo-0409</a:t>
                      </a:r>
                      <a:r>
                        <a:rPr lang="en-US" sz="1500" baseline="30000">
                          <a:latin typeface="Arial" panose="020B0604020202020204" pitchFamily="34" charset="0"/>
                          <a:cs typeface="Arial" panose="020B0604020202020204" pitchFamily="34" charset="0"/>
                          <a:hlinkClick r:id="rId2"/>
                        </a:rPr>
                        <a:t>1</a:t>
                      </a:r>
                      <a:endParaRPr lang="en-US" sz="1500"/>
                    </a:p>
                  </a:txBody>
                  <a:tcPr marL="77135" marR="77135" marT="38567" marB="38567" anchor="ctr"/>
                </a:tc>
                <a:tc>
                  <a:txBody>
                    <a:bodyPr/>
                    <a:lstStyle/>
                    <a:p>
                      <a:pPr>
                        <a:buNone/>
                      </a:pPr>
                      <a:r>
                        <a:rPr lang="en-US" sz="1500"/>
                        <a:t>89.8</a:t>
                      </a:r>
                    </a:p>
                  </a:txBody>
                  <a:tcPr marL="77135" marR="77135" marT="38567" marB="38567" anchor="ctr"/>
                </a:tc>
                <a:tc>
                  <a:txBody>
                    <a:bodyPr/>
                    <a:lstStyle/>
                    <a:p>
                      <a:pPr>
                        <a:buNone/>
                      </a:pPr>
                      <a:r>
                        <a:rPr lang="en-US" sz="1500"/>
                        <a:t>83.5</a:t>
                      </a:r>
                    </a:p>
                  </a:txBody>
                  <a:tcPr marL="77135" marR="77135" marT="38567" marB="38567" anchor="ctr"/>
                </a:tc>
                <a:tc>
                  <a:txBody>
                    <a:bodyPr/>
                    <a:lstStyle/>
                    <a:p>
                      <a:pPr>
                        <a:buNone/>
                      </a:pPr>
                      <a:r>
                        <a:rPr lang="en-US" sz="1500"/>
                        <a:t>96</a:t>
                      </a:r>
                    </a:p>
                  </a:txBody>
                  <a:tcPr marL="77135" marR="77135" marT="38567" marB="38567" anchor="ctr"/>
                </a:tc>
                <a:tc>
                  <a:txBody>
                    <a:bodyPr/>
                    <a:lstStyle/>
                    <a:p>
                      <a:pPr>
                        <a:buNone/>
                      </a:pPr>
                      <a:r>
                        <a:rPr lang="en-US" sz="1500"/>
                        <a:t>Newer version, slightly lower recall</a:t>
                      </a:r>
                    </a:p>
                  </a:txBody>
                  <a:tcPr marL="77135" marR="77135" marT="38567" marB="38567" anchor="ctr"/>
                </a:tc>
                <a:extLst>
                  <a:ext uri="{0D108BD9-81ED-4DB2-BD59-A6C34878D82A}">
                    <a16:rowId xmlns:a16="http://schemas.microsoft.com/office/drawing/2014/main" val="3920175154"/>
                  </a:ext>
                </a:extLst>
              </a:tr>
              <a:tr h="345560">
                <a:tc>
                  <a:txBody>
                    <a:bodyPr/>
                    <a:lstStyle/>
                    <a:p>
                      <a:pPr>
                        <a:buNone/>
                      </a:pPr>
                      <a:r>
                        <a:rPr lang="en-US" sz="1500" b="1"/>
                        <a:t>GPT-4o-0513</a:t>
                      </a:r>
                      <a:r>
                        <a:rPr lang="en-US" sz="1500" baseline="30000">
                          <a:latin typeface="Arial" panose="020B0604020202020204" pitchFamily="34" charset="0"/>
                          <a:cs typeface="Arial" panose="020B0604020202020204" pitchFamily="34" charset="0"/>
                          <a:hlinkClick r:id="rId2"/>
                        </a:rPr>
                        <a:t>1</a:t>
                      </a:r>
                      <a:endParaRPr lang="en-US" sz="1500"/>
                    </a:p>
                  </a:txBody>
                  <a:tcPr marL="77135" marR="77135" marT="38567" marB="38567" anchor="ctr"/>
                </a:tc>
                <a:tc>
                  <a:txBody>
                    <a:bodyPr/>
                    <a:lstStyle/>
                    <a:p>
                      <a:pPr>
                        <a:buNone/>
                      </a:pPr>
                      <a:r>
                        <a:rPr lang="en-US" sz="1500"/>
                        <a:t>89.0</a:t>
                      </a:r>
                    </a:p>
                  </a:txBody>
                  <a:tcPr marL="77135" marR="77135" marT="38567" marB="38567" anchor="ctr"/>
                </a:tc>
                <a:tc>
                  <a:txBody>
                    <a:bodyPr/>
                    <a:lstStyle/>
                    <a:p>
                      <a:pPr>
                        <a:buNone/>
                      </a:pPr>
                      <a:r>
                        <a:rPr lang="en-US" sz="1500"/>
                        <a:t>79.5</a:t>
                      </a:r>
                    </a:p>
                  </a:txBody>
                  <a:tcPr marL="77135" marR="77135" marT="38567" marB="38567" anchor="ctr"/>
                </a:tc>
                <a:tc>
                  <a:txBody>
                    <a:bodyPr/>
                    <a:lstStyle/>
                    <a:p>
                      <a:pPr>
                        <a:buNone/>
                      </a:pPr>
                      <a:r>
                        <a:rPr lang="en-US" sz="1500"/>
                        <a:t>98.5</a:t>
                      </a:r>
                    </a:p>
                  </a:txBody>
                  <a:tcPr marL="77135" marR="77135" marT="38567" marB="38567" anchor="ctr"/>
                </a:tc>
                <a:tc>
                  <a:txBody>
                    <a:bodyPr/>
                    <a:lstStyle/>
                    <a:p>
                      <a:pPr>
                        <a:buNone/>
                      </a:pPr>
                      <a:r>
                        <a:rPr lang="en-US" sz="1500"/>
                        <a:t>Very high specificity</a:t>
                      </a:r>
                    </a:p>
                  </a:txBody>
                  <a:tcPr marL="77135" marR="77135" marT="38567" marB="38567" anchor="ctr"/>
                </a:tc>
                <a:extLst>
                  <a:ext uri="{0D108BD9-81ED-4DB2-BD59-A6C34878D82A}">
                    <a16:rowId xmlns:a16="http://schemas.microsoft.com/office/drawing/2014/main" val="2814312058"/>
                  </a:ext>
                </a:extLst>
              </a:tr>
              <a:tr h="569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a:t>ChatGPT v4.0</a:t>
                      </a:r>
                      <a:r>
                        <a:rPr lang="en-US" sz="1500" baseline="30000">
                          <a:latin typeface="Arial" panose="020B0604020202020204" pitchFamily="34" charset="0"/>
                          <a:cs typeface="Arial" panose="020B0604020202020204" pitchFamily="34" charset="0"/>
                          <a:hlinkClick r:id="rId4"/>
                        </a:rPr>
                        <a:t>2</a:t>
                      </a:r>
                      <a:endParaRPr lang="en-US" sz="1500" baseline="30000">
                        <a:latin typeface="Arial" panose="020B0604020202020204" pitchFamily="34" charset="0"/>
                        <a:cs typeface="Arial" panose="020B0604020202020204" pitchFamily="34" charset="0"/>
                      </a:endParaRPr>
                    </a:p>
                  </a:txBody>
                  <a:tcPr marL="77135" marR="77135" marT="38567" marB="38567" anchor="ctr"/>
                </a:tc>
                <a:tc>
                  <a:txBody>
                    <a:bodyPr/>
                    <a:lstStyle/>
                    <a:p>
                      <a:pPr>
                        <a:buNone/>
                      </a:pPr>
                      <a:r>
                        <a:rPr lang="en-US" sz="1500"/>
                        <a:t>82 – 95</a:t>
                      </a:r>
                    </a:p>
                  </a:txBody>
                  <a:tcPr marL="77135" marR="77135" marT="38567" marB="38567" anchor="ctr"/>
                </a:tc>
                <a:tc>
                  <a:txBody>
                    <a:bodyPr/>
                    <a:lstStyle/>
                    <a:p>
                      <a:pPr>
                        <a:buNone/>
                      </a:pPr>
                      <a:r>
                        <a:rPr lang="en-US" sz="1500"/>
                        <a:t>93</a:t>
                      </a:r>
                    </a:p>
                  </a:txBody>
                  <a:tcPr marL="77135" marR="77135" marT="38567" marB="38567" anchor="ctr"/>
                </a:tc>
                <a:tc>
                  <a:txBody>
                    <a:bodyPr/>
                    <a:lstStyle/>
                    <a:p>
                      <a:pPr>
                        <a:buNone/>
                      </a:pPr>
                      <a:r>
                        <a:rPr lang="en-US" sz="1500"/>
                        <a:t>96</a:t>
                      </a:r>
                    </a:p>
                  </a:txBody>
                  <a:tcPr marL="77135" marR="77135" marT="38567" marB="38567" anchor="ctr"/>
                </a:tc>
                <a:tc>
                  <a:txBody>
                    <a:bodyPr/>
                    <a:lstStyle/>
                    <a:p>
                      <a:pPr>
                        <a:buNone/>
                      </a:pPr>
                      <a:r>
                        <a:rPr lang="en-US" sz="1500"/>
                        <a:t>Performance varies by configuration</a:t>
                      </a:r>
                    </a:p>
                  </a:txBody>
                  <a:tcPr marL="77135" marR="77135" marT="38567" marB="38567" anchor="ctr"/>
                </a:tc>
                <a:extLst>
                  <a:ext uri="{0D108BD9-81ED-4DB2-BD59-A6C34878D82A}">
                    <a16:rowId xmlns:a16="http://schemas.microsoft.com/office/drawing/2014/main" val="3328588243"/>
                  </a:ext>
                </a:extLst>
              </a:tr>
              <a:tr h="569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a:t>ChatGPT-4-Turbo</a:t>
                      </a:r>
                      <a:r>
                        <a:rPr lang="en-US" sz="1500" baseline="30000">
                          <a:latin typeface="Arial" panose="020B0604020202020204" pitchFamily="34" charset="0"/>
                          <a:cs typeface="Arial" panose="020B0604020202020204" pitchFamily="34" charset="0"/>
                          <a:hlinkClick r:id="rId4"/>
                        </a:rPr>
                        <a:t>2</a:t>
                      </a:r>
                      <a:endParaRPr lang="en-US" sz="1500" baseline="30000">
                        <a:latin typeface="Arial" panose="020B0604020202020204" pitchFamily="34" charset="0"/>
                        <a:cs typeface="Arial" panose="020B0604020202020204" pitchFamily="34" charset="0"/>
                      </a:endParaRPr>
                    </a:p>
                  </a:txBody>
                  <a:tcPr marL="77135" marR="77135" marT="38567" marB="38567" anchor="ctr"/>
                </a:tc>
                <a:tc>
                  <a:txBody>
                    <a:bodyPr/>
                    <a:lstStyle/>
                    <a:p>
                      <a:pPr>
                        <a:buNone/>
                      </a:pPr>
                      <a:r>
                        <a:rPr lang="en-US" sz="1500"/>
                        <a:t>83.0</a:t>
                      </a:r>
                    </a:p>
                  </a:txBody>
                  <a:tcPr marL="77135" marR="77135" marT="38567" marB="38567" anchor="ctr"/>
                </a:tc>
                <a:tc>
                  <a:txBody>
                    <a:bodyPr/>
                    <a:lstStyle/>
                    <a:p>
                      <a:pPr>
                        <a:buNone/>
                      </a:pPr>
                      <a:r>
                        <a:rPr lang="en-US" sz="1500"/>
                        <a:t>67</a:t>
                      </a:r>
                    </a:p>
                  </a:txBody>
                  <a:tcPr marL="77135" marR="77135" marT="38567" marB="38567" anchor="ctr"/>
                </a:tc>
                <a:tc>
                  <a:txBody>
                    <a:bodyPr/>
                    <a:lstStyle/>
                    <a:p>
                      <a:pPr>
                        <a:buNone/>
                      </a:pPr>
                      <a:r>
                        <a:rPr lang="en-US" sz="1500"/>
                        <a:t>99</a:t>
                      </a:r>
                    </a:p>
                  </a:txBody>
                  <a:tcPr marL="77135" marR="77135" marT="38567" marB="38567" anchor="ctr"/>
                </a:tc>
                <a:tc>
                  <a:txBody>
                    <a:bodyPr/>
                    <a:lstStyle/>
                    <a:p>
                      <a:pPr>
                        <a:buNone/>
                      </a:pPr>
                      <a:r>
                        <a:rPr lang="en-US" sz="1500"/>
                        <a:t>Maximizes specificity, lower recall</a:t>
                      </a:r>
                    </a:p>
                  </a:txBody>
                  <a:tcPr marL="77135" marR="77135" marT="38567" marB="38567" anchor="ctr"/>
                </a:tc>
                <a:extLst>
                  <a:ext uri="{0D108BD9-81ED-4DB2-BD59-A6C34878D82A}">
                    <a16:rowId xmlns:a16="http://schemas.microsoft.com/office/drawing/2014/main" val="839876214"/>
                  </a:ext>
                </a:extLst>
              </a:tr>
              <a:tr h="345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a:t>ChatGPT v3.5</a:t>
                      </a:r>
                      <a:r>
                        <a:rPr lang="en-US" sz="1500" baseline="30000">
                          <a:latin typeface="Arial" panose="020B0604020202020204" pitchFamily="34" charset="0"/>
                          <a:cs typeface="Arial" panose="020B0604020202020204" pitchFamily="34" charset="0"/>
                          <a:hlinkClick r:id="rId4"/>
                        </a:rPr>
                        <a:t>2</a:t>
                      </a:r>
                      <a:endParaRPr lang="en-US" sz="1500" baseline="30000">
                        <a:latin typeface="Arial" panose="020B0604020202020204" pitchFamily="34" charset="0"/>
                        <a:cs typeface="Arial" panose="020B0604020202020204" pitchFamily="34" charset="0"/>
                      </a:endParaRPr>
                    </a:p>
                  </a:txBody>
                  <a:tcPr marL="77135" marR="77135" marT="38567" marB="38567" anchor="ctr"/>
                </a:tc>
                <a:tc>
                  <a:txBody>
                    <a:bodyPr/>
                    <a:lstStyle/>
                    <a:p>
                      <a:pPr>
                        <a:buNone/>
                      </a:pPr>
                      <a:r>
                        <a:rPr lang="en-US" sz="1500"/>
                        <a:t>91.0</a:t>
                      </a:r>
                    </a:p>
                  </a:txBody>
                  <a:tcPr marL="77135" marR="77135" marT="38567" marB="38567" anchor="ctr"/>
                </a:tc>
                <a:tc>
                  <a:txBody>
                    <a:bodyPr/>
                    <a:lstStyle/>
                    <a:p>
                      <a:pPr>
                        <a:buNone/>
                      </a:pPr>
                      <a:r>
                        <a:rPr lang="en-US" sz="1500"/>
                        <a:t>94</a:t>
                      </a:r>
                    </a:p>
                  </a:txBody>
                  <a:tcPr marL="77135" marR="77135" marT="38567" marB="38567" anchor="ctr"/>
                </a:tc>
                <a:tc>
                  <a:txBody>
                    <a:bodyPr/>
                    <a:lstStyle/>
                    <a:p>
                      <a:pPr>
                        <a:buNone/>
                      </a:pPr>
                      <a:r>
                        <a:rPr lang="en-US" sz="1500"/>
                        <a:t>87</a:t>
                      </a:r>
                    </a:p>
                  </a:txBody>
                  <a:tcPr marL="77135" marR="77135" marT="38567" marB="38567" anchor="ctr"/>
                </a:tc>
                <a:tc>
                  <a:txBody>
                    <a:bodyPr/>
                    <a:lstStyle/>
                    <a:p>
                      <a:pPr>
                        <a:buNone/>
                      </a:pPr>
                      <a:r>
                        <a:rPr lang="en-US" sz="1500"/>
                        <a:t>Balanced performance</a:t>
                      </a:r>
                    </a:p>
                  </a:txBody>
                  <a:tcPr marL="77135" marR="77135" marT="38567" marB="38567" anchor="ctr"/>
                </a:tc>
                <a:extLst>
                  <a:ext uri="{0D108BD9-81ED-4DB2-BD59-A6C34878D82A}">
                    <a16:rowId xmlns:a16="http://schemas.microsoft.com/office/drawing/2014/main" val="2218633907"/>
                  </a:ext>
                </a:extLst>
              </a:tr>
              <a:tr h="3455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a:t>ChatGPT-3.5-Turbo</a:t>
                      </a:r>
                      <a:r>
                        <a:rPr lang="en-US" sz="1500" baseline="30000">
                          <a:latin typeface="Arial" panose="020B0604020202020204" pitchFamily="34" charset="0"/>
                          <a:cs typeface="Arial" panose="020B0604020202020204" pitchFamily="34" charset="0"/>
                          <a:hlinkClick r:id="rId4"/>
                        </a:rPr>
                        <a:t>2</a:t>
                      </a:r>
                      <a:endParaRPr lang="en-US" sz="1500" baseline="30000">
                        <a:latin typeface="Arial" panose="020B0604020202020204" pitchFamily="34" charset="0"/>
                        <a:cs typeface="Arial" panose="020B0604020202020204" pitchFamily="34" charset="0"/>
                      </a:endParaRPr>
                    </a:p>
                  </a:txBody>
                  <a:tcPr marL="77135" marR="77135" marT="38567" marB="38567" anchor="ctr"/>
                </a:tc>
                <a:tc>
                  <a:txBody>
                    <a:bodyPr/>
                    <a:lstStyle/>
                    <a:p>
                      <a:pPr>
                        <a:buNone/>
                      </a:pPr>
                      <a:r>
                        <a:rPr lang="en-US" sz="1500"/>
                        <a:t>87.0</a:t>
                      </a:r>
                    </a:p>
                  </a:txBody>
                  <a:tcPr marL="77135" marR="77135" marT="38567" marB="38567" anchor="ctr"/>
                </a:tc>
                <a:tc>
                  <a:txBody>
                    <a:bodyPr/>
                    <a:lstStyle/>
                    <a:p>
                      <a:pPr>
                        <a:buNone/>
                      </a:pPr>
                      <a:r>
                        <a:rPr lang="en-US" sz="1500"/>
                        <a:t>83</a:t>
                      </a:r>
                    </a:p>
                  </a:txBody>
                  <a:tcPr marL="77135" marR="77135" marT="38567" marB="38567" anchor="ctr"/>
                </a:tc>
                <a:tc>
                  <a:txBody>
                    <a:bodyPr/>
                    <a:lstStyle/>
                    <a:p>
                      <a:pPr>
                        <a:buNone/>
                      </a:pPr>
                      <a:r>
                        <a:rPr lang="en-US" sz="1500"/>
                        <a:t>91</a:t>
                      </a:r>
                    </a:p>
                  </a:txBody>
                  <a:tcPr marL="77135" marR="77135" marT="38567" marB="38567" anchor="ctr"/>
                </a:tc>
                <a:tc>
                  <a:txBody>
                    <a:bodyPr/>
                    <a:lstStyle/>
                    <a:p>
                      <a:pPr>
                        <a:buNone/>
                      </a:pPr>
                      <a:r>
                        <a:rPr lang="en-US" sz="1500"/>
                        <a:t>Mid-range performance</a:t>
                      </a:r>
                    </a:p>
                  </a:txBody>
                  <a:tcPr marL="77135" marR="77135" marT="38567" marB="38567" anchor="ctr"/>
                </a:tc>
                <a:extLst>
                  <a:ext uri="{0D108BD9-81ED-4DB2-BD59-A6C34878D82A}">
                    <a16:rowId xmlns:a16="http://schemas.microsoft.com/office/drawing/2014/main" val="2913513914"/>
                  </a:ext>
                </a:extLst>
              </a:tr>
              <a:tr h="569248">
                <a:tc>
                  <a:txBody>
                    <a:bodyPr/>
                    <a:lstStyle/>
                    <a:p>
                      <a:pPr>
                        <a:buNone/>
                      </a:pPr>
                      <a:r>
                        <a:rPr lang="en-US" sz="1500" b="1"/>
                        <a:t>GPT-3.5</a:t>
                      </a:r>
                      <a:r>
                        <a:rPr lang="en-US" sz="1500" baseline="30000">
                          <a:latin typeface="Arial" panose="020B0604020202020204" pitchFamily="34" charset="0"/>
                          <a:cs typeface="Arial" panose="020B0604020202020204" pitchFamily="34" charset="0"/>
                          <a:hlinkClick r:id="rId2"/>
                        </a:rPr>
                        <a:t>1</a:t>
                      </a:r>
                      <a:endParaRPr lang="en-US" sz="1500"/>
                    </a:p>
                  </a:txBody>
                  <a:tcPr marL="77135" marR="77135" marT="38567" marB="38567" anchor="ctr"/>
                </a:tc>
                <a:tc>
                  <a:txBody>
                    <a:bodyPr/>
                    <a:lstStyle/>
                    <a:p>
                      <a:pPr>
                        <a:buNone/>
                      </a:pPr>
                      <a:r>
                        <a:rPr lang="en-US" sz="1500"/>
                        <a:t>66.9</a:t>
                      </a:r>
                    </a:p>
                  </a:txBody>
                  <a:tcPr marL="77135" marR="77135" marT="38567" marB="38567" anchor="ctr"/>
                </a:tc>
                <a:tc>
                  <a:txBody>
                    <a:bodyPr/>
                    <a:lstStyle/>
                    <a:p>
                      <a:pPr>
                        <a:buNone/>
                      </a:pPr>
                      <a:r>
                        <a:rPr lang="en-US" sz="1500"/>
                        <a:t>90.5</a:t>
                      </a:r>
                    </a:p>
                  </a:txBody>
                  <a:tcPr marL="77135" marR="77135" marT="38567" marB="38567" anchor="ctr"/>
                </a:tc>
                <a:tc>
                  <a:txBody>
                    <a:bodyPr/>
                    <a:lstStyle/>
                    <a:p>
                      <a:pPr>
                        <a:buNone/>
                      </a:pPr>
                      <a:r>
                        <a:rPr lang="en-US" sz="1500"/>
                        <a:t>43</a:t>
                      </a:r>
                    </a:p>
                  </a:txBody>
                  <a:tcPr marL="77135" marR="77135" marT="38567" marB="38567" anchor="ctr"/>
                </a:tc>
                <a:tc>
                  <a:txBody>
                    <a:bodyPr/>
                    <a:lstStyle/>
                    <a:p>
                      <a:pPr>
                        <a:buNone/>
                      </a:pPr>
                      <a:r>
                        <a:rPr lang="en-US" sz="1500"/>
                        <a:t>High recall, very low specificity</a:t>
                      </a:r>
                    </a:p>
                  </a:txBody>
                  <a:tcPr marL="77135" marR="77135" marT="38567" marB="38567" anchor="ctr"/>
                </a:tc>
                <a:extLst>
                  <a:ext uri="{0D108BD9-81ED-4DB2-BD59-A6C34878D82A}">
                    <a16:rowId xmlns:a16="http://schemas.microsoft.com/office/drawing/2014/main" val="994561680"/>
                  </a:ext>
                </a:extLst>
              </a:tr>
            </a:tbl>
          </a:graphicData>
        </a:graphic>
      </p:graphicFrame>
    </p:spTree>
    <p:extLst>
      <p:ext uri="{BB962C8B-B14F-4D97-AF65-F5344CB8AC3E}">
        <p14:creationId xmlns:p14="http://schemas.microsoft.com/office/powerpoint/2010/main" val="651385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E2007-14D6-B68E-483B-C8068D0A6EB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Model Performance Comparison (Other LLMs)</a:t>
            </a:r>
          </a:p>
        </p:txBody>
      </p:sp>
      <p:graphicFrame>
        <p:nvGraphicFramePr>
          <p:cNvPr id="4" name="Content Placeholder 3">
            <a:extLst>
              <a:ext uri="{FF2B5EF4-FFF2-40B4-BE49-F238E27FC236}">
                <a16:creationId xmlns:a16="http://schemas.microsoft.com/office/drawing/2014/main" id="{37431C29-5B85-2C56-57AD-0AF8B52F3785}"/>
              </a:ext>
            </a:extLst>
          </p:cNvPr>
          <p:cNvGraphicFramePr>
            <a:graphicFrameLocks noGrp="1"/>
          </p:cNvGraphicFramePr>
          <p:nvPr>
            <p:ph idx="1"/>
            <p:extLst>
              <p:ext uri="{D42A27DB-BD31-4B8C-83A1-F6EECF244321}">
                <p14:modId xmlns:p14="http://schemas.microsoft.com/office/powerpoint/2010/main" val="3436266194"/>
              </p:ext>
            </p:extLst>
          </p:nvPr>
        </p:nvGraphicFramePr>
        <p:xfrm>
          <a:off x="432225" y="2097295"/>
          <a:ext cx="11327552" cy="4190164"/>
        </p:xfrm>
        <a:graphic>
          <a:graphicData uri="http://schemas.openxmlformats.org/drawingml/2006/table">
            <a:tbl>
              <a:tblPr firstRow="1" bandRow="1">
                <a:tableStyleId>{7DF18680-E054-41AD-8BC1-D1AEF772440D}</a:tableStyleId>
              </a:tblPr>
              <a:tblGrid>
                <a:gridCol w="2831888">
                  <a:extLst>
                    <a:ext uri="{9D8B030D-6E8A-4147-A177-3AD203B41FA5}">
                      <a16:colId xmlns:a16="http://schemas.microsoft.com/office/drawing/2014/main" val="3908291505"/>
                    </a:ext>
                  </a:extLst>
                </a:gridCol>
                <a:gridCol w="2831888">
                  <a:extLst>
                    <a:ext uri="{9D8B030D-6E8A-4147-A177-3AD203B41FA5}">
                      <a16:colId xmlns:a16="http://schemas.microsoft.com/office/drawing/2014/main" val="1503469738"/>
                    </a:ext>
                  </a:extLst>
                </a:gridCol>
                <a:gridCol w="2831888">
                  <a:extLst>
                    <a:ext uri="{9D8B030D-6E8A-4147-A177-3AD203B41FA5}">
                      <a16:colId xmlns:a16="http://schemas.microsoft.com/office/drawing/2014/main" val="3771177206"/>
                    </a:ext>
                  </a:extLst>
                </a:gridCol>
                <a:gridCol w="2831888">
                  <a:extLst>
                    <a:ext uri="{9D8B030D-6E8A-4147-A177-3AD203B41FA5}">
                      <a16:colId xmlns:a16="http://schemas.microsoft.com/office/drawing/2014/main" val="4043761862"/>
                    </a:ext>
                  </a:extLst>
                </a:gridCol>
              </a:tblGrid>
              <a:tr h="380924">
                <a:tc>
                  <a:txBody>
                    <a:bodyPr/>
                    <a:lstStyle/>
                    <a:p>
                      <a:pPr>
                        <a:buNone/>
                      </a:pPr>
                      <a:r>
                        <a:rPr lang="en-US" sz="1700" b="1"/>
                        <a:t>Model / Version</a:t>
                      </a:r>
                    </a:p>
                  </a:txBody>
                  <a:tcPr marL="86627" marR="86627" marT="43313" marB="43313" anchor="ctr"/>
                </a:tc>
                <a:tc>
                  <a:txBody>
                    <a:bodyPr/>
                    <a:lstStyle/>
                    <a:p>
                      <a:pPr>
                        <a:buNone/>
                      </a:pPr>
                      <a:r>
                        <a:rPr lang="en-US" sz="1700" b="1"/>
                        <a:t>Accuracy (%)</a:t>
                      </a:r>
                    </a:p>
                  </a:txBody>
                  <a:tcPr marL="86627" marR="86627" marT="43313" marB="43313" anchor="ctr"/>
                </a:tc>
                <a:tc>
                  <a:txBody>
                    <a:bodyPr/>
                    <a:lstStyle/>
                    <a:p>
                      <a:pPr>
                        <a:buNone/>
                      </a:pPr>
                      <a:r>
                        <a:rPr lang="en-US" sz="1700" b="1"/>
                        <a:t>Sensitivity (%)</a:t>
                      </a:r>
                    </a:p>
                  </a:txBody>
                  <a:tcPr marL="86627" marR="86627" marT="43313" marB="43313" anchor="ctr"/>
                </a:tc>
                <a:tc>
                  <a:txBody>
                    <a:bodyPr/>
                    <a:lstStyle/>
                    <a:p>
                      <a:pPr>
                        <a:buNone/>
                      </a:pPr>
                      <a:r>
                        <a:rPr lang="en-US" sz="1700" b="1"/>
                        <a:t>Specificity (%)</a:t>
                      </a:r>
                    </a:p>
                  </a:txBody>
                  <a:tcPr marL="86627" marR="86627" marT="43313" marB="43313" anchor="ctr"/>
                </a:tc>
                <a:extLst>
                  <a:ext uri="{0D108BD9-81ED-4DB2-BD59-A6C34878D82A}">
                    <a16:rowId xmlns:a16="http://schemas.microsoft.com/office/drawing/2014/main" val="1252529571"/>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Gemini Pro</a:t>
                      </a:r>
                      <a:r>
                        <a:rPr lang="en-US" sz="1700" b="0" baseline="30000"/>
                        <a:t>1,2</a:t>
                      </a:r>
                    </a:p>
                  </a:txBody>
                  <a:tcPr marL="86627" marR="86627" marT="43313" marB="43313" anchor="ctr"/>
                </a:tc>
                <a:tc>
                  <a:txBody>
                    <a:bodyPr/>
                    <a:lstStyle/>
                    <a:p>
                      <a:pPr>
                        <a:buNone/>
                      </a:pPr>
                      <a:r>
                        <a:rPr lang="en-US" sz="1700"/>
                        <a:t>77.5 / 87.0</a:t>
                      </a:r>
                    </a:p>
                  </a:txBody>
                  <a:tcPr marL="86627" marR="86627" marT="43313" marB="43313" anchor="ctr"/>
                </a:tc>
                <a:tc>
                  <a:txBody>
                    <a:bodyPr/>
                    <a:lstStyle/>
                    <a:p>
                      <a:pPr>
                        <a:buNone/>
                      </a:pPr>
                      <a:r>
                        <a:rPr lang="en-US" sz="1700"/>
                        <a:t>67.5 / 75.0</a:t>
                      </a:r>
                    </a:p>
                  </a:txBody>
                  <a:tcPr marL="86627" marR="86627" marT="43313" marB="43313" anchor="ctr"/>
                </a:tc>
                <a:tc>
                  <a:txBody>
                    <a:bodyPr/>
                    <a:lstStyle/>
                    <a:p>
                      <a:pPr>
                        <a:buNone/>
                      </a:pPr>
                      <a:r>
                        <a:rPr lang="en-US" sz="1700"/>
                        <a:t>84.8 / 99.0</a:t>
                      </a:r>
                    </a:p>
                  </a:txBody>
                  <a:tcPr marL="86627" marR="86627" marT="43313" marB="43313" anchor="ctr"/>
                </a:tc>
                <a:extLst>
                  <a:ext uri="{0D108BD9-81ED-4DB2-BD59-A6C34878D82A}">
                    <a16:rowId xmlns:a16="http://schemas.microsoft.com/office/drawing/2014/main" val="544129468"/>
                  </a:ext>
                </a:extLst>
              </a:tr>
              <a:tr h="380924">
                <a:tc>
                  <a:txBody>
                    <a:bodyPr/>
                    <a:lstStyle/>
                    <a:p>
                      <a:pPr>
                        <a:buNone/>
                      </a:pPr>
                      <a:r>
                        <a:rPr lang="en-US" sz="1700" b="1"/>
                        <a:t>Mixtral-8x22</a:t>
                      </a:r>
                      <a:r>
                        <a:rPr lang="en-US" sz="1800" baseline="30000">
                          <a:hlinkClick r:id="rId2"/>
                        </a:rPr>
                        <a:t>1</a:t>
                      </a:r>
                      <a:r>
                        <a:rPr lang="en-US" sz="1800" baseline="30000"/>
                        <a:t>,</a:t>
                      </a:r>
                      <a:r>
                        <a:rPr lang="en-US" sz="1800" baseline="30000">
                          <a:hlinkClick r:id="rId3"/>
                        </a:rPr>
                        <a:t> 3</a:t>
                      </a:r>
                      <a:r>
                        <a:rPr lang="en-US" sz="1700"/>
                        <a:t> (smaller)</a:t>
                      </a:r>
                    </a:p>
                  </a:txBody>
                  <a:tcPr marL="86627" marR="86627" marT="43313" marB="43313" anchor="ctr"/>
                </a:tc>
                <a:tc>
                  <a:txBody>
                    <a:bodyPr/>
                    <a:lstStyle/>
                    <a:p>
                      <a:pPr>
                        <a:buNone/>
                      </a:pPr>
                      <a:r>
                        <a:rPr lang="en-US" sz="1700"/>
                        <a:t>—</a:t>
                      </a:r>
                    </a:p>
                  </a:txBody>
                  <a:tcPr marL="86627" marR="86627" marT="43313" marB="43313" anchor="ctr"/>
                </a:tc>
                <a:tc>
                  <a:txBody>
                    <a:bodyPr/>
                    <a:lstStyle/>
                    <a:p>
                      <a:pPr>
                        <a:buNone/>
                      </a:pPr>
                      <a:r>
                        <a:rPr lang="en-US" sz="1700"/>
                        <a:t>82.0</a:t>
                      </a:r>
                    </a:p>
                  </a:txBody>
                  <a:tcPr marL="86627" marR="86627" marT="43313" marB="43313" anchor="ctr"/>
                </a:tc>
                <a:tc>
                  <a:txBody>
                    <a:bodyPr/>
                    <a:lstStyle/>
                    <a:p>
                      <a:pPr>
                        <a:buNone/>
                      </a:pPr>
                      <a:r>
                        <a:rPr lang="en-US" sz="1700"/>
                        <a:t>75.0</a:t>
                      </a:r>
                    </a:p>
                  </a:txBody>
                  <a:tcPr marL="86627" marR="86627" marT="43313" marB="43313" anchor="ctr"/>
                </a:tc>
                <a:extLst>
                  <a:ext uri="{0D108BD9-81ED-4DB2-BD59-A6C34878D82A}">
                    <a16:rowId xmlns:a16="http://schemas.microsoft.com/office/drawing/2014/main" val="1906062034"/>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Mistral-Large</a:t>
                      </a:r>
                      <a:r>
                        <a:rPr lang="en-US" sz="1800" baseline="30000">
                          <a:hlinkClick r:id="rId2"/>
                        </a:rPr>
                        <a:t>1</a:t>
                      </a:r>
                      <a:endParaRPr lang="en-US" sz="1800" baseline="30000"/>
                    </a:p>
                  </a:txBody>
                  <a:tcPr marL="86627" marR="86627" marT="43313" marB="43313" anchor="ctr"/>
                </a:tc>
                <a:tc>
                  <a:txBody>
                    <a:bodyPr/>
                    <a:lstStyle/>
                    <a:p>
                      <a:pPr>
                        <a:buNone/>
                      </a:pPr>
                      <a:r>
                        <a:rPr lang="en-US" sz="1700"/>
                        <a:t>—</a:t>
                      </a:r>
                    </a:p>
                  </a:txBody>
                  <a:tcPr marL="86627" marR="86627" marT="43313" marB="43313" anchor="ctr"/>
                </a:tc>
                <a:tc>
                  <a:txBody>
                    <a:bodyPr/>
                    <a:lstStyle/>
                    <a:p>
                      <a:pPr>
                        <a:buNone/>
                      </a:pPr>
                      <a:r>
                        <a:rPr lang="en-US" sz="1700"/>
                        <a:t>—</a:t>
                      </a:r>
                    </a:p>
                  </a:txBody>
                  <a:tcPr marL="86627" marR="86627" marT="43313" marB="43313" anchor="ctr"/>
                </a:tc>
                <a:tc>
                  <a:txBody>
                    <a:bodyPr/>
                    <a:lstStyle/>
                    <a:p>
                      <a:pPr>
                        <a:buNone/>
                      </a:pPr>
                      <a:r>
                        <a:rPr lang="en-US" sz="1700"/>
                        <a:t>—</a:t>
                      </a:r>
                    </a:p>
                  </a:txBody>
                  <a:tcPr marL="86627" marR="86627" marT="43313" marB="43313" anchor="ctr"/>
                </a:tc>
                <a:extLst>
                  <a:ext uri="{0D108BD9-81ED-4DB2-BD59-A6C34878D82A}">
                    <a16:rowId xmlns:a16="http://schemas.microsoft.com/office/drawing/2014/main" val="317177718"/>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Google </a:t>
                      </a:r>
                      <a:r>
                        <a:rPr lang="en-US" sz="1700" b="1" err="1"/>
                        <a:t>PaLM</a:t>
                      </a:r>
                      <a:r>
                        <a:rPr lang="en-US" sz="1700" b="1"/>
                        <a:t> 2</a:t>
                      </a:r>
                      <a:r>
                        <a:rPr lang="en-US" sz="1800" baseline="30000">
                          <a:hlinkClick r:id="rId4"/>
                        </a:rPr>
                        <a:t>2</a:t>
                      </a:r>
                      <a:endParaRPr lang="en-US" sz="1800" baseline="30000"/>
                    </a:p>
                  </a:txBody>
                  <a:tcPr marL="86627" marR="86627" marT="43313" marB="43313" anchor="ctr"/>
                </a:tc>
                <a:tc>
                  <a:txBody>
                    <a:bodyPr/>
                    <a:lstStyle/>
                    <a:p>
                      <a:pPr>
                        <a:buNone/>
                      </a:pPr>
                      <a:r>
                        <a:rPr lang="en-US" sz="1700"/>
                        <a:t>90.0</a:t>
                      </a:r>
                    </a:p>
                  </a:txBody>
                  <a:tcPr marL="86627" marR="86627" marT="43313" marB="43313" anchor="ctr"/>
                </a:tc>
                <a:tc>
                  <a:txBody>
                    <a:bodyPr/>
                    <a:lstStyle/>
                    <a:p>
                      <a:pPr>
                        <a:buNone/>
                      </a:pPr>
                      <a:r>
                        <a:rPr lang="en-US" sz="1700"/>
                        <a:t>85.0</a:t>
                      </a:r>
                    </a:p>
                  </a:txBody>
                  <a:tcPr marL="86627" marR="86627" marT="43313" marB="43313" anchor="ctr"/>
                </a:tc>
                <a:tc>
                  <a:txBody>
                    <a:bodyPr/>
                    <a:lstStyle/>
                    <a:p>
                      <a:pPr>
                        <a:buNone/>
                      </a:pPr>
                      <a:r>
                        <a:rPr lang="en-US" sz="1700"/>
                        <a:t>95.0</a:t>
                      </a:r>
                    </a:p>
                  </a:txBody>
                  <a:tcPr marL="86627" marR="86627" marT="43313" marB="43313" anchor="ctr"/>
                </a:tc>
                <a:extLst>
                  <a:ext uri="{0D108BD9-81ED-4DB2-BD59-A6C34878D82A}">
                    <a16:rowId xmlns:a16="http://schemas.microsoft.com/office/drawing/2014/main" val="2684761731"/>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Meta Llama 2</a:t>
                      </a:r>
                      <a:r>
                        <a:rPr lang="en-US" sz="1800" baseline="30000">
                          <a:hlinkClick r:id="rId4"/>
                        </a:rPr>
                        <a:t>2</a:t>
                      </a:r>
                      <a:endParaRPr lang="en-US" sz="1800" baseline="30000"/>
                    </a:p>
                  </a:txBody>
                  <a:tcPr marL="86627" marR="86627" marT="43313" marB="43313" anchor="ctr"/>
                </a:tc>
                <a:tc>
                  <a:txBody>
                    <a:bodyPr/>
                    <a:lstStyle/>
                    <a:p>
                      <a:pPr>
                        <a:buNone/>
                      </a:pPr>
                      <a:r>
                        <a:rPr lang="en-US" sz="1700"/>
                        <a:t>78.0</a:t>
                      </a:r>
                    </a:p>
                  </a:txBody>
                  <a:tcPr marL="86627" marR="86627" marT="43313" marB="43313" anchor="ctr"/>
                </a:tc>
                <a:tc>
                  <a:txBody>
                    <a:bodyPr/>
                    <a:lstStyle/>
                    <a:p>
                      <a:pPr>
                        <a:buNone/>
                      </a:pPr>
                      <a:r>
                        <a:rPr lang="en-US" sz="1700"/>
                        <a:t>95.0</a:t>
                      </a:r>
                    </a:p>
                  </a:txBody>
                  <a:tcPr marL="86627" marR="86627" marT="43313" marB="43313" anchor="ctr"/>
                </a:tc>
                <a:tc>
                  <a:txBody>
                    <a:bodyPr/>
                    <a:lstStyle/>
                    <a:p>
                      <a:pPr>
                        <a:buNone/>
                      </a:pPr>
                      <a:r>
                        <a:rPr lang="en-US" sz="1700"/>
                        <a:t>61.0</a:t>
                      </a:r>
                    </a:p>
                  </a:txBody>
                  <a:tcPr marL="86627" marR="86627" marT="43313" marB="43313" anchor="ctr"/>
                </a:tc>
                <a:extLst>
                  <a:ext uri="{0D108BD9-81ED-4DB2-BD59-A6C34878D82A}">
                    <a16:rowId xmlns:a16="http://schemas.microsoft.com/office/drawing/2014/main" val="1655500076"/>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Meta Llama 3</a:t>
                      </a:r>
                      <a:r>
                        <a:rPr lang="en-US" sz="1800" baseline="30000">
                          <a:hlinkClick r:id="rId4"/>
                        </a:rPr>
                        <a:t>2</a:t>
                      </a:r>
                      <a:endParaRPr lang="en-US" sz="1800" baseline="30000"/>
                    </a:p>
                  </a:txBody>
                  <a:tcPr marL="86627" marR="86627" marT="43313" marB="43313" anchor="ctr"/>
                </a:tc>
                <a:tc>
                  <a:txBody>
                    <a:bodyPr/>
                    <a:lstStyle/>
                    <a:p>
                      <a:pPr>
                        <a:buNone/>
                      </a:pPr>
                      <a:r>
                        <a:rPr lang="en-US" sz="1700"/>
                        <a:t>91.0</a:t>
                      </a:r>
                    </a:p>
                  </a:txBody>
                  <a:tcPr marL="86627" marR="86627" marT="43313" marB="43313" anchor="ctr"/>
                </a:tc>
                <a:tc>
                  <a:txBody>
                    <a:bodyPr/>
                    <a:lstStyle/>
                    <a:p>
                      <a:pPr>
                        <a:buNone/>
                      </a:pPr>
                      <a:r>
                        <a:rPr lang="en-US" sz="1700"/>
                        <a:t>93.0</a:t>
                      </a:r>
                    </a:p>
                  </a:txBody>
                  <a:tcPr marL="86627" marR="86627" marT="43313" marB="43313" anchor="ctr"/>
                </a:tc>
                <a:tc>
                  <a:txBody>
                    <a:bodyPr/>
                    <a:lstStyle/>
                    <a:p>
                      <a:pPr>
                        <a:buNone/>
                      </a:pPr>
                      <a:r>
                        <a:rPr lang="en-US" sz="1700"/>
                        <a:t>89.0</a:t>
                      </a:r>
                    </a:p>
                  </a:txBody>
                  <a:tcPr marL="86627" marR="86627" marT="43313" marB="43313" anchor="ctr"/>
                </a:tc>
                <a:extLst>
                  <a:ext uri="{0D108BD9-81ED-4DB2-BD59-A6C34878D82A}">
                    <a16:rowId xmlns:a16="http://schemas.microsoft.com/office/drawing/2014/main" val="2321251862"/>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Claude 3 Opus</a:t>
                      </a:r>
                      <a:r>
                        <a:rPr lang="en-US" sz="1800" baseline="30000">
                          <a:hlinkClick r:id="rId4"/>
                        </a:rPr>
                        <a:t>2</a:t>
                      </a:r>
                      <a:endParaRPr lang="en-US" sz="1800" baseline="30000"/>
                    </a:p>
                  </a:txBody>
                  <a:tcPr marL="86627" marR="86627" marT="43313" marB="43313" anchor="ctr"/>
                </a:tc>
                <a:tc>
                  <a:txBody>
                    <a:bodyPr/>
                    <a:lstStyle/>
                    <a:p>
                      <a:pPr>
                        <a:buNone/>
                      </a:pPr>
                      <a:r>
                        <a:rPr lang="en-US" sz="1700"/>
                        <a:t>92.0</a:t>
                      </a:r>
                    </a:p>
                  </a:txBody>
                  <a:tcPr marL="86627" marR="86627" marT="43313" marB="43313" anchor="ctr"/>
                </a:tc>
                <a:tc>
                  <a:txBody>
                    <a:bodyPr/>
                    <a:lstStyle/>
                    <a:p>
                      <a:pPr>
                        <a:buNone/>
                      </a:pPr>
                      <a:r>
                        <a:rPr lang="en-US" sz="1700"/>
                        <a:t>90.0</a:t>
                      </a:r>
                    </a:p>
                  </a:txBody>
                  <a:tcPr marL="86627" marR="86627" marT="43313" marB="43313" anchor="ctr"/>
                </a:tc>
                <a:tc>
                  <a:txBody>
                    <a:bodyPr/>
                    <a:lstStyle/>
                    <a:p>
                      <a:pPr>
                        <a:buNone/>
                      </a:pPr>
                      <a:r>
                        <a:rPr lang="en-US" sz="1700"/>
                        <a:t>94.0</a:t>
                      </a:r>
                    </a:p>
                  </a:txBody>
                  <a:tcPr marL="86627" marR="86627" marT="43313" marB="43313" anchor="ctr"/>
                </a:tc>
                <a:extLst>
                  <a:ext uri="{0D108BD9-81ED-4DB2-BD59-A6C34878D82A}">
                    <a16:rowId xmlns:a16="http://schemas.microsoft.com/office/drawing/2014/main" val="319065247"/>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FlanT5</a:t>
                      </a:r>
                      <a:r>
                        <a:rPr lang="en-US" sz="1800" baseline="30000">
                          <a:hlinkClick r:id="rId3"/>
                        </a:rPr>
                        <a:t>3</a:t>
                      </a:r>
                      <a:endParaRPr lang="en-US" sz="1800" baseline="30000"/>
                    </a:p>
                  </a:txBody>
                  <a:tcPr marL="86627" marR="86627" marT="43313" marB="43313" anchor="ctr"/>
                </a:tc>
                <a:tc>
                  <a:txBody>
                    <a:bodyPr/>
                    <a:lstStyle/>
                    <a:p>
                      <a:pPr>
                        <a:buNone/>
                      </a:pPr>
                      <a:r>
                        <a:rPr lang="en-US" sz="1700"/>
                        <a:t>—</a:t>
                      </a:r>
                    </a:p>
                  </a:txBody>
                  <a:tcPr marL="86627" marR="86627" marT="43313" marB="43313" anchor="ctr"/>
                </a:tc>
                <a:tc>
                  <a:txBody>
                    <a:bodyPr/>
                    <a:lstStyle/>
                    <a:p>
                      <a:pPr>
                        <a:buNone/>
                      </a:pPr>
                      <a:r>
                        <a:rPr lang="en-US" sz="1700"/>
                        <a:t>95.0</a:t>
                      </a:r>
                    </a:p>
                  </a:txBody>
                  <a:tcPr marL="86627" marR="86627" marT="43313" marB="43313" anchor="ctr"/>
                </a:tc>
                <a:tc>
                  <a:txBody>
                    <a:bodyPr/>
                    <a:lstStyle/>
                    <a:p>
                      <a:pPr>
                        <a:buNone/>
                      </a:pPr>
                      <a:r>
                        <a:rPr lang="en-US" sz="1700"/>
                        <a:t>32.0</a:t>
                      </a:r>
                    </a:p>
                  </a:txBody>
                  <a:tcPr marL="86627" marR="86627" marT="43313" marB="43313" anchor="ctr"/>
                </a:tc>
                <a:extLst>
                  <a:ext uri="{0D108BD9-81ED-4DB2-BD59-A6C34878D82A}">
                    <a16:rowId xmlns:a16="http://schemas.microsoft.com/office/drawing/2014/main" val="283216029"/>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OpenHermes-NeuralChat</a:t>
                      </a:r>
                      <a:r>
                        <a:rPr lang="en-US" sz="1800" baseline="30000">
                          <a:hlinkClick r:id="rId3"/>
                        </a:rPr>
                        <a:t>3</a:t>
                      </a:r>
                      <a:endParaRPr lang="en-US" sz="1800" baseline="30000"/>
                    </a:p>
                  </a:txBody>
                  <a:tcPr marL="86627" marR="86627" marT="43313" marB="43313" anchor="ctr"/>
                </a:tc>
                <a:tc>
                  <a:txBody>
                    <a:bodyPr/>
                    <a:lstStyle/>
                    <a:p>
                      <a:pPr>
                        <a:buNone/>
                      </a:pPr>
                      <a:r>
                        <a:rPr lang="en-US" sz="1700"/>
                        <a:t>—</a:t>
                      </a:r>
                    </a:p>
                  </a:txBody>
                  <a:tcPr marL="86627" marR="86627" marT="43313" marB="43313" anchor="ctr"/>
                </a:tc>
                <a:tc>
                  <a:txBody>
                    <a:bodyPr/>
                    <a:lstStyle/>
                    <a:p>
                      <a:pPr>
                        <a:buNone/>
                      </a:pPr>
                      <a:r>
                        <a:rPr lang="en-US" sz="1700"/>
                        <a:t>82.0</a:t>
                      </a:r>
                    </a:p>
                  </a:txBody>
                  <a:tcPr marL="86627" marR="86627" marT="43313" marB="43313" anchor="ctr"/>
                </a:tc>
                <a:tc>
                  <a:txBody>
                    <a:bodyPr/>
                    <a:lstStyle/>
                    <a:p>
                      <a:pPr>
                        <a:buNone/>
                      </a:pPr>
                      <a:r>
                        <a:rPr lang="en-US" sz="1700"/>
                        <a:t>75.0</a:t>
                      </a:r>
                    </a:p>
                  </a:txBody>
                  <a:tcPr marL="86627" marR="86627" marT="43313" marB="43313" anchor="ctr"/>
                </a:tc>
                <a:extLst>
                  <a:ext uri="{0D108BD9-81ED-4DB2-BD59-A6C34878D82A}">
                    <a16:rowId xmlns:a16="http://schemas.microsoft.com/office/drawing/2014/main" val="1756210099"/>
                  </a:ext>
                </a:extLst>
              </a:tr>
              <a:tr h="3809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a:t>Platypus 2</a:t>
                      </a:r>
                      <a:r>
                        <a:rPr lang="en-US" sz="1800" baseline="30000">
                          <a:hlinkClick r:id="rId3"/>
                        </a:rPr>
                        <a:t>3</a:t>
                      </a:r>
                      <a:endParaRPr lang="en-US" sz="1800" baseline="30000"/>
                    </a:p>
                  </a:txBody>
                  <a:tcPr marL="86627" marR="86627" marT="43313" marB="43313" anchor="ctr"/>
                </a:tc>
                <a:tc>
                  <a:txBody>
                    <a:bodyPr/>
                    <a:lstStyle/>
                    <a:p>
                      <a:pPr>
                        <a:buNone/>
                      </a:pPr>
                      <a:r>
                        <a:rPr lang="en-US" sz="1700"/>
                        <a:t>—</a:t>
                      </a:r>
                    </a:p>
                  </a:txBody>
                  <a:tcPr marL="86627" marR="86627" marT="43313" marB="43313" anchor="ctr"/>
                </a:tc>
                <a:tc>
                  <a:txBody>
                    <a:bodyPr/>
                    <a:lstStyle/>
                    <a:p>
                      <a:pPr>
                        <a:buNone/>
                      </a:pPr>
                      <a:r>
                        <a:rPr lang="en-US" sz="1700"/>
                        <a:t>98.0</a:t>
                      </a:r>
                    </a:p>
                  </a:txBody>
                  <a:tcPr marL="86627" marR="86627" marT="43313" marB="43313" anchor="ctr"/>
                </a:tc>
                <a:tc>
                  <a:txBody>
                    <a:bodyPr/>
                    <a:lstStyle/>
                    <a:p>
                      <a:pPr>
                        <a:buNone/>
                      </a:pPr>
                      <a:r>
                        <a:rPr lang="en-US" sz="1700"/>
                        <a:t>38.0</a:t>
                      </a:r>
                    </a:p>
                  </a:txBody>
                  <a:tcPr marL="86627" marR="86627" marT="43313" marB="43313" anchor="ctr"/>
                </a:tc>
                <a:extLst>
                  <a:ext uri="{0D108BD9-81ED-4DB2-BD59-A6C34878D82A}">
                    <a16:rowId xmlns:a16="http://schemas.microsoft.com/office/drawing/2014/main" val="112473456"/>
                  </a:ext>
                </a:extLst>
              </a:tr>
            </a:tbl>
          </a:graphicData>
        </a:graphic>
      </p:graphicFrame>
    </p:spTree>
    <p:extLst>
      <p:ext uri="{BB962C8B-B14F-4D97-AF65-F5344CB8AC3E}">
        <p14:creationId xmlns:p14="http://schemas.microsoft.com/office/powerpoint/2010/main" val="212972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9DB499-3B45-983E-5DEE-EF7B3F1CF60A}"/>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Performance of Prompting Strategies on Screening Metrics</a:t>
            </a:r>
          </a:p>
        </p:txBody>
      </p:sp>
      <p:graphicFrame>
        <p:nvGraphicFramePr>
          <p:cNvPr id="4" name="Table 3">
            <a:extLst>
              <a:ext uri="{FF2B5EF4-FFF2-40B4-BE49-F238E27FC236}">
                <a16:creationId xmlns:a16="http://schemas.microsoft.com/office/drawing/2014/main" id="{AE0CC519-704D-E057-2177-A010EDB4110F}"/>
              </a:ext>
            </a:extLst>
          </p:cNvPr>
          <p:cNvGraphicFramePr>
            <a:graphicFrameLocks noGrp="1"/>
          </p:cNvGraphicFramePr>
          <p:nvPr>
            <p:extLst>
              <p:ext uri="{D42A27DB-BD31-4B8C-83A1-F6EECF244321}">
                <p14:modId xmlns:p14="http://schemas.microsoft.com/office/powerpoint/2010/main" val="3695132938"/>
              </p:ext>
            </p:extLst>
          </p:nvPr>
        </p:nvGraphicFramePr>
        <p:xfrm>
          <a:off x="432225" y="1989196"/>
          <a:ext cx="11327550" cy="4406356"/>
        </p:xfrm>
        <a:graphic>
          <a:graphicData uri="http://schemas.openxmlformats.org/drawingml/2006/table">
            <a:tbl>
              <a:tblPr firstRow="1" bandRow="1">
                <a:tableStyleId>{93296810-A885-4BE3-A3E7-6D5BEEA58F35}</a:tableStyleId>
              </a:tblPr>
              <a:tblGrid>
                <a:gridCol w="3122301">
                  <a:extLst>
                    <a:ext uri="{9D8B030D-6E8A-4147-A177-3AD203B41FA5}">
                      <a16:colId xmlns:a16="http://schemas.microsoft.com/office/drawing/2014/main" val="1370045085"/>
                    </a:ext>
                  </a:extLst>
                </a:gridCol>
                <a:gridCol w="2621751">
                  <a:extLst>
                    <a:ext uri="{9D8B030D-6E8A-4147-A177-3AD203B41FA5}">
                      <a16:colId xmlns:a16="http://schemas.microsoft.com/office/drawing/2014/main" val="3755740816"/>
                    </a:ext>
                  </a:extLst>
                </a:gridCol>
                <a:gridCol w="2791749">
                  <a:extLst>
                    <a:ext uri="{9D8B030D-6E8A-4147-A177-3AD203B41FA5}">
                      <a16:colId xmlns:a16="http://schemas.microsoft.com/office/drawing/2014/main" val="2947176439"/>
                    </a:ext>
                  </a:extLst>
                </a:gridCol>
                <a:gridCol w="2791749">
                  <a:extLst>
                    <a:ext uri="{9D8B030D-6E8A-4147-A177-3AD203B41FA5}">
                      <a16:colId xmlns:a16="http://schemas.microsoft.com/office/drawing/2014/main" val="2350579393"/>
                    </a:ext>
                  </a:extLst>
                </a:gridCol>
              </a:tblGrid>
              <a:tr h="1006390">
                <a:tc>
                  <a:txBody>
                    <a:bodyPr/>
                    <a:lstStyle/>
                    <a:p>
                      <a:pPr>
                        <a:buNone/>
                      </a:pPr>
                      <a:r>
                        <a:rPr lang="en-US" sz="2700" b="1"/>
                        <a:t>Prompting Strategy</a:t>
                      </a:r>
                    </a:p>
                  </a:txBody>
                  <a:tcPr marL="135999" marR="135999" marT="67999" marB="67999" anchor="ctr"/>
                </a:tc>
                <a:tc>
                  <a:txBody>
                    <a:bodyPr/>
                    <a:lstStyle/>
                    <a:p>
                      <a:pPr>
                        <a:buNone/>
                      </a:pPr>
                      <a:r>
                        <a:rPr lang="en-US" sz="2700" b="1"/>
                        <a:t>Accuracy (%)</a:t>
                      </a:r>
                    </a:p>
                  </a:txBody>
                  <a:tcPr marL="135999" marR="135999" marT="67999" marB="67999" anchor="ctr"/>
                </a:tc>
                <a:tc>
                  <a:txBody>
                    <a:bodyPr/>
                    <a:lstStyle/>
                    <a:p>
                      <a:pPr>
                        <a:buNone/>
                      </a:pPr>
                      <a:r>
                        <a:rPr lang="en-US" sz="2700" b="1"/>
                        <a:t>Sensitivity (%)</a:t>
                      </a:r>
                    </a:p>
                  </a:txBody>
                  <a:tcPr marL="135999" marR="135999" marT="67999" marB="67999" anchor="ctr"/>
                </a:tc>
                <a:tc>
                  <a:txBody>
                    <a:bodyPr/>
                    <a:lstStyle/>
                    <a:p>
                      <a:pPr>
                        <a:buNone/>
                      </a:pPr>
                      <a:r>
                        <a:rPr lang="en-US" sz="2700" b="1"/>
                        <a:t>Specificity (%)</a:t>
                      </a:r>
                    </a:p>
                  </a:txBody>
                  <a:tcPr marL="135999" marR="135999" marT="67999" marB="67999" anchor="ctr"/>
                </a:tc>
                <a:extLst>
                  <a:ext uri="{0D108BD9-81ED-4DB2-BD59-A6C34878D82A}">
                    <a16:rowId xmlns:a16="http://schemas.microsoft.com/office/drawing/2014/main" val="2568429991"/>
                  </a:ext>
                </a:extLst>
              </a:tr>
              <a:tr h="598394">
                <a:tc>
                  <a:txBody>
                    <a:bodyPr/>
                    <a:lstStyle/>
                    <a:p>
                      <a:pPr>
                        <a:buNone/>
                      </a:pPr>
                      <a:r>
                        <a:rPr lang="en-US" sz="2700" b="1"/>
                        <a:t>Zero-Shot</a:t>
                      </a:r>
                      <a:endParaRPr lang="en-US" sz="2700"/>
                    </a:p>
                  </a:txBody>
                  <a:tcPr marL="135999" marR="135999" marT="67999" marB="67999" anchor="ctr"/>
                </a:tc>
                <a:tc>
                  <a:txBody>
                    <a:bodyPr/>
                    <a:lstStyle/>
                    <a:p>
                      <a:pPr>
                        <a:buNone/>
                      </a:pPr>
                      <a:r>
                        <a:rPr lang="en-US" sz="2700"/>
                        <a:t>65¹, 84²</a:t>
                      </a:r>
                    </a:p>
                  </a:txBody>
                  <a:tcPr marL="135999" marR="135999" marT="67999" marB="67999" anchor="ctr"/>
                </a:tc>
                <a:tc>
                  <a:txBody>
                    <a:bodyPr/>
                    <a:lstStyle/>
                    <a:p>
                      <a:pPr>
                        <a:buNone/>
                      </a:pPr>
                      <a:r>
                        <a:rPr lang="en-US" sz="2700"/>
                        <a:t>30¹,²</a:t>
                      </a:r>
                    </a:p>
                  </a:txBody>
                  <a:tcPr marL="135999" marR="135999" marT="67999" marB="67999" anchor="ctr"/>
                </a:tc>
                <a:tc>
                  <a:txBody>
                    <a:bodyPr/>
                    <a:lstStyle/>
                    <a:p>
                      <a:pPr>
                        <a:buNone/>
                      </a:pPr>
                      <a:r>
                        <a:rPr lang="en-US" sz="2700"/>
                        <a:t>94², 100¹</a:t>
                      </a:r>
                    </a:p>
                  </a:txBody>
                  <a:tcPr marL="135999" marR="135999" marT="67999" marB="67999" anchor="ctr"/>
                </a:tc>
                <a:extLst>
                  <a:ext uri="{0D108BD9-81ED-4DB2-BD59-A6C34878D82A}">
                    <a16:rowId xmlns:a16="http://schemas.microsoft.com/office/drawing/2014/main" val="3360349379"/>
                  </a:ext>
                </a:extLst>
              </a:tr>
              <a:tr h="598394">
                <a:tc>
                  <a:txBody>
                    <a:bodyPr/>
                    <a:lstStyle/>
                    <a:p>
                      <a:pPr>
                        <a:buNone/>
                      </a:pPr>
                      <a:r>
                        <a:rPr lang="en-US" sz="2700" b="1"/>
                        <a:t>Few-Shot</a:t>
                      </a:r>
                      <a:endParaRPr lang="en-US" sz="2700"/>
                    </a:p>
                  </a:txBody>
                  <a:tcPr marL="135999" marR="135999" marT="67999" marB="67999" anchor="ctr"/>
                </a:tc>
                <a:tc>
                  <a:txBody>
                    <a:bodyPr/>
                    <a:lstStyle/>
                    <a:p>
                      <a:pPr>
                        <a:buNone/>
                      </a:pPr>
                      <a:r>
                        <a:rPr lang="en-US" sz="2700"/>
                        <a:t>78¹</a:t>
                      </a:r>
                    </a:p>
                  </a:txBody>
                  <a:tcPr marL="135999" marR="135999" marT="67999" marB="67999" anchor="ctr"/>
                </a:tc>
                <a:tc>
                  <a:txBody>
                    <a:bodyPr/>
                    <a:lstStyle/>
                    <a:p>
                      <a:pPr>
                        <a:buNone/>
                      </a:pPr>
                      <a:r>
                        <a:rPr lang="en-US" sz="2700"/>
                        <a:t>56¹</a:t>
                      </a:r>
                    </a:p>
                  </a:txBody>
                  <a:tcPr marL="135999" marR="135999" marT="67999" marB="67999" anchor="ctr"/>
                </a:tc>
                <a:tc>
                  <a:txBody>
                    <a:bodyPr/>
                    <a:lstStyle/>
                    <a:p>
                      <a:pPr>
                        <a:buNone/>
                      </a:pPr>
                      <a:r>
                        <a:rPr lang="en-US" sz="2700"/>
                        <a:t>100¹</a:t>
                      </a:r>
                    </a:p>
                  </a:txBody>
                  <a:tcPr marL="135999" marR="135999" marT="67999" marB="67999" anchor="ctr"/>
                </a:tc>
                <a:extLst>
                  <a:ext uri="{0D108BD9-81ED-4DB2-BD59-A6C34878D82A}">
                    <a16:rowId xmlns:a16="http://schemas.microsoft.com/office/drawing/2014/main" val="2212259900"/>
                  </a:ext>
                </a:extLst>
              </a:tr>
              <a:tr h="598394">
                <a:tc>
                  <a:txBody>
                    <a:bodyPr/>
                    <a:lstStyle/>
                    <a:p>
                      <a:pPr>
                        <a:buNone/>
                      </a:pPr>
                      <a:r>
                        <a:rPr lang="en-US" sz="2700" b="1"/>
                        <a:t>Zero-Shot + CoT</a:t>
                      </a:r>
                      <a:endParaRPr lang="en-US" sz="2700"/>
                    </a:p>
                  </a:txBody>
                  <a:tcPr marL="135999" marR="135999" marT="67999" marB="67999" anchor="ctr"/>
                </a:tc>
                <a:tc>
                  <a:txBody>
                    <a:bodyPr/>
                    <a:lstStyle/>
                    <a:p>
                      <a:pPr>
                        <a:buNone/>
                      </a:pPr>
                      <a:r>
                        <a:rPr lang="en-US" sz="2700"/>
                        <a:t>91.3¹</a:t>
                      </a:r>
                    </a:p>
                  </a:txBody>
                  <a:tcPr marL="135999" marR="135999" marT="67999" marB="67999" anchor="ctr"/>
                </a:tc>
                <a:tc>
                  <a:txBody>
                    <a:bodyPr/>
                    <a:lstStyle/>
                    <a:p>
                      <a:pPr>
                        <a:buNone/>
                      </a:pPr>
                      <a:r>
                        <a:rPr lang="en-US" sz="2700"/>
                        <a:t>86.5¹</a:t>
                      </a:r>
                    </a:p>
                  </a:txBody>
                  <a:tcPr marL="135999" marR="135999" marT="67999" marB="67999" anchor="ctr"/>
                </a:tc>
                <a:tc>
                  <a:txBody>
                    <a:bodyPr/>
                    <a:lstStyle/>
                    <a:p>
                      <a:pPr>
                        <a:buNone/>
                      </a:pPr>
                      <a:r>
                        <a:rPr lang="en-US" sz="2700"/>
                        <a:t>96¹</a:t>
                      </a:r>
                    </a:p>
                  </a:txBody>
                  <a:tcPr marL="135999" marR="135999" marT="67999" marB="67999" anchor="ctr"/>
                </a:tc>
                <a:extLst>
                  <a:ext uri="{0D108BD9-81ED-4DB2-BD59-A6C34878D82A}">
                    <a16:rowId xmlns:a16="http://schemas.microsoft.com/office/drawing/2014/main" val="4155445370"/>
                  </a:ext>
                </a:extLst>
              </a:tr>
              <a:tr h="598394">
                <a:tc>
                  <a:txBody>
                    <a:bodyPr/>
                    <a:lstStyle/>
                    <a:p>
                      <a:pPr>
                        <a:buNone/>
                      </a:pPr>
                      <a:r>
                        <a:rPr lang="en-US" sz="2700" b="1"/>
                        <a:t>Few-Shot + CoT</a:t>
                      </a:r>
                      <a:endParaRPr lang="en-US" sz="2700"/>
                    </a:p>
                  </a:txBody>
                  <a:tcPr marL="135999" marR="135999" marT="67999" marB="67999" anchor="ctr"/>
                </a:tc>
                <a:tc>
                  <a:txBody>
                    <a:bodyPr/>
                    <a:lstStyle/>
                    <a:p>
                      <a:pPr>
                        <a:buNone/>
                      </a:pPr>
                      <a:r>
                        <a:rPr lang="en-US" sz="2700"/>
                        <a:t>85.8¹</a:t>
                      </a:r>
                    </a:p>
                  </a:txBody>
                  <a:tcPr marL="135999" marR="135999" marT="67999" marB="67999" anchor="ctr"/>
                </a:tc>
                <a:tc>
                  <a:txBody>
                    <a:bodyPr/>
                    <a:lstStyle/>
                    <a:p>
                      <a:pPr>
                        <a:buNone/>
                      </a:pPr>
                      <a:r>
                        <a:rPr lang="en-US" sz="2700"/>
                        <a:t>98¹</a:t>
                      </a:r>
                    </a:p>
                  </a:txBody>
                  <a:tcPr marL="135999" marR="135999" marT="67999" marB="67999" anchor="ctr"/>
                </a:tc>
                <a:tc>
                  <a:txBody>
                    <a:bodyPr/>
                    <a:lstStyle/>
                    <a:p>
                      <a:pPr>
                        <a:buNone/>
                      </a:pPr>
                      <a:r>
                        <a:rPr lang="en-US" sz="2700"/>
                        <a:t>73.5¹</a:t>
                      </a:r>
                    </a:p>
                  </a:txBody>
                  <a:tcPr marL="135999" marR="135999" marT="67999" marB="67999" anchor="ctr"/>
                </a:tc>
                <a:extLst>
                  <a:ext uri="{0D108BD9-81ED-4DB2-BD59-A6C34878D82A}">
                    <a16:rowId xmlns:a16="http://schemas.microsoft.com/office/drawing/2014/main" val="1608103638"/>
                  </a:ext>
                </a:extLst>
              </a:tr>
              <a:tr h="1006390">
                <a:tc>
                  <a:txBody>
                    <a:bodyPr/>
                    <a:lstStyle/>
                    <a:p>
                      <a:pPr>
                        <a:buNone/>
                      </a:pPr>
                      <a:r>
                        <a:rPr lang="en-US" sz="2700" b="1"/>
                        <a:t>Abstract </a:t>
                      </a:r>
                      <a:r>
                        <a:rPr lang="en-US" sz="2700" b="1" err="1"/>
                        <a:t>ScreenPrompt</a:t>
                      </a:r>
                      <a:endParaRPr lang="en-US" sz="2700"/>
                    </a:p>
                  </a:txBody>
                  <a:tcPr marL="135999" marR="135999" marT="67999" marB="67999" anchor="ctr"/>
                </a:tc>
                <a:tc>
                  <a:txBody>
                    <a:bodyPr/>
                    <a:lstStyle/>
                    <a:p>
                      <a:pPr>
                        <a:buNone/>
                      </a:pPr>
                      <a:r>
                        <a:rPr lang="en-US" sz="2700"/>
                        <a:t>94.3¹</a:t>
                      </a:r>
                    </a:p>
                  </a:txBody>
                  <a:tcPr marL="135999" marR="135999" marT="67999" marB="67999" anchor="ctr"/>
                </a:tc>
                <a:tc>
                  <a:txBody>
                    <a:bodyPr/>
                    <a:lstStyle/>
                    <a:p>
                      <a:pPr>
                        <a:buNone/>
                      </a:pPr>
                      <a:r>
                        <a:rPr lang="en-US" sz="2700"/>
                        <a:t>94.5¹</a:t>
                      </a:r>
                    </a:p>
                  </a:txBody>
                  <a:tcPr marL="135999" marR="135999" marT="67999" marB="67999" anchor="ctr"/>
                </a:tc>
                <a:tc>
                  <a:txBody>
                    <a:bodyPr/>
                    <a:lstStyle/>
                    <a:p>
                      <a:pPr>
                        <a:buNone/>
                      </a:pPr>
                      <a:r>
                        <a:rPr lang="en-US" sz="2700"/>
                        <a:t>94¹</a:t>
                      </a:r>
                    </a:p>
                  </a:txBody>
                  <a:tcPr marL="135999" marR="135999" marT="67999" marB="67999" anchor="ctr"/>
                </a:tc>
                <a:extLst>
                  <a:ext uri="{0D108BD9-81ED-4DB2-BD59-A6C34878D82A}">
                    <a16:rowId xmlns:a16="http://schemas.microsoft.com/office/drawing/2014/main" val="3267630020"/>
                  </a:ext>
                </a:extLst>
              </a:tr>
            </a:tbl>
          </a:graphicData>
        </a:graphic>
      </p:graphicFrame>
    </p:spTree>
    <p:extLst>
      <p:ext uri="{BB962C8B-B14F-4D97-AF65-F5344CB8AC3E}">
        <p14:creationId xmlns:p14="http://schemas.microsoft.com/office/powerpoint/2010/main" val="29101606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9CF7AD-A6FF-2262-F86C-D514A2D148F9}"/>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Observations Across Studies</a:t>
            </a:r>
          </a:p>
        </p:txBody>
      </p:sp>
      <p:sp>
        <p:nvSpPr>
          <p:cNvPr id="3" name="Content Placeholder 2">
            <a:extLst>
              <a:ext uri="{FF2B5EF4-FFF2-40B4-BE49-F238E27FC236}">
                <a16:creationId xmlns:a16="http://schemas.microsoft.com/office/drawing/2014/main" id="{66524715-CB71-ED36-414C-1534C138EF39}"/>
              </a:ext>
            </a:extLst>
          </p:cNvPr>
          <p:cNvSpPr>
            <a:spLocks noGrp="1"/>
          </p:cNvSpPr>
          <p:nvPr>
            <p:ph idx="1"/>
          </p:nvPr>
        </p:nvSpPr>
        <p:spPr>
          <a:xfrm>
            <a:off x="665746" y="1772766"/>
            <a:ext cx="9724031" cy="3683358"/>
          </a:xfrm>
        </p:spPr>
        <p:txBody>
          <a:bodyPr anchor="ctr">
            <a:normAutofit/>
          </a:bodyPr>
          <a:lstStyle/>
          <a:p>
            <a:pPr marL="0" indent="0">
              <a:buNone/>
            </a:pPr>
            <a:r>
              <a:rPr lang="en-US" sz="2400" dirty="0"/>
              <a:t>• </a:t>
            </a:r>
            <a:r>
              <a:rPr lang="en-US" sz="2400" b="1" dirty="0"/>
              <a:t>Prompt design matters:</a:t>
            </a:r>
            <a:r>
              <a:rPr lang="en-US" sz="2400" dirty="0"/>
              <a:t> Inclusion criteria, instructions, and language given to the LLM critically affect performance.</a:t>
            </a:r>
            <a:br>
              <a:rPr lang="en-US" sz="2400" dirty="0"/>
            </a:br>
            <a:r>
              <a:rPr lang="en-US" sz="2400" dirty="0"/>
              <a:t>• </a:t>
            </a:r>
            <a:r>
              <a:rPr lang="en-US" sz="2400" b="1" dirty="0"/>
              <a:t>Example – </a:t>
            </a:r>
            <a:r>
              <a:rPr lang="en-US" sz="2400" b="1" dirty="0" err="1"/>
              <a:t>Oami</a:t>
            </a:r>
            <a:r>
              <a:rPr lang="en-US" sz="2400" b="1" dirty="0"/>
              <a:t> et al. (2024): </a:t>
            </a:r>
            <a:r>
              <a:rPr lang="en-US" sz="2400" dirty="0"/>
              <a:t>Initial prompt: “Exclude studies if any criterion is not met” → High specificity, but only 75% recall.</a:t>
            </a:r>
          </a:p>
          <a:p>
            <a:r>
              <a:rPr lang="en-US" sz="2400" dirty="0"/>
              <a:t>Modified prompt: Added guidance to be more inclusive and include borderline cases → Recall improved to 87%.</a:t>
            </a:r>
          </a:p>
          <a:p>
            <a:r>
              <a:rPr lang="en-US" sz="2400" b="1" dirty="0"/>
              <a:t>LLM-only screening:</a:t>
            </a:r>
            <a:r>
              <a:rPr lang="en-US" sz="2400" dirty="0"/>
              <a:t> Can significantly reduce the risk of missing relevant studies but does not fully eliminate the need for human assessment.</a:t>
            </a:r>
          </a:p>
        </p:txBody>
      </p:sp>
    </p:spTree>
    <p:extLst>
      <p:ext uri="{BB962C8B-B14F-4D97-AF65-F5344CB8AC3E}">
        <p14:creationId xmlns:p14="http://schemas.microsoft.com/office/powerpoint/2010/main" val="1769743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53E9FB-C6B5-2DF6-36F5-23CB00E94968}"/>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Observations Across Studies</a:t>
            </a:r>
          </a:p>
        </p:txBody>
      </p:sp>
      <p:sp>
        <p:nvSpPr>
          <p:cNvPr id="3" name="Content Placeholder 2">
            <a:extLst>
              <a:ext uri="{FF2B5EF4-FFF2-40B4-BE49-F238E27FC236}">
                <a16:creationId xmlns:a16="http://schemas.microsoft.com/office/drawing/2014/main" id="{969F9149-B1F8-270B-7581-548A9B5DA73E}"/>
              </a:ext>
            </a:extLst>
          </p:cNvPr>
          <p:cNvSpPr>
            <a:spLocks noGrp="1"/>
          </p:cNvSpPr>
          <p:nvPr>
            <p:ph idx="1"/>
          </p:nvPr>
        </p:nvSpPr>
        <p:spPr>
          <a:xfrm>
            <a:off x="1371599" y="2318197"/>
            <a:ext cx="9724031" cy="3683358"/>
          </a:xfrm>
        </p:spPr>
        <p:txBody>
          <a:bodyPr anchor="ctr">
            <a:noAutofit/>
          </a:bodyPr>
          <a:lstStyle/>
          <a:p>
            <a:r>
              <a:rPr lang="en-US" sz="1600" b="1" dirty="0"/>
              <a:t>Sensitivity–Specificity Tradeoff: </a:t>
            </a:r>
            <a:r>
              <a:rPr lang="en-US" sz="1600" dirty="0"/>
              <a:t>Most studies failed to achieve 100% sensitivity without a substantial drop in specificity.</a:t>
            </a:r>
          </a:p>
          <a:p>
            <a:r>
              <a:rPr lang="en-US" sz="1600" b="1" dirty="0"/>
              <a:t>Bias in False Negatives:</a:t>
            </a:r>
            <a:br>
              <a:rPr lang="en-US" sz="1600" dirty="0"/>
            </a:br>
            <a:r>
              <a:rPr lang="en-US" sz="1600" dirty="0"/>
              <a:t> – Missed studies often lacked explicit keywords or clear structure.</a:t>
            </a:r>
            <a:br>
              <a:rPr lang="en-US" sz="1600" dirty="0"/>
            </a:br>
            <a:r>
              <a:rPr lang="en-US" sz="1600" dirty="0"/>
              <a:t> – </a:t>
            </a:r>
            <a:r>
              <a:rPr lang="en-US" sz="1600" i="1" dirty="0"/>
              <a:t>Example:</a:t>
            </a:r>
            <a:r>
              <a:rPr lang="en-US" sz="1600" dirty="0"/>
              <a:t> </a:t>
            </a:r>
            <a:r>
              <a:rPr lang="en-US" sz="1600" dirty="0" err="1"/>
              <a:t>Oami</a:t>
            </a:r>
            <a:r>
              <a:rPr lang="en-US" sz="1600" dirty="0"/>
              <a:t> et al. reported GPT-4 excluded some RCTs because abstracts did not explicitly mention study design or population.</a:t>
            </a:r>
            <a:br>
              <a:rPr lang="en-US" sz="1600" dirty="0"/>
            </a:br>
            <a:r>
              <a:rPr lang="en-US" sz="1600" dirty="0"/>
              <a:t> – Principle: “Better to include by mistake than exclude by mistake” — crucial to reduce false negatives.</a:t>
            </a:r>
          </a:p>
          <a:p>
            <a:r>
              <a:rPr lang="en-US" sz="1600" b="1" dirty="0"/>
              <a:t>False Positives:</a:t>
            </a:r>
            <a:br>
              <a:rPr lang="en-US" sz="1600" dirty="0"/>
            </a:br>
            <a:r>
              <a:rPr lang="en-US" sz="1600" dirty="0"/>
              <a:t> – Less harmful but reduce efficiency.</a:t>
            </a:r>
            <a:br>
              <a:rPr lang="en-US" sz="1600" dirty="0"/>
            </a:br>
            <a:r>
              <a:rPr lang="en-US" sz="1600" dirty="0"/>
              <a:t> – LLMs tend to over-include when prompted to be cautious, reflecting uncalibrated confidence.</a:t>
            </a:r>
          </a:p>
          <a:p>
            <a:r>
              <a:rPr lang="en-US" sz="1600" dirty="0"/>
              <a:t> </a:t>
            </a:r>
            <a:r>
              <a:rPr lang="en-US" sz="1600" b="1" dirty="0"/>
              <a:t>Model Calibration &amp; Ensemble Methods:</a:t>
            </a:r>
            <a:br>
              <a:rPr lang="en-US" sz="1600" dirty="0"/>
            </a:br>
            <a:r>
              <a:rPr lang="en-US" sz="1600" dirty="0"/>
              <a:t> – Li et al. used a latent class model to identify which LLMs were most reliable, improving combined precision.</a:t>
            </a:r>
          </a:p>
          <a:p>
            <a:r>
              <a:rPr lang="en-US" sz="1600" dirty="0"/>
              <a:t> </a:t>
            </a:r>
            <a:r>
              <a:rPr lang="en-US" sz="1600" b="1" dirty="0"/>
              <a:t>Discipline-Specific Variation:</a:t>
            </a:r>
            <a:br>
              <a:rPr lang="en-US" sz="1600" dirty="0"/>
            </a:br>
            <a:r>
              <a:rPr lang="en-US" sz="1600" dirty="0"/>
              <a:t> – </a:t>
            </a:r>
            <a:r>
              <a:rPr lang="en-US" sz="1600" dirty="0">
                <a:hlinkClick r:id="rId2"/>
              </a:rPr>
              <a:t>Delgado-Chaves et al.</a:t>
            </a:r>
            <a:r>
              <a:rPr lang="en-US" sz="1600" dirty="0"/>
              <a:t> found lower performance in small “Digital Health” reviews, likely due to jargon and heterogeneous designs.</a:t>
            </a:r>
            <a:br>
              <a:rPr lang="en-US" sz="1600" dirty="0"/>
            </a:br>
            <a:r>
              <a:rPr lang="en-US" sz="1600" dirty="0"/>
              <a:t> – </a:t>
            </a:r>
            <a:r>
              <a:rPr lang="en-US" sz="1600" dirty="0">
                <a:hlinkClick r:id="rId3"/>
              </a:rPr>
              <a:t>Nykvist et al. </a:t>
            </a:r>
            <a:r>
              <a:rPr lang="en-US" sz="1600" dirty="0"/>
              <a:t>noted that nearly all studies are in medicine, so generalizability to fields like social sciences remains untested — where abstracts may be more narrative and less structured.</a:t>
            </a:r>
          </a:p>
          <a:p>
            <a:endParaRPr lang="en-US" sz="1600" dirty="0"/>
          </a:p>
        </p:txBody>
      </p:sp>
    </p:spTree>
    <p:extLst>
      <p:ext uri="{BB962C8B-B14F-4D97-AF65-F5344CB8AC3E}">
        <p14:creationId xmlns:p14="http://schemas.microsoft.com/office/powerpoint/2010/main" val="1181589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2682A5-A05F-686E-B93D-DA9D80EA3F1B}"/>
              </a:ext>
            </a:extLst>
          </p:cNvPr>
          <p:cNvSpPr>
            <a:spLocks noGrp="1"/>
          </p:cNvSpPr>
          <p:nvPr>
            <p:ph type="title"/>
          </p:nvPr>
        </p:nvSpPr>
        <p:spPr>
          <a:xfrm>
            <a:off x="1156851" y="637762"/>
            <a:ext cx="9888496" cy="900131"/>
          </a:xfrm>
        </p:spPr>
        <p:txBody>
          <a:bodyPr anchor="t">
            <a:normAutofit/>
          </a:bodyPr>
          <a:lstStyle/>
          <a:p>
            <a:r>
              <a:rPr lang="en-US" sz="3700">
                <a:solidFill>
                  <a:schemeClr val="bg1"/>
                </a:solidFill>
              </a:rPr>
              <a:t>Human Roles and LLM Performance in Screening</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E88A06-F54B-6ED4-8914-04E4B92B7CB4}"/>
              </a:ext>
            </a:extLst>
          </p:cNvPr>
          <p:cNvSpPr>
            <a:spLocks noGrp="1"/>
          </p:cNvSpPr>
          <p:nvPr>
            <p:ph idx="1"/>
          </p:nvPr>
        </p:nvSpPr>
        <p:spPr>
          <a:xfrm>
            <a:off x="1155548" y="2217343"/>
            <a:ext cx="9880893" cy="3959619"/>
          </a:xfrm>
        </p:spPr>
        <p:txBody>
          <a:bodyPr>
            <a:normAutofit/>
          </a:bodyPr>
          <a:lstStyle/>
          <a:p>
            <a:r>
              <a:rPr lang="en-US" sz="1900" dirty="0"/>
              <a:t> </a:t>
            </a:r>
            <a:r>
              <a:rPr lang="en-US" sz="1900" b="1" dirty="0"/>
              <a:t>LLM as First-Pass Exclusion Filter</a:t>
            </a:r>
            <a:br>
              <a:rPr lang="en-US" sz="1900" dirty="0"/>
            </a:br>
            <a:r>
              <a:rPr lang="en-US" sz="1900" dirty="0"/>
              <a:t> – LLM rapidly excludes obviously irrelevant citations.</a:t>
            </a:r>
            <a:br>
              <a:rPr lang="en-US" sz="1900" dirty="0"/>
            </a:br>
            <a:r>
              <a:rPr lang="en-US" sz="1900" dirty="0"/>
              <a:t> – Humans screen only a reduced set </a:t>
            </a:r>
            <a:br>
              <a:rPr lang="en-US" sz="1900" dirty="0"/>
            </a:br>
            <a:r>
              <a:rPr lang="en-US" sz="1900" dirty="0"/>
              <a:t> – Exclusions are typically &gt;99% safe.</a:t>
            </a:r>
          </a:p>
          <a:p>
            <a:r>
              <a:rPr lang="en-US" sz="1900" b="1" dirty="0"/>
              <a:t>LLM as Second Reviewer (Dual Screening)</a:t>
            </a:r>
            <a:br>
              <a:rPr lang="en-US" sz="1900" dirty="0"/>
            </a:br>
            <a:r>
              <a:rPr lang="en-US" sz="1900" dirty="0"/>
              <a:t> – One human + one LLM independently screen all references.</a:t>
            </a:r>
            <a:br>
              <a:rPr lang="en-US" sz="1900" dirty="0"/>
            </a:br>
            <a:r>
              <a:rPr lang="en-US" sz="1900" dirty="0"/>
              <a:t> – Any reference included by either is kept (union of decisions).</a:t>
            </a:r>
            <a:br>
              <a:rPr lang="en-US" sz="1900" dirty="0"/>
            </a:br>
            <a:r>
              <a:rPr lang="en-US" sz="1900" dirty="0"/>
              <a:t> – Humans only review LLM inclusions and conflicts, reducing duplicate screening effort.</a:t>
            </a:r>
          </a:p>
          <a:p>
            <a:r>
              <a:rPr lang="en-US" sz="1900" b="1" dirty="0"/>
              <a:t>LLM Ensemble as Screening Committee (No Humans)</a:t>
            </a:r>
            <a:br>
              <a:rPr lang="en-US" sz="1900" dirty="0"/>
            </a:br>
            <a:r>
              <a:rPr lang="en-US" sz="1900" dirty="0"/>
              <a:t> – Uses multiple LLMs, including studies only if all agree (or via majority voting).</a:t>
            </a:r>
            <a:br>
              <a:rPr lang="en-US" sz="1900" dirty="0"/>
            </a:br>
            <a:r>
              <a:rPr lang="en-US" sz="1900" dirty="0"/>
              <a:t> – Achieves high precision by pruning false positives not unanimously flagged.</a:t>
            </a:r>
          </a:p>
          <a:p>
            <a:pPr marL="0" indent="0">
              <a:buNone/>
            </a:pPr>
            <a:br>
              <a:rPr lang="en-US" sz="1900" dirty="0"/>
            </a:br>
            <a:r>
              <a:rPr lang="en-US" sz="1900" dirty="0"/>
              <a:t>Note: </a:t>
            </a:r>
            <a:r>
              <a:rPr lang="en-US" sz="1900" i="1" dirty="0"/>
              <a:t>Human reviewers remain essential for resolving false positives.</a:t>
            </a:r>
            <a:endParaRPr lang="en-US" sz="1900" dirty="0"/>
          </a:p>
          <a:p>
            <a:pPr marL="514350" indent="-514350">
              <a:buAutoNum type="arabicPeriod"/>
            </a:pPr>
            <a:endParaRPr lang="en-US" sz="1900" dirty="0"/>
          </a:p>
        </p:txBody>
      </p:sp>
    </p:spTree>
    <p:extLst>
      <p:ext uri="{BB962C8B-B14F-4D97-AF65-F5344CB8AC3E}">
        <p14:creationId xmlns:p14="http://schemas.microsoft.com/office/powerpoint/2010/main" val="267824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AB2D5A-8658-D5E5-35D2-4E7A51E62215}"/>
              </a:ext>
            </a:extLst>
          </p:cNvPr>
          <p:cNvSpPr>
            <a:spLocks noGrp="1"/>
          </p:cNvSpPr>
          <p:nvPr>
            <p:ph type="title"/>
          </p:nvPr>
        </p:nvSpPr>
        <p:spPr>
          <a:xfrm>
            <a:off x="1371597" y="348865"/>
            <a:ext cx="10044023" cy="877729"/>
          </a:xfrm>
        </p:spPr>
        <p:txBody>
          <a:bodyPr anchor="ctr">
            <a:normAutofit/>
          </a:bodyPr>
          <a:lstStyle/>
          <a:p>
            <a:r>
              <a:rPr lang="en-US" sz="3700">
                <a:solidFill>
                  <a:srgbClr val="FFFFFF"/>
                </a:solidFill>
              </a:rPr>
              <a:t>Resource Requirements: Human vs. AI Screening</a:t>
            </a:r>
          </a:p>
        </p:txBody>
      </p:sp>
      <p:graphicFrame>
        <p:nvGraphicFramePr>
          <p:cNvPr id="4" name="Content Placeholder 3">
            <a:extLst>
              <a:ext uri="{FF2B5EF4-FFF2-40B4-BE49-F238E27FC236}">
                <a16:creationId xmlns:a16="http://schemas.microsoft.com/office/drawing/2014/main" id="{02A3E0C2-994B-642E-7916-0EF4738A9709}"/>
              </a:ext>
            </a:extLst>
          </p:cNvPr>
          <p:cNvGraphicFramePr>
            <a:graphicFrameLocks noGrp="1"/>
          </p:cNvGraphicFramePr>
          <p:nvPr>
            <p:ph idx="1"/>
            <p:extLst>
              <p:ext uri="{D42A27DB-BD31-4B8C-83A1-F6EECF244321}">
                <p14:modId xmlns:p14="http://schemas.microsoft.com/office/powerpoint/2010/main" val="1892769976"/>
              </p:ext>
            </p:extLst>
          </p:nvPr>
        </p:nvGraphicFramePr>
        <p:xfrm>
          <a:off x="644056" y="2134512"/>
          <a:ext cx="10927830" cy="4148942"/>
        </p:xfrm>
        <a:graphic>
          <a:graphicData uri="http://schemas.openxmlformats.org/drawingml/2006/table">
            <a:tbl>
              <a:tblPr>
                <a:tableStyleId>{00A15C55-8517-42AA-B614-E9B94910E393}</a:tableStyleId>
              </a:tblPr>
              <a:tblGrid>
                <a:gridCol w="3013405">
                  <a:extLst>
                    <a:ext uri="{9D8B030D-6E8A-4147-A177-3AD203B41FA5}">
                      <a16:colId xmlns:a16="http://schemas.microsoft.com/office/drawing/2014/main" val="3506206056"/>
                    </a:ext>
                  </a:extLst>
                </a:gridCol>
                <a:gridCol w="3867175">
                  <a:extLst>
                    <a:ext uri="{9D8B030D-6E8A-4147-A177-3AD203B41FA5}">
                      <a16:colId xmlns:a16="http://schemas.microsoft.com/office/drawing/2014/main" val="1454342762"/>
                    </a:ext>
                  </a:extLst>
                </a:gridCol>
                <a:gridCol w="4047250">
                  <a:extLst>
                    <a:ext uri="{9D8B030D-6E8A-4147-A177-3AD203B41FA5}">
                      <a16:colId xmlns:a16="http://schemas.microsoft.com/office/drawing/2014/main" val="3149147909"/>
                    </a:ext>
                  </a:extLst>
                </a:gridCol>
              </a:tblGrid>
              <a:tr h="903005">
                <a:tc>
                  <a:txBody>
                    <a:bodyPr/>
                    <a:lstStyle/>
                    <a:p>
                      <a:pPr>
                        <a:buNone/>
                      </a:pPr>
                      <a:r>
                        <a:rPr lang="en-US" sz="2400" b="1"/>
                        <a:t>Metric</a:t>
                      </a:r>
                      <a:endParaRPr lang="en-US" sz="2400"/>
                    </a:p>
                  </a:txBody>
                  <a:tcPr marL="122028" marR="122028" marT="61014" marB="61014" anchor="ctr"/>
                </a:tc>
                <a:tc>
                  <a:txBody>
                    <a:bodyPr/>
                    <a:lstStyle/>
                    <a:p>
                      <a:pPr>
                        <a:buNone/>
                      </a:pPr>
                      <a:r>
                        <a:rPr lang="en-US" sz="2400" b="1"/>
                        <a:t>Human Screening</a:t>
                      </a:r>
                      <a:endParaRPr lang="en-US" sz="2400"/>
                    </a:p>
                  </a:txBody>
                  <a:tcPr marL="122028" marR="122028" marT="61014" marB="61014" anchor="ctr"/>
                </a:tc>
                <a:tc>
                  <a:txBody>
                    <a:bodyPr/>
                    <a:lstStyle/>
                    <a:p>
                      <a:pPr>
                        <a:buNone/>
                      </a:pPr>
                      <a:r>
                        <a:rPr lang="en-US" sz="2400" b="1"/>
                        <a:t>AI-Assisted Screening (GPT-4)</a:t>
                      </a:r>
                      <a:endParaRPr lang="en-US" sz="2400"/>
                    </a:p>
                  </a:txBody>
                  <a:tcPr marL="122028" marR="122028" marT="61014" marB="61014" anchor="ctr"/>
                </a:tc>
                <a:extLst>
                  <a:ext uri="{0D108BD9-81ED-4DB2-BD59-A6C34878D82A}">
                    <a16:rowId xmlns:a16="http://schemas.microsoft.com/office/drawing/2014/main" val="2313852653"/>
                  </a:ext>
                </a:extLst>
              </a:tr>
              <a:tr h="536922">
                <a:tc>
                  <a:txBody>
                    <a:bodyPr/>
                    <a:lstStyle/>
                    <a:p>
                      <a:pPr>
                        <a:buNone/>
                      </a:pPr>
                      <a:r>
                        <a:rPr lang="en-US" sz="2400" b="1"/>
                        <a:t>Time per Abstract</a:t>
                      </a:r>
                      <a:endParaRPr lang="en-US" sz="2400"/>
                    </a:p>
                  </a:txBody>
                  <a:tcPr marL="122028" marR="122028" marT="61014" marB="61014" anchor="ctr"/>
                </a:tc>
                <a:tc>
                  <a:txBody>
                    <a:bodyPr/>
                    <a:lstStyle/>
                    <a:p>
                      <a:pPr>
                        <a:buNone/>
                      </a:pPr>
                      <a:r>
                        <a:rPr lang="en-US" sz="2400"/>
                        <a:t>~0.071 hours (≈ 4.3 min)⁵</a:t>
                      </a:r>
                    </a:p>
                  </a:txBody>
                  <a:tcPr marL="122028" marR="122028" marT="61014" marB="61014" anchor="ctr"/>
                </a:tc>
                <a:tc>
                  <a:txBody>
                    <a:bodyPr/>
                    <a:lstStyle/>
                    <a:p>
                      <a:pPr>
                        <a:buNone/>
                      </a:pPr>
                      <a:r>
                        <a:rPr lang="en-US" sz="2400"/>
                        <a:t>~0.001 hours (≈ 3.6 sec)¹</a:t>
                      </a:r>
                    </a:p>
                  </a:txBody>
                  <a:tcPr marL="122028" marR="122028" marT="61014" marB="61014" anchor="ctr"/>
                </a:tc>
                <a:extLst>
                  <a:ext uri="{0D108BD9-81ED-4DB2-BD59-A6C34878D82A}">
                    <a16:rowId xmlns:a16="http://schemas.microsoft.com/office/drawing/2014/main" val="2322912412"/>
                  </a:ext>
                </a:extLst>
              </a:tr>
              <a:tr h="903005">
                <a:tc>
                  <a:txBody>
                    <a:bodyPr/>
                    <a:lstStyle/>
                    <a:p>
                      <a:pPr>
                        <a:buNone/>
                      </a:pPr>
                      <a:r>
                        <a:rPr lang="en-US" sz="2400" b="1"/>
                        <a:t>Total Time</a:t>
                      </a:r>
                      <a:endParaRPr lang="en-US" sz="2400"/>
                    </a:p>
                  </a:txBody>
                  <a:tcPr marL="122028" marR="122028" marT="61014" marB="61014" anchor="ctr"/>
                </a:tc>
                <a:tc>
                  <a:txBody>
                    <a:bodyPr/>
                    <a:lstStyle/>
                    <a:p>
                      <a:pPr>
                        <a:buNone/>
                      </a:pPr>
                      <a:r>
                        <a:rPr lang="en-US" sz="2400"/>
                        <a:t>~67.3 weeks for large reviews⁵</a:t>
                      </a:r>
                    </a:p>
                  </a:txBody>
                  <a:tcPr marL="122028" marR="122028" marT="61014" marB="61014" anchor="ctr"/>
                </a:tc>
                <a:tc>
                  <a:txBody>
                    <a:bodyPr/>
                    <a:lstStyle/>
                    <a:p>
                      <a:pPr>
                        <a:buNone/>
                      </a:pPr>
                      <a:r>
                        <a:rPr lang="en-US" sz="2400" b="0"/>
                        <a:t>88% faster </a:t>
                      </a:r>
                      <a:r>
                        <a:rPr lang="en-US" sz="2400"/>
                        <a:t>– 100 abstracts in ~6.3 min</a:t>
                      </a:r>
                    </a:p>
                  </a:txBody>
                  <a:tcPr marL="122028" marR="122028" marT="61014" marB="61014" anchor="ctr"/>
                </a:tc>
                <a:extLst>
                  <a:ext uri="{0D108BD9-81ED-4DB2-BD59-A6C34878D82A}">
                    <a16:rowId xmlns:a16="http://schemas.microsoft.com/office/drawing/2014/main" val="2859352467"/>
                  </a:ext>
                </a:extLst>
              </a:tr>
              <a:tr h="903005">
                <a:tc>
                  <a:txBody>
                    <a:bodyPr/>
                    <a:lstStyle/>
                    <a:p>
                      <a:pPr>
                        <a:buNone/>
                      </a:pPr>
                      <a:r>
                        <a:rPr lang="en-US" sz="2400" b="1"/>
                        <a:t>Cost per Abstract</a:t>
                      </a:r>
                      <a:endParaRPr lang="en-US" sz="2400"/>
                    </a:p>
                  </a:txBody>
                  <a:tcPr marL="122028" marR="122028" marT="61014" marB="61014" anchor="ctr"/>
                </a:tc>
                <a:tc>
                  <a:txBody>
                    <a:bodyPr/>
                    <a:lstStyle/>
                    <a:p>
                      <a:pPr>
                        <a:buNone/>
                      </a:pPr>
                      <a:r>
                        <a:rPr lang="en-US" sz="2400"/>
                        <a:t>~$1.40¹ (≈ $140,000 for 5 researchers)⁶</a:t>
                      </a:r>
                    </a:p>
                  </a:txBody>
                  <a:tcPr marL="122028" marR="122028" marT="61014" marB="61014" anchor="ctr"/>
                </a:tc>
                <a:tc>
                  <a:txBody>
                    <a:bodyPr/>
                    <a:lstStyle/>
                    <a:p>
                      <a:pPr>
                        <a:buNone/>
                      </a:pPr>
                      <a:r>
                        <a:rPr lang="en-US" sz="2400"/>
                        <a:t>~$0.06¹ (≈ $16 for 200 abstracts)</a:t>
                      </a:r>
                    </a:p>
                  </a:txBody>
                  <a:tcPr marL="122028" marR="122028" marT="61014" marB="61014" anchor="ctr"/>
                </a:tc>
                <a:extLst>
                  <a:ext uri="{0D108BD9-81ED-4DB2-BD59-A6C34878D82A}">
                    <a16:rowId xmlns:a16="http://schemas.microsoft.com/office/drawing/2014/main" val="2650346520"/>
                  </a:ext>
                </a:extLst>
              </a:tr>
              <a:tr h="903005">
                <a:tc>
                  <a:txBody>
                    <a:bodyPr/>
                    <a:lstStyle/>
                    <a:p>
                      <a:pPr>
                        <a:buNone/>
                      </a:pPr>
                      <a:r>
                        <a:rPr lang="en-US" sz="2400" b="1"/>
                        <a:t>Efficiency Impact</a:t>
                      </a:r>
                      <a:endParaRPr lang="en-US" sz="2400"/>
                    </a:p>
                  </a:txBody>
                  <a:tcPr marL="122028" marR="122028" marT="61014" marB="61014" anchor="ctr"/>
                </a:tc>
                <a:tc>
                  <a:txBody>
                    <a:bodyPr/>
                    <a:lstStyle/>
                    <a:p>
                      <a:pPr>
                        <a:buNone/>
                      </a:pPr>
                      <a:r>
                        <a:rPr lang="en-US" sz="2400"/>
                        <a:t>Requires 5 researchers over months</a:t>
                      </a:r>
                    </a:p>
                  </a:txBody>
                  <a:tcPr marL="122028" marR="122028" marT="61014" marB="61014" anchor="ctr"/>
                </a:tc>
                <a:tc>
                  <a:txBody>
                    <a:bodyPr/>
                    <a:lstStyle/>
                    <a:p>
                      <a:pPr>
                        <a:buNone/>
                      </a:pPr>
                      <a:r>
                        <a:rPr lang="en-US" sz="2400"/>
                        <a:t>Cuts manual screening workload dramatically</a:t>
                      </a:r>
                    </a:p>
                  </a:txBody>
                  <a:tcPr marL="122028" marR="122028" marT="61014" marB="61014" anchor="ctr"/>
                </a:tc>
                <a:extLst>
                  <a:ext uri="{0D108BD9-81ED-4DB2-BD59-A6C34878D82A}">
                    <a16:rowId xmlns:a16="http://schemas.microsoft.com/office/drawing/2014/main" val="1919986808"/>
                  </a:ext>
                </a:extLst>
              </a:tr>
            </a:tbl>
          </a:graphicData>
        </a:graphic>
      </p:graphicFrame>
    </p:spTree>
    <p:extLst>
      <p:ext uri="{BB962C8B-B14F-4D97-AF65-F5344CB8AC3E}">
        <p14:creationId xmlns:p14="http://schemas.microsoft.com/office/powerpoint/2010/main" val="2170616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531FB-5A6F-0867-A6F9-178E2F0FE08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Literature Gaps</a:t>
            </a:r>
          </a:p>
        </p:txBody>
      </p:sp>
      <p:sp>
        <p:nvSpPr>
          <p:cNvPr id="3" name="Content Placeholder 2">
            <a:extLst>
              <a:ext uri="{FF2B5EF4-FFF2-40B4-BE49-F238E27FC236}">
                <a16:creationId xmlns:a16="http://schemas.microsoft.com/office/drawing/2014/main" id="{71917BF0-B0AD-1B26-42DA-1FFF484F4E87}"/>
              </a:ext>
            </a:extLst>
          </p:cNvPr>
          <p:cNvSpPr>
            <a:spLocks noGrp="1"/>
          </p:cNvSpPr>
          <p:nvPr>
            <p:ph idx="1"/>
          </p:nvPr>
        </p:nvSpPr>
        <p:spPr>
          <a:xfrm>
            <a:off x="4810259" y="649480"/>
            <a:ext cx="6555347" cy="5546047"/>
          </a:xfrm>
        </p:spPr>
        <p:txBody>
          <a:bodyPr anchor="ctr">
            <a:normAutofit/>
          </a:bodyPr>
          <a:lstStyle/>
          <a:p>
            <a:pPr marL="0" indent="0">
              <a:buNone/>
            </a:pPr>
            <a:r>
              <a:rPr lang="en-US" sz="1700"/>
              <a:t>• </a:t>
            </a:r>
            <a:r>
              <a:rPr lang="en-US" sz="1700" b="1"/>
              <a:t>Domain Limitation:</a:t>
            </a:r>
            <a:r>
              <a:rPr lang="en-US" sz="1700"/>
              <a:t> Most prior research on AI-assisted systematic reviews focuses on biomedical, environmental, and health domains</a:t>
            </a:r>
            <a:r>
              <a:rPr lang="en-US" sz="1700" baseline="30000">
                <a:hlinkClick r:id="rId2"/>
              </a:rPr>
              <a:t>1</a:t>
            </a:r>
            <a:r>
              <a:rPr lang="en-US" sz="1700" baseline="30000"/>
              <a:t>, </a:t>
            </a:r>
            <a:r>
              <a:rPr lang="en-US" sz="1700" baseline="30000">
                <a:hlinkClick r:id="rId3"/>
              </a:rPr>
              <a:t>4</a:t>
            </a:r>
            <a:r>
              <a:rPr lang="en-US" sz="1700" baseline="30000"/>
              <a:t>, </a:t>
            </a:r>
            <a:r>
              <a:rPr lang="en-US" sz="1700" baseline="30000">
                <a:hlinkClick r:id="rId4"/>
              </a:rPr>
              <a:t>5</a:t>
            </a:r>
            <a:r>
              <a:rPr lang="en-US" sz="1700" baseline="30000"/>
              <a:t>, </a:t>
            </a:r>
            <a:r>
              <a:rPr lang="en-US" sz="1700" baseline="30000">
                <a:hlinkClick r:id="rId5"/>
              </a:rPr>
              <a:t>8</a:t>
            </a:r>
            <a:r>
              <a:rPr lang="en-US" sz="1700" baseline="30000"/>
              <a:t>, </a:t>
            </a:r>
            <a:r>
              <a:rPr lang="en-US" sz="1700"/>
              <a:t>— typically using standard benchmark datasets.</a:t>
            </a:r>
            <a:br>
              <a:rPr lang="en-US" sz="1700"/>
            </a:br>
            <a:r>
              <a:rPr lang="en-US" sz="1700"/>
              <a:t>• </a:t>
            </a:r>
            <a:r>
              <a:rPr lang="en-US" sz="1700" b="1"/>
              <a:t>Underexplored Areas:</a:t>
            </a:r>
            <a:r>
              <a:rPr lang="en-US" sz="1700"/>
              <a:t> Niche domains like youth homelessness remain largely understudied.</a:t>
            </a:r>
            <a:br>
              <a:rPr lang="en-US" sz="1700"/>
            </a:br>
            <a:r>
              <a:rPr lang="en-US" sz="1700"/>
              <a:t>• </a:t>
            </a:r>
            <a:r>
              <a:rPr lang="en-US" sz="1700" b="1"/>
              <a:t>Topic Sensitivity:</a:t>
            </a:r>
            <a:r>
              <a:rPr lang="en-US" sz="1700"/>
              <a:t> LLM performance can vary widely depending on the topic and dataset.</a:t>
            </a:r>
            <a:br>
              <a:rPr lang="en-US" sz="1700"/>
            </a:br>
            <a:r>
              <a:rPr lang="en-US" sz="1700"/>
              <a:t>• </a:t>
            </a:r>
            <a:r>
              <a:rPr lang="en-US" sz="1700" b="1"/>
              <a:t>Potential Bias:</a:t>
            </a:r>
            <a:r>
              <a:rPr lang="en-US" sz="1700"/>
              <a:t> Models such as GPTs may have been trained on some of the same publications or reviews used for benchmarking, introducing bias.</a:t>
            </a:r>
            <a:br>
              <a:rPr lang="en-US" sz="1700"/>
            </a:br>
            <a:r>
              <a:rPr lang="en-US" sz="1700"/>
              <a:t>• </a:t>
            </a:r>
            <a:r>
              <a:rPr lang="en-US" sz="1700" b="1"/>
              <a:t>Performance Pattern:</a:t>
            </a:r>
            <a:r>
              <a:rPr lang="en-US" sz="1700"/>
              <a:t> Studies frequently report </a:t>
            </a:r>
            <a:r>
              <a:rPr lang="en-US" sz="1700" b="1"/>
              <a:t>high precision but low recall</a:t>
            </a:r>
            <a:r>
              <a:rPr lang="en-US" sz="1700"/>
              <a:t>, risking missed relevant studies⁶.</a:t>
            </a:r>
            <a:br>
              <a:rPr lang="en-US" sz="1700"/>
            </a:br>
            <a:r>
              <a:rPr lang="en-US" sz="1700"/>
              <a:t>• </a:t>
            </a:r>
            <a:r>
              <a:rPr lang="en-US" sz="1700" b="1"/>
              <a:t>Prompt Design Needs:</a:t>
            </a:r>
            <a:r>
              <a:rPr lang="en-US" sz="1700"/>
              <a:t> Effective prompts should be </a:t>
            </a:r>
            <a:r>
              <a:rPr lang="en-US" sz="1700" b="1"/>
              <a:t>generalizable</a:t>
            </a:r>
            <a:r>
              <a:rPr lang="en-US" sz="1700"/>
              <a:t> across systematic review topics to enable consistent, automated screening.</a:t>
            </a:r>
            <a:br>
              <a:rPr lang="en-US" sz="1700"/>
            </a:br>
            <a:r>
              <a:rPr lang="en-US" sz="1700"/>
              <a:t>• </a:t>
            </a:r>
            <a:r>
              <a:rPr lang="en-US" sz="1700" b="1"/>
              <a:t>Future Directions:</a:t>
            </a:r>
            <a:br>
              <a:rPr lang="en-US" sz="1700"/>
            </a:br>
            <a:r>
              <a:rPr lang="en-US" sz="1700"/>
              <a:t>– </a:t>
            </a:r>
            <a:r>
              <a:rPr lang="en-US" sz="1700" b="1"/>
              <a:t>Retrieval-Augmented Screening:</a:t>
            </a:r>
            <a:r>
              <a:rPr lang="en-US" sz="1700"/>
              <a:t> LLMs could use external context (e.g., PICO definitions, known included studies) to improve decision-making.</a:t>
            </a:r>
            <a:br>
              <a:rPr lang="en-US" sz="1700"/>
            </a:br>
            <a:r>
              <a:rPr lang="en-US" sz="1700"/>
              <a:t>– </a:t>
            </a:r>
            <a:r>
              <a:rPr lang="en-US" sz="1700" b="1"/>
              <a:t>Practitioner Guidance:</a:t>
            </a:r>
            <a:r>
              <a:rPr lang="en-US" sz="1700"/>
              <a:t> Systematic review teams need training to interpret LLM recommendations, know when to override them, and ensure no critical evidence is excluded.</a:t>
            </a:r>
          </a:p>
        </p:txBody>
      </p:sp>
    </p:spTree>
    <p:extLst>
      <p:ext uri="{BB962C8B-B14F-4D97-AF65-F5344CB8AC3E}">
        <p14:creationId xmlns:p14="http://schemas.microsoft.com/office/powerpoint/2010/main" val="1153770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BD31095-0B72-09CF-9519-3411AD15F551}"/>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The Current Study </a:t>
            </a:r>
          </a:p>
        </p:txBody>
      </p:sp>
    </p:spTree>
    <p:extLst>
      <p:ext uri="{BB962C8B-B14F-4D97-AF65-F5344CB8AC3E}">
        <p14:creationId xmlns:p14="http://schemas.microsoft.com/office/powerpoint/2010/main" val="187017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8982-C801-247F-6595-CD03844AF0B4}"/>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D1C10EC1-CD6E-98F3-F8A2-718FE9F99FDE}"/>
              </a:ext>
            </a:extLst>
          </p:cNvPr>
          <p:cNvSpPr>
            <a:spLocks noGrp="1"/>
          </p:cNvSpPr>
          <p:nvPr>
            <p:ph idx="1"/>
          </p:nvPr>
        </p:nvSpPr>
        <p:spPr/>
        <p:txBody>
          <a:bodyPr>
            <a:normAutofit/>
          </a:bodyPr>
          <a:lstStyle/>
          <a:p>
            <a:r>
              <a:rPr lang="en-US" dirty="0"/>
              <a:t>Based on information processing theories, “Experiential screening”: This approach was designed to simulate a realistic and practical scenario that reflects common academic practices</a:t>
            </a:r>
          </a:p>
          <a:p>
            <a:r>
              <a:rPr lang="en-US" dirty="0"/>
              <a:t>Mimic a typical interaction between a senior researcher and a research assistant or assigning role for LLMs to be a researcher. </a:t>
            </a:r>
          </a:p>
          <a:p>
            <a:r>
              <a:rPr lang="en-US" dirty="0"/>
              <a:t>“Cognitive screening”: </a:t>
            </a:r>
          </a:p>
          <a:p>
            <a:r>
              <a:rPr lang="en-US" dirty="0"/>
              <a:t>The sentiment aspects of the abstract.</a:t>
            </a:r>
          </a:p>
          <a:p>
            <a:r>
              <a:rPr lang="en-US" dirty="0"/>
              <a:t>All prompts are crafted by humans and let ChatGPT refine to better communicate with LLMs.</a:t>
            </a:r>
          </a:p>
          <a:p>
            <a:endParaRPr lang="en-US" dirty="0"/>
          </a:p>
          <a:p>
            <a:endParaRPr lang="en-US" dirty="0"/>
          </a:p>
          <a:p>
            <a:endParaRPr lang="en-US" dirty="0"/>
          </a:p>
        </p:txBody>
      </p:sp>
    </p:spTree>
    <p:extLst>
      <p:ext uri="{BB962C8B-B14F-4D97-AF65-F5344CB8AC3E}">
        <p14:creationId xmlns:p14="http://schemas.microsoft.com/office/powerpoint/2010/main" val="3203619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56F0-0A56-377A-9421-610DA76406FC}"/>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7F943689-559C-FA22-2D91-6B74DC7BCED9}"/>
              </a:ext>
            </a:extLst>
          </p:cNvPr>
          <p:cNvSpPr>
            <a:spLocks noGrp="1"/>
          </p:cNvSpPr>
          <p:nvPr>
            <p:ph idx="1"/>
          </p:nvPr>
        </p:nvSpPr>
        <p:spPr/>
        <p:txBody>
          <a:bodyPr/>
          <a:lstStyle/>
          <a:p>
            <a:r>
              <a:rPr lang="en-US" dirty="0"/>
              <a:t>The dataset was collected over two phases: </a:t>
            </a:r>
          </a:p>
          <a:p>
            <a:pPr>
              <a:buFont typeface="Courier New" panose="02070309020205020404" pitchFamily="49" charset="0"/>
              <a:buChar char="o"/>
            </a:pPr>
            <a:r>
              <a:rPr lang="en-US" dirty="0"/>
              <a:t> Phase 1: Studies published between 2008 to 2017 </a:t>
            </a:r>
          </a:p>
          <a:p>
            <a:pPr>
              <a:buFont typeface="Courier New" panose="02070309020205020404" pitchFamily="49" charset="0"/>
              <a:buChar char="o"/>
            </a:pPr>
            <a:r>
              <a:rPr lang="en-US" dirty="0"/>
              <a:t>Phase 2: Studies published between 2017 to 2025 (evaluation set)</a:t>
            </a:r>
          </a:p>
          <a:p>
            <a:r>
              <a:rPr lang="en-US" dirty="0"/>
              <a:t>The prompt is tested on two different datasets collected across time frames and are benchmarked across two different sets of reviewers to ensure that the prompt works across different datasets in the youth homelessness domain</a:t>
            </a:r>
          </a:p>
          <a:p>
            <a:endParaRPr lang="en-US" dirty="0"/>
          </a:p>
        </p:txBody>
      </p:sp>
    </p:spTree>
    <p:extLst>
      <p:ext uri="{BB962C8B-B14F-4D97-AF65-F5344CB8AC3E}">
        <p14:creationId xmlns:p14="http://schemas.microsoft.com/office/powerpoint/2010/main" val="3063701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4366</TotalTime>
  <Words>4310</Words>
  <Application>Microsoft Macintosh PowerPoint</Application>
  <PresentationFormat>Widescreen</PresentationFormat>
  <Paragraphs>350</Paragraphs>
  <Slides>49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Aptos</vt:lpstr>
      <vt:lpstr>Aptos Display</vt:lpstr>
      <vt:lpstr>Arial</vt:lpstr>
      <vt:lpstr>Calibri</vt:lpstr>
      <vt:lpstr>Courier New</vt:lpstr>
      <vt:lpstr>Office Theme</vt:lpstr>
      <vt:lpstr>LLM-Assisted Abstract Screening for Youth Homelessness Interventions</vt:lpstr>
      <vt:lpstr>Why Abstract Screening? </vt:lpstr>
      <vt:lpstr>Development of AI-Assisted SRs</vt:lpstr>
      <vt:lpstr>Development of AI-Assisted SRs</vt:lpstr>
      <vt:lpstr>Development of AI-Assisted SRs</vt:lpstr>
      <vt:lpstr>Why prompt engineering is preferable?</vt:lpstr>
      <vt:lpstr>Prompt Structure</vt:lpstr>
      <vt:lpstr>1. Zero-shot prompt engineering1,2,3,4  </vt:lpstr>
      <vt:lpstr>Example 11 </vt:lpstr>
      <vt:lpstr>Example 25</vt:lpstr>
      <vt:lpstr>Example 32 </vt:lpstr>
      <vt:lpstr>Example 42 </vt:lpstr>
      <vt:lpstr>In addition to the standard zero-shot approach, studies have explored several alternative zero-shot strategies</vt:lpstr>
      <vt:lpstr>1.1 Zero-shot ScreenPrompt </vt:lpstr>
      <vt:lpstr>1.2 Zero-Shot with Likert-Scale outcome3 </vt:lpstr>
      <vt:lpstr>1.3 Question-Answering Framework4</vt:lpstr>
      <vt:lpstr>Example 7</vt:lpstr>
      <vt:lpstr>2. Few-Shot Prompt Engineering </vt:lpstr>
      <vt:lpstr>Example 11 </vt:lpstr>
      <vt:lpstr>In addition to the standard few-shot approach, studies have explored several alternative few-shot strategies</vt:lpstr>
      <vt:lpstr>2.1 Few-Shot Chain of Thought (CoT) Abstract ScreenPrompt1 </vt:lpstr>
      <vt:lpstr>2.2 Few-Shot with Only Inclusion Criteria</vt:lpstr>
      <vt:lpstr>3. Chain-of-Thought (CoT) Prompt Engineering</vt:lpstr>
      <vt:lpstr>In addition to the standard CoT approach, studies have explored several alternative CoT strategies</vt:lpstr>
      <vt:lpstr>3.1 Zero-Shot CoT Example1  </vt:lpstr>
      <vt:lpstr>3.2 Framework CoT1 </vt:lpstr>
      <vt:lpstr>Example of Zero-Shot Framework CoT 1 </vt:lpstr>
      <vt:lpstr>4. Hybrid Approach </vt:lpstr>
      <vt:lpstr>5. Majority Voting</vt:lpstr>
      <vt:lpstr>Example: LCA with Bannach-Brown 2016 Database (BB2016)</vt:lpstr>
      <vt:lpstr>Model and Data Utilization</vt:lpstr>
      <vt:lpstr>Outcome</vt:lpstr>
      <vt:lpstr>Model Parameters</vt:lpstr>
      <vt:lpstr>Model Parameters</vt:lpstr>
      <vt:lpstr>Primary Evaluation Metrics</vt:lpstr>
      <vt:lpstr>Secondary Evaluation Metrics</vt:lpstr>
      <vt:lpstr>What Makes a Successful Classifier</vt:lpstr>
      <vt:lpstr>Evaluation Metrics for Class Imbalance</vt:lpstr>
      <vt:lpstr>Model Performance Comparison (GPT series)</vt:lpstr>
      <vt:lpstr>Model Performance Comparison (Other LLMs)</vt:lpstr>
      <vt:lpstr>Performance of Prompting Strategies on Screening Metrics</vt:lpstr>
      <vt:lpstr>Observations Across Studies</vt:lpstr>
      <vt:lpstr>Observations Across Studies</vt:lpstr>
      <vt:lpstr>Human Roles and LLM Performance in Screening</vt:lpstr>
      <vt:lpstr>Resource Requirements: Human vs. AI Screening</vt:lpstr>
      <vt:lpstr>Literature Gaps</vt:lpstr>
      <vt:lpstr>The Current Study </vt:lpstr>
      <vt:lpstr>Methods</vt:lpstr>
      <vt:lpstr>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Chansiri, Karikarn</dc:creator>
  <cp:lastModifiedBy>Chansiri, Karikarn</cp:lastModifiedBy>
  <cp:revision>101</cp:revision>
  <dcterms:created xsi:type="dcterms:W3CDTF">2025-09-15T15:32:24Z</dcterms:created>
  <dcterms:modified xsi:type="dcterms:W3CDTF">2025-12-19T21:33:41Z</dcterms:modified>
</cp:coreProperties>
</file>